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8229600" cx="14630400"/>
  <p:notesSz cx="8229600" cy="14630400"/>
  <p:embeddedFontLst>
    <p:embeddedFont>
      <p:font typeface="Fraunces"/>
      <p:regular r:id="rId19"/>
      <p:bold r:id="rId20"/>
      <p:italic r:id="rId21"/>
      <p:boldItalic r:id="rId22"/>
    </p:embeddedFont>
    <p:embeddedFont>
      <p:font typeface="Alice"/>
      <p:regular r:id="rId23"/>
    </p:embeddedFont>
    <p:embeddedFont>
      <p:font typeface="Instrument Sans"/>
      <p:regular r:id="rId24"/>
      <p:bold r:id="rId25"/>
      <p:italic r:id="rId26"/>
      <p:boldItalic r:id="rId27"/>
    </p:embeddedFont>
    <p:embeddedFont>
      <p:font typeface="Crimson Pro"/>
      <p:regular r:id="rId28"/>
      <p:bold r:id="rId29"/>
      <p:italic r:id="rId30"/>
      <p:boldItalic r:id="rId31"/>
    </p:embeddedFont>
    <p:embeddedFont>
      <p:font typeface="Open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hphcRfMopQX/yLY3RpBgkJVsu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Fraunces-bold.fntdata"/><Relationship Id="rId22" Type="http://schemas.openxmlformats.org/officeDocument/2006/relationships/font" Target="fonts/Fraunces-boldItalic.fntdata"/><Relationship Id="rId21" Type="http://schemas.openxmlformats.org/officeDocument/2006/relationships/font" Target="fonts/Fraunces-italic.fntdata"/><Relationship Id="rId24" Type="http://schemas.openxmlformats.org/officeDocument/2006/relationships/font" Target="fonts/InstrumentSans-regular.fntdata"/><Relationship Id="rId23" Type="http://schemas.openxmlformats.org/officeDocument/2006/relationships/font" Target="fonts/Alice-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InstrumentSans-italic.fntdata"/><Relationship Id="rId25" Type="http://schemas.openxmlformats.org/officeDocument/2006/relationships/font" Target="fonts/InstrumentSans-bold.fntdata"/><Relationship Id="rId28" Type="http://schemas.openxmlformats.org/officeDocument/2006/relationships/font" Target="fonts/CrimsonPro-regular.fntdata"/><Relationship Id="rId27" Type="http://schemas.openxmlformats.org/officeDocument/2006/relationships/font" Target="fonts/InstrumentSans-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CrimsonPro-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CrimsonPro-boldItalic.fntdata"/><Relationship Id="rId30" Type="http://schemas.openxmlformats.org/officeDocument/2006/relationships/font" Target="fonts/CrimsonPro-italic.fntdata"/><Relationship Id="rId11" Type="http://schemas.openxmlformats.org/officeDocument/2006/relationships/slide" Target="slides/slide7.xml"/><Relationship Id="rId33" Type="http://schemas.openxmlformats.org/officeDocument/2006/relationships/font" Target="fonts/OpenSans-bold.fntdata"/><Relationship Id="rId10" Type="http://schemas.openxmlformats.org/officeDocument/2006/relationships/slide" Target="slides/slide6.xml"/><Relationship Id="rId32" Type="http://schemas.openxmlformats.org/officeDocument/2006/relationships/font" Target="fonts/OpenSans-regular.fntdata"/><Relationship Id="rId13" Type="http://schemas.openxmlformats.org/officeDocument/2006/relationships/slide" Target="slides/slide9.xml"/><Relationship Id="rId35" Type="http://schemas.openxmlformats.org/officeDocument/2006/relationships/font" Target="fonts/OpenSans-boldItalic.fntdata"/><Relationship Id="rId12" Type="http://schemas.openxmlformats.org/officeDocument/2006/relationships/slide" Target="slides/slide8.xml"/><Relationship Id="rId34" Type="http://schemas.openxmlformats.org/officeDocument/2006/relationships/font" Target="fonts/OpenSans-italic.fntdata"/><Relationship Id="rId15" Type="http://schemas.openxmlformats.org/officeDocument/2006/relationships/slide" Target="slides/slide11.xml"/><Relationship Id="rId14" Type="http://schemas.openxmlformats.org/officeDocument/2006/relationships/slide" Target="slides/slide10.xml"/><Relationship Id="rId36" Type="http://customschemas.google.com/relationships/presentationmetadata" Target="meta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Fraunces-regular.fntdata"/><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6" name="Google Shape;106;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16" name="Google Shape;11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31" name="Google Shape;131;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54" name="Google Shape;154;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64" name="Google Shape;164;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2" name="Google Shape;172;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4" name="Google Shape;184;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93" name="Google Shape;193;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02" name="Google Shape;202;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11" name="Google Shape;211;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20" name="Google Shape;220;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29" name="Google Shape;229;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38" name="Google Shape;238;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 name="Google Shape;24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47" name="Google Shape;247;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6" name="Shape 6"/>
        <p:cNvGrpSpPr/>
        <p:nvPr/>
      </p:nvGrpSpPr>
      <p:grpSpPr>
        <a:xfrm>
          <a:off x="0" y="0"/>
          <a:ext cx="0" cy="0"/>
          <a:chOff x="0" y="0"/>
          <a:chExt cx="0" cy="0"/>
        </a:xfrm>
      </p:grpSpPr>
      <p:sp>
        <p:nvSpPr>
          <p:cNvPr id="7" name="Google Shape;7;p16"/>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16"/>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 name="Google Shape;9;p1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0" name="Shape 10"/>
        <p:cNvGrpSpPr/>
        <p:nvPr/>
      </p:nvGrpSpPr>
      <p:grpSpPr>
        <a:xfrm>
          <a:off x="0" y="0"/>
          <a:ext cx="0" cy="0"/>
          <a:chOff x="0" y="0"/>
          <a:chExt cx="0" cy="0"/>
        </a:xfrm>
      </p:grpSpPr>
      <p:sp>
        <p:nvSpPr>
          <p:cNvPr id="11" name="Google Shape;11;p17"/>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7"/>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1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master">
  <p:cSld name="Slide 16 master">
    <p:spTree>
      <p:nvGrpSpPr>
        <p:cNvPr id="14" name="Shape 14"/>
        <p:cNvGrpSpPr/>
        <p:nvPr/>
      </p:nvGrpSpPr>
      <p:grpSpPr>
        <a:xfrm>
          <a:off x="0" y="0"/>
          <a:ext cx="0" cy="0"/>
          <a:chOff x="0" y="0"/>
          <a:chExt cx="0" cy="0"/>
        </a:xfrm>
      </p:grpSpPr>
      <p:sp>
        <p:nvSpPr>
          <p:cNvPr id="15" name="Google Shape;15;p18"/>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8"/>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18">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7 master">
  <p:cSld name="Slide 17 master">
    <p:spTree>
      <p:nvGrpSpPr>
        <p:cNvPr id="18" name="Shape 18"/>
        <p:cNvGrpSpPr/>
        <p:nvPr/>
      </p:nvGrpSpPr>
      <p:grpSpPr>
        <a:xfrm>
          <a:off x="0" y="0"/>
          <a:ext cx="0" cy="0"/>
          <a:chOff x="0" y="0"/>
          <a:chExt cx="0" cy="0"/>
        </a:xfrm>
      </p:grpSpPr>
      <p:sp>
        <p:nvSpPr>
          <p:cNvPr id="19" name="Google Shape;19;p19"/>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9"/>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19">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8 master">
  <p:cSld name="Slide 18 master">
    <p:spTree>
      <p:nvGrpSpPr>
        <p:cNvPr id="22" name="Shape 22"/>
        <p:cNvGrpSpPr/>
        <p:nvPr/>
      </p:nvGrpSpPr>
      <p:grpSpPr>
        <a:xfrm>
          <a:off x="0" y="0"/>
          <a:ext cx="0" cy="0"/>
          <a:chOff x="0" y="0"/>
          <a:chExt cx="0" cy="0"/>
        </a:xfrm>
      </p:grpSpPr>
      <p:sp>
        <p:nvSpPr>
          <p:cNvPr id="23" name="Google Shape;23;p20"/>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0"/>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20">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9 master">
  <p:cSld name="Slide 19 master">
    <p:spTree>
      <p:nvGrpSpPr>
        <p:cNvPr id="26" name="Shape 26"/>
        <p:cNvGrpSpPr/>
        <p:nvPr/>
      </p:nvGrpSpPr>
      <p:grpSpPr>
        <a:xfrm>
          <a:off x="0" y="0"/>
          <a:ext cx="0" cy="0"/>
          <a:chOff x="0" y="0"/>
          <a:chExt cx="0" cy="0"/>
        </a:xfrm>
      </p:grpSpPr>
      <p:sp>
        <p:nvSpPr>
          <p:cNvPr id="27" name="Google Shape;27;p21"/>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1"/>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21">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0 master">
  <p:cSld name="Slide 20 master">
    <p:spTree>
      <p:nvGrpSpPr>
        <p:cNvPr id="30" name="Shape 30"/>
        <p:cNvGrpSpPr/>
        <p:nvPr/>
      </p:nvGrpSpPr>
      <p:grpSpPr>
        <a:xfrm>
          <a:off x="0" y="0"/>
          <a:ext cx="0" cy="0"/>
          <a:chOff x="0" y="0"/>
          <a:chExt cx="0" cy="0"/>
        </a:xfrm>
      </p:grpSpPr>
      <p:sp>
        <p:nvSpPr>
          <p:cNvPr id="31" name="Google Shape;31;p22"/>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2"/>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2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1 master">
  <p:cSld name="Slide 21 master">
    <p:spTree>
      <p:nvGrpSpPr>
        <p:cNvPr id="34" name="Shape 34"/>
        <p:cNvGrpSpPr/>
        <p:nvPr/>
      </p:nvGrpSpPr>
      <p:grpSpPr>
        <a:xfrm>
          <a:off x="0" y="0"/>
          <a:ext cx="0" cy="0"/>
          <a:chOff x="0" y="0"/>
          <a:chExt cx="0" cy="0"/>
        </a:xfrm>
      </p:grpSpPr>
      <p:sp>
        <p:nvSpPr>
          <p:cNvPr id="35" name="Google Shape;35;p23"/>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3"/>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2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2 master">
  <p:cSld name="Slide 22 master">
    <p:spTree>
      <p:nvGrpSpPr>
        <p:cNvPr id="38" name="Shape 38"/>
        <p:cNvGrpSpPr/>
        <p:nvPr/>
      </p:nvGrpSpPr>
      <p:grpSpPr>
        <a:xfrm>
          <a:off x="0" y="0"/>
          <a:ext cx="0" cy="0"/>
          <a:chOff x="0" y="0"/>
          <a:chExt cx="0" cy="0"/>
        </a:xfrm>
      </p:grpSpPr>
      <p:sp>
        <p:nvSpPr>
          <p:cNvPr id="39" name="Google Shape;39;p24"/>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4"/>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2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3 master">
  <p:cSld name="Slide 23 master">
    <p:spTree>
      <p:nvGrpSpPr>
        <p:cNvPr id="42" name="Shape 42"/>
        <p:cNvGrpSpPr/>
        <p:nvPr/>
      </p:nvGrpSpPr>
      <p:grpSpPr>
        <a:xfrm>
          <a:off x="0" y="0"/>
          <a:ext cx="0" cy="0"/>
          <a:chOff x="0" y="0"/>
          <a:chExt cx="0" cy="0"/>
        </a:xfrm>
      </p:grpSpPr>
      <p:sp>
        <p:nvSpPr>
          <p:cNvPr id="43" name="Google Shape;43;p25"/>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5"/>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2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4 master">
  <p:cSld name="Slide 24 master">
    <p:spTree>
      <p:nvGrpSpPr>
        <p:cNvPr id="46" name="Shape 46"/>
        <p:cNvGrpSpPr/>
        <p:nvPr/>
      </p:nvGrpSpPr>
      <p:grpSpPr>
        <a:xfrm>
          <a:off x="0" y="0"/>
          <a:ext cx="0" cy="0"/>
          <a:chOff x="0" y="0"/>
          <a:chExt cx="0" cy="0"/>
        </a:xfrm>
      </p:grpSpPr>
      <p:sp>
        <p:nvSpPr>
          <p:cNvPr id="47" name="Google Shape;47;p26"/>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6"/>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 name="Google Shape;49;p2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51" name="Shape 51"/>
        <p:cNvGrpSpPr/>
        <p:nvPr/>
      </p:nvGrpSpPr>
      <p:grpSpPr>
        <a:xfrm>
          <a:off x="0" y="0"/>
          <a:ext cx="0" cy="0"/>
          <a:chOff x="0" y="0"/>
          <a:chExt cx="0" cy="0"/>
        </a:xfrm>
      </p:grpSpPr>
      <p:sp>
        <p:nvSpPr>
          <p:cNvPr id="52" name="Google Shape;52;p28"/>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8"/>
          <p:cNvSpPr/>
          <p:nvPr/>
        </p:nvSpPr>
        <p:spPr>
          <a:xfrm>
            <a:off x="0" y="0"/>
            <a:ext cx="14630400" cy="8232458"/>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4" name="Google Shape;54;p28">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55" name="Shape 55"/>
        <p:cNvGrpSpPr/>
        <p:nvPr/>
      </p:nvGrpSpPr>
      <p:grpSpPr>
        <a:xfrm>
          <a:off x="0" y="0"/>
          <a:ext cx="0" cy="0"/>
          <a:chOff x="0" y="0"/>
          <a:chExt cx="0" cy="0"/>
        </a:xfrm>
      </p:grpSpPr>
      <p:sp>
        <p:nvSpPr>
          <p:cNvPr id="56" name="Google Shape;56;p29"/>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9"/>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8" name="Google Shape;58;p29">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59" name="Shape 59"/>
        <p:cNvGrpSpPr/>
        <p:nvPr/>
      </p:nvGrpSpPr>
      <p:grpSpPr>
        <a:xfrm>
          <a:off x="0" y="0"/>
          <a:ext cx="0" cy="0"/>
          <a:chOff x="0" y="0"/>
          <a:chExt cx="0" cy="0"/>
        </a:xfrm>
      </p:grpSpPr>
      <p:sp>
        <p:nvSpPr>
          <p:cNvPr id="60" name="Google Shape;60;p30"/>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0"/>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2" name="Google Shape;62;p30">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63" name="Shape 63"/>
        <p:cNvGrpSpPr/>
        <p:nvPr/>
      </p:nvGrpSpPr>
      <p:grpSpPr>
        <a:xfrm>
          <a:off x="0" y="0"/>
          <a:ext cx="0" cy="0"/>
          <a:chOff x="0" y="0"/>
          <a:chExt cx="0" cy="0"/>
        </a:xfrm>
      </p:grpSpPr>
      <p:sp>
        <p:nvSpPr>
          <p:cNvPr id="64" name="Google Shape;64;p31"/>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1"/>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6" name="Google Shape;66;p31">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67" name="Shape 67"/>
        <p:cNvGrpSpPr/>
        <p:nvPr/>
      </p:nvGrpSpPr>
      <p:grpSpPr>
        <a:xfrm>
          <a:off x="0" y="0"/>
          <a:ext cx="0" cy="0"/>
          <a:chOff x="0" y="0"/>
          <a:chExt cx="0" cy="0"/>
        </a:xfrm>
      </p:grpSpPr>
      <p:sp>
        <p:nvSpPr>
          <p:cNvPr id="68" name="Google Shape;68;p32"/>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2"/>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0" name="Google Shape;70;p3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71" name="Shape 71"/>
        <p:cNvGrpSpPr/>
        <p:nvPr/>
      </p:nvGrpSpPr>
      <p:grpSpPr>
        <a:xfrm>
          <a:off x="0" y="0"/>
          <a:ext cx="0" cy="0"/>
          <a:chOff x="0" y="0"/>
          <a:chExt cx="0" cy="0"/>
        </a:xfrm>
      </p:grpSpPr>
      <p:sp>
        <p:nvSpPr>
          <p:cNvPr id="72" name="Google Shape;72;p33"/>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3"/>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4" name="Google Shape;74;p3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75" name="Shape 75"/>
        <p:cNvGrpSpPr/>
        <p:nvPr/>
      </p:nvGrpSpPr>
      <p:grpSpPr>
        <a:xfrm>
          <a:off x="0" y="0"/>
          <a:ext cx="0" cy="0"/>
          <a:chOff x="0" y="0"/>
          <a:chExt cx="0" cy="0"/>
        </a:xfrm>
      </p:grpSpPr>
      <p:sp>
        <p:nvSpPr>
          <p:cNvPr id="76" name="Google Shape;76;p34"/>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4"/>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8" name="Google Shape;78;p3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79" name="Shape 79"/>
        <p:cNvGrpSpPr/>
        <p:nvPr/>
      </p:nvGrpSpPr>
      <p:grpSpPr>
        <a:xfrm>
          <a:off x="0" y="0"/>
          <a:ext cx="0" cy="0"/>
          <a:chOff x="0" y="0"/>
          <a:chExt cx="0" cy="0"/>
        </a:xfrm>
      </p:grpSpPr>
      <p:sp>
        <p:nvSpPr>
          <p:cNvPr id="80" name="Google Shape;80;p35"/>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5"/>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2" name="Google Shape;82;p3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83" name="Shape 83"/>
        <p:cNvGrpSpPr/>
        <p:nvPr/>
      </p:nvGrpSpPr>
      <p:grpSpPr>
        <a:xfrm>
          <a:off x="0" y="0"/>
          <a:ext cx="0" cy="0"/>
          <a:chOff x="0" y="0"/>
          <a:chExt cx="0" cy="0"/>
        </a:xfrm>
      </p:grpSpPr>
      <p:sp>
        <p:nvSpPr>
          <p:cNvPr id="84" name="Google Shape;84;p36"/>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6"/>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6" name="Google Shape;86;p3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spTree>
      <p:nvGrpSpPr>
        <p:cNvPr id="87" name="Shape 87"/>
        <p:cNvGrpSpPr/>
        <p:nvPr/>
      </p:nvGrpSpPr>
      <p:grpSpPr>
        <a:xfrm>
          <a:off x="0" y="0"/>
          <a:ext cx="0" cy="0"/>
          <a:chOff x="0" y="0"/>
          <a:chExt cx="0" cy="0"/>
        </a:xfrm>
      </p:grpSpPr>
      <p:sp>
        <p:nvSpPr>
          <p:cNvPr id="88" name="Google Shape;88;p37"/>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7"/>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0" name="Google Shape;90;p3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spTree>
      <p:nvGrpSpPr>
        <p:cNvPr id="91" name="Shape 91"/>
        <p:cNvGrpSpPr/>
        <p:nvPr/>
      </p:nvGrpSpPr>
      <p:grpSpPr>
        <a:xfrm>
          <a:off x="0" y="0"/>
          <a:ext cx="0" cy="0"/>
          <a:chOff x="0" y="0"/>
          <a:chExt cx="0" cy="0"/>
        </a:xfrm>
      </p:grpSpPr>
      <p:sp>
        <p:nvSpPr>
          <p:cNvPr id="92" name="Google Shape;92;p38"/>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8"/>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4" name="Google Shape;94;p38">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spTree>
      <p:nvGrpSpPr>
        <p:cNvPr id="95" name="Shape 95"/>
        <p:cNvGrpSpPr/>
        <p:nvPr/>
      </p:nvGrpSpPr>
      <p:grpSpPr>
        <a:xfrm>
          <a:off x="0" y="0"/>
          <a:ext cx="0" cy="0"/>
          <a:chOff x="0" y="0"/>
          <a:chExt cx="0" cy="0"/>
        </a:xfrm>
      </p:grpSpPr>
      <p:sp>
        <p:nvSpPr>
          <p:cNvPr id="96" name="Google Shape;96;p39"/>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9"/>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8" name="Google Shape;98;p39">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spTree>
      <p:nvGrpSpPr>
        <p:cNvPr id="99" name="Shape 99"/>
        <p:cNvGrpSpPr/>
        <p:nvPr/>
      </p:nvGrpSpPr>
      <p:grpSpPr>
        <a:xfrm>
          <a:off x="0" y="0"/>
          <a:ext cx="0" cy="0"/>
          <a:chOff x="0" y="0"/>
          <a:chExt cx="0" cy="0"/>
        </a:xfrm>
      </p:grpSpPr>
      <p:sp>
        <p:nvSpPr>
          <p:cNvPr id="100" name="Google Shape;100;p40"/>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0"/>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2" name="Google Shape;102;p40">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2.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CFA"/>
        </a:solidFill>
      </p:bgPr>
    </p:bg>
    <p:spTree>
      <p:nvGrpSpPr>
        <p:cNvPr id="107" name="Shape 107"/>
        <p:cNvGrpSpPr/>
        <p:nvPr/>
      </p:nvGrpSpPr>
      <p:grpSpPr>
        <a:xfrm>
          <a:off x="0" y="0"/>
          <a:ext cx="0" cy="0"/>
          <a:chOff x="0" y="0"/>
          <a:chExt cx="0" cy="0"/>
        </a:xfrm>
      </p:grpSpPr>
      <p:pic>
        <p:nvPicPr>
          <p:cNvPr descr="preencoded.png" id="108" name="Google Shape;108;p1"/>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09" name="Google Shape;109;p1"/>
          <p:cNvSpPr/>
          <p:nvPr/>
        </p:nvSpPr>
        <p:spPr>
          <a:xfrm>
            <a:off x="6350437" y="2458929"/>
            <a:ext cx="7415927" cy="212931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43728"/>
              </a:buClr>
              <a:buSzPts val="8800"/>
              <a:buFont typeface="Crimson Pro"/>
              <a:buNone/>
            </a:pPr>
            <a:r>
              <a:rPr b="1" i="0" lang="en-US" sz="8800" u="none" cap="none" strike="noStrike">
                <a:solidFill>
                  <a:srgbClr val="443728"/>
                </a:solidFill>
                <a:latin typeface="Crimson Pro"/>
                <a:ea typeface="Crimson Pro"/>
                <a:cs typeface="Crimson Pro"/>
                <a:sym typeface="Crimson Pro"/>
              </a:rPr>
              <a:t>Essay Writing (Continued)</a:t>
            </a:r>
            <a:endParaRPr b="1" i="0" sz="8800" u="none" cap="none" strike="noStrike">
              <a:solidFill>
                <a:schemeClr val="dk1"/>
              </a:solidFill>
              <a:latin typeface="Calibri"/>
              <a:ea typeface="Calibri"/>
              <a:cs typeface="Calibri"/>
              <a:sym typeface="Calibri"/>
            </a:endParaRPr>
          </a:p>
        </p:txBody>
      </p:sp>
      <p:sp>
        <p:nvSpPr>
          <p:cNvPr id="110" name="Google Shape;110;p1"/>
          <p:cNvSpPr/>
          <p:nvPr/>
        </p:nvSpPr>
        <p:spPr>
          <a:xfrm>
            <a:off x="6350437" y="5167074"/>
            <a:ext cx="7415927" cy="395049"/>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chemeClr val="dk1"/>
              </a:buClr>
              <a:buSzPts val="1900"/>
              <a:buFont typeface="Calibri"/>
              <a:buNone/>
            </a:pPr>
            <a:r>
              <a:t/>
            </a:r>
            <a:endParaRPr b="0" i="0" sz="1900" u="none" cap="none" strike="noStrike">
              <a:solidFill>
                <a:schemeClr val="dk1"/>
              </a:solidFill>
              <a:latin typeface="Calibri"/>
              <a:ea typeface="Calibri"/>
              <a:cs typeface="Calibri"/>
              <a:sym typeface="Calibri"/>
            </a:endParaRPr>
          </a:p>
        </p:txBody>
      </p:sp>
      <p:sp>
        <p:nvSpPr>
          <p:cNvPr id="111" name="Google Shape;111;p1"/>
          <p:cNvSpPr/>
          <p:nvPr/>
        </p:nvSpPr>
        <p:spPr>
          <a:xfrm>
            <a:off x="7238293" y="209004"/>
            <a:ext cx="6631174" cy="1754326"/>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i="0" lang="en-US" sz="1800" u="none" cap="none" strike="noStrike">
                <a:solidFill>
                  <a:srgbClr val="505468"/>
                </a:solidFill>
                <a:latin typeface="Instrument Sans"/>
                <a:ea typeface="Instrument Sans"/>
                <a:cs typeface="Instrument Sans"/>
                <a:sym typeface="Instrument Sans"/>
              </a:rPr>
              <a:t>Arab Academy for Science, Technology and Maritime Transport</a:t>
            </a:r>
            <a:endParaRPr/>
          </a:p>
          <a:p>
            <a:pPr indent="0" lvl="0" marL="0" marR="0" rtl="0" algn="ctr">
              <a:lnSpc>
                <a:spcPct val="150000"/>
              </a:lnSpc>
              <a:spcBef>
                <a:spcPts val="0"/>
              </a:spcBef>
              <a:spcAft>
                <a:spcPts val="0"/>
              </a:spcAft>
              <a:buNone/>
            </a:pPr>
            <a:r>
              <a:rPr b="1" i="0" lang="en-US" sz="1800" u="none" cap="none" strike="noStrike">
                <a:solidFill>
                  <a:srgbClr val="505468"/>
                </a:solidFill>
                <a:latin typeface="Instrument Sans"/>
                <a:ea typeface="Instrument Sans"/>
                <a:cs typeface="Instrument Sans"/>
                <a:sym typeface="Instrument Sans"/>
              </a:rPr>
              <a:t>College of Language and Communication</a:t>
            </a:r>
            <a:endParaRPr/>
          </a:p>
          <a:p>
            <a:pPr indent="0" lvl="0" marL="0" marR="0" rtl="0" algn="ctr">
              <a:lnSpc>
                <a:spcPct val="150000"/>
              </a:lnSpc>
              <a:spcBef>
                <a:spcPts val="0"/>
              </a:spcBef>
              <a:spcAft>
                <a:spcPts val="0"/>
              </a:spcAft>
              <a:buNone/>
            </a:pPr>
            <a:r>
              <a:rPr b="1" i="0" lang="en-US" sz="1800" u="none" cap="none" strike="noStrike">
                <a:solidFill>
                  <a:srgbClr val="505468"/>
                </a:solidFill>
                <a:latin typeface="Instrument Sans"/>
                <a:ea typeface="Instrument Sans"/>
                <a:cs typeface="Instrument Sans"/>
                <a:sym typeface="Instrument Sans"/>
              </a:rPr>
              <a:t>Languages Department</a:t>
            </a:r>
            <a:endParaRPr/>
          </a:p>
          <a:p>
            <a:pPr indent="0" lvl="0" marL="0" marR="0" rtl="0" algn="ctr">
              <a:lnSpc>
                <a:spcPct val="150000"/>
              </a:lnSpc>
              <a:spcBef>
                <a:spcPts val="0"/>
              </a:spcBef>
              <a:spcAft>
                <a:spcPts val="0"/>
              </a:spcAft>
              <a:buNone/>
            </a:pPr>
            <a:r>
              <a:rPr b="1" i="0" lang="en-US" sz="1800" u="none" cap="none" strike="noStrike">
                <a:solidFill>
                  <a:srgbClr val="505468"/>
                </a:solidFill>
                <a:latin typeface="Instrument Sans"/>
                <a:ea typeface="Instrument Sans"/>
                <a:cs typeface="Instrument Sans"/>
                <a:sym typeface="Instrument Sans"/>
              </a:rPr>
              <a:t>Academic </a:t>
            </a:r>
            <a:r>
              <a:rPr b="1" i="0" lang="en-US" sz="1800" u="none" cap="none" strike="noStrike">
                <a:solidFill>
                  <a:srgbClr val="505468"/>
                </a:solidFill>
                <a:latin typeface="Alice"/>
                <a:ea typeface="Alice"/>
                <a:cs typeface="Alice"/>
                <a:sym typeface="Alice"/>
              </a:rPr>
              <a:t>Writing-</a:t>
            </a:r>
            <a:r>
              <a:rPr b="1" i="0" lang="en-US" sz="1800" u="none" cap="none" strike="noStrike">
                <a:solidFill>
                  <a:srgbClr val="505468"/>
                </a:solidFill>
                <a:latin typeface="Instrument Sans"/>
                <a:ea typeface="Instrument Sans"/>
                <a:cs typeface="Instrument Sans"/>
                <a:sym typeface="Instrument Sans"/>
              </a:rPr>
              <a:t> UNR 1407</a:t>
            </a:r>
            <a:endParaRPr b="1" i="0" sz="1800" u="none" cap="none" strike="noStrike">
              <a:solidFill>
                <a:schemeClr val="dk1"/>
              </a:solidFill>
              <a:latin typeface="Calibri"/>
              <a:ea typeface="Calibri"/>
              <a:cs typeface="Calibri"/>
              <a:sym typeface="Calibri"/>
            </a:endParaRPr>
          </a:p>
        </p:txBody>
      </p:sp>
      <p:pic>
        <p:nvPicPr>
          <p:cNvPr descr="A picture containing gear, porcelain&#10;&#10;Description automatically generated" id="112" name="Google Shape;112;p1"/>
          <p:cNvPicPr preferRelativeResize="0"/>
          <p:nvPr/>
        </p:nvPicPr>
        <p:blipFill rotWithShape="1">
          <a:blip r:embed="rId4">
            <a:alphaModFix/>
          </a:blip>
          <a:srcRect b="0" l="0" r="0" t="0"/>
          <a:stretch/>
        </p:blipFill>
        <p:spPr>
          <a:xfrm>
            <a:off x="5486400" y="219154"/>
            <a:ext cx="1295400" cy="124968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
          <p:cNvSpPr/>
          <p:nvPr/>
        </p:nvSpPr>
        <p:spPr>
          <a:xfrm>
            <a:off x="864037" y="742825"/>
            <a:ext cx="6172200" cy="771525"/>
          </a:xfrm>
          <a:prstGeom prst="rect">
            <a:avLst/>
          </a:prstGeom>
          <a:noFill/>
          <a:ln>
            <a:noFill/>
          </a:ln>
        </p:spPr>
        <p:txBody>
          <a:bodyPr anchorCtr="0" anchor="t" bIns="0" lIns="0" spcFirstLastPara="1" rIns="0" wrap="square" tIns="0">
            <a:noAutofit/>
          </a:bodyPr>
          <a:lstStyle/>
          <a:p>
            <a:pPr indent="0" lvl="0" marL="0" marR="0" rtl="0" algn="l">
              <a:lnSpc>
                <a:spcPct val="112037"/>
              </a:lnSpc>
              <a:spcBef>
                <a:spcPts val="0"/>
              </a:spcBef>
              <a:spcAft>
                <a:spcPts val="0"/>
              </a:spcAft>
              <a:buClr>
                <a:srgbClr val="3B4540"/>
              </a:buClr>
              <a:buSzPts val="5400"/>
              <a:buFont typeface="Fraunces"/>
              <a:buNone/>
            </a:pPr>
            <a:r>
              <a:rPr b="1" lang="en-US" sz="5400">
                <a:solidFill>
                  <a:srgbClr val="3B4540"/>
                </a:solidFill>
                <a:latin typeface="Fraunces"/>
                <a:ea typeface="Fraunces"/>
                <a:cs typeface="Fraunces"/>
                <a:sym typeface="Fraunces"/>
              </a:rPr>
              <a:t>Essay Layout</a:t>
            </a:r>
            <a:endParaRPr sz="5400">
              <a:solidFill>
                <a:schemeClr val="dk1"/>
              </a:solidFill>
              <a:latin typeface="Calibri"/>
              <a:ea typeface="Calibri"/>
              <a:cs typeface="Calibri"/>
              <a:sym typeface="Calibri"/>
            </a:endParaRPr>
          </a:p>
        </p:txBody>
      </p:sp>
      <p:pic>
        <p:nvPicPr>
          <p:cNvPr id="119" name="Google Shape;119;p2"/>
          <p:cNvPicPr preferRelativeResize="0"/>
          <p:nvPr/>
        </p:nvPicPr>
        <p:blipFill rotWithShape="1">
          <a:blip r:embed="rId3">
            <a:alphaModFix/>
          </a:blip>
          <a:srcRect b="0" l="0" r="0" t="0"/>
          <a:stretch/>
        </p:blipFill>
        <p:spPr>
          <a:xfrm>
            <a:off x="2825555" y="2957870"/>
            <a:ext cx="2890002" cy="1722885"/>
          </a:xfrm>
          <a:prstGeom prst="rect">
            <a:avLst/>
          </a:prstGeom>
          <a:noFill/>
          <a:ln>
            <a:noFill/>
          </a:ln>
        </p:spPr>
      </p:pic>
      <p:pic>
        <p:nvPicPr>
          <p:cNvPr id="120" name="Google Shape;120;p2"/>
          <p:cNvPicPr preferRelativeResize="0"/>
          <p:nvPr/>
        </p:nvPicPr>
        <p:blipFill rotWithShape="1">
          <a:blip r:embed="rId4">
            <a:alphaModFix/>
          </a:blip>
          <a:srcRect b="0" l="0" r="0" t="0"/>
          <a:stretch/>
        </p:blipFill>
        <p:spPr>
          <a:xfrm>
            <a:off x="9088562" y="200975"/>
            <a:ext cx="3235653" cy="7678962"/>
          </a:xfrm>
          <a:prstGeom prst="rect">
            <a:avLst/>
          </a:prstGeom>
          <a:noFill/>
          <a:ln>
            <a:noFill/>
          </a:ln>
        </p:spPr>
      </p:pic>
      <p:cxnSp>
        <p:nvCxnSpPr>
          <p:cNvPr id="121" name="Google Shape;121;p2"/>
          <p:cNvCxnSpPr/>
          <p:nvPr/>
        </p:nvCxnSpPr>
        <p:spPr>
          <a:xfrm flipH="1" rot="10800000">
            <a:off x="5541839" y="3829586"/>
            <a:ext cx="3546723" cy="71776"/>
          </a:xfrm>
          <a:prstGeom prst="straightConnector1">
            <a:avLst/>
          </a:prstGeom>
          <a:noFill/>
          <a:ln cap="flat" cmpd="sng" w="9525">
            <a:solidFill>
              <a:schemeClr val="dk1"/>
            </a:solidFill>
            <a:prstDash val="solid"/>
            <a:miter lim="800000"/>
            <a:headEnd len="sm" w="sm" type="none"/>
            <a:tailEnd len="sm" w="sm" type="none"/>
          </a:ln>
        </p:spPr>
      </p:cxnSp>
      <p:cxnSp>
        <p:nvCxnSpPr>
          <p:cNvPr id="122" name="Google Shape;122;p2"/>
          <p:cNvCxnSpPr/>
          <p:nvPr/>
        </p:nvCxnSpPr>
        <p:spPr>
          <a:xfrm flipH="1" rot="10800000">
            <a:off x="5456159" y="1591748"/>
            <a:ext cx="3656076" cy="1522504"/>
          </a:xfrm>
          <a:prstGeom prst="straightConnector1">
            <a:avLst/>
          </a:prstGeom>
          <a:noFill/>
          <a:ln cap="flat" cmpd="sng" w="9525">
            <a:solidFill>
              <a:schemeClr val="dk1"/>
            </a:solidFill>
            <a:prstDash val="solid"/>
            <a:miter lim="800000"/>
            <a:headEnd len="sm" w="sm" type="none"/>
            <a:tailEnd len="sm" w="sm" type="none"/>
          </a:ln>
        </p:spPr>
      </p:cxnSp>
      <p:cxnSp>
        <p:nvCxnSpPr>
          <p:cNvPr id="123" name="Google Shape;123;p2"/>
          <p:cNvCxnSpPr/>
          <p:nvPr/>
        </p:nvCxnSpPr>
        <p:spPr>
          <a:xfrm flipH="1" rot="10800000">
            <a:off x="5541839" y="2664894"/>
            <a:ext cx="3633618" cy="1044077"/>
          </a:xfrm>
          <a:prstGeom prst="straightConnector1">
            <a:avLst/>
          </a:prstGeom>
          <a:noFill/>
          <a:ln cap="flat" cmpd="sng" w="9525">
            <a:solidFill>
              <a:schemeClr val="dk1"/>
            </a:solidFill>
            <a:prstDash val="solid"/>
            <a:miter lim="800000"/>
            <a:headEnd len="sm" w="sm" type="none"/>
            <a:tailEnd len="sm" w="sm" type="none"/>
          </a:ln>
        </p:spPr>
      </p:cxnSp>
      <p:cxnSp>
        <p:nvCxnSpPr>
          <p:cNvPr id="124" name="Google Shape;124;p2"/>
          <p:cNvCxnSpPr/>
          <p:nvPr/>
        </p:nvCxnSpPr>
        <p:spPr>
          <a:xfrm>
            <a:off x="5541839" y="4518334"/>
            <a:ext cx="3633618" cy="1995482"/>
          </a:xfrm>
          <a:prstGeom prst="straightConnector1">
            <a:avLst/>
          </a:prstGeom>
          <a:noFill/>
          <a:ln cap="flat" cmpd="sng" w="9525">
            <a:solidFill>
              <a:schemeClr val="dk1"/>
            </a:solidFill>
            <a:prstDash val="solid"/>
            <a:miter lim="800000"/>
            <a:headEnd len="sm" w="sm" type="none"/>
            <a:tailEnd len="sm" w="sm" type="none"/>
          </a:ln>
        </p:spPr>
      </p:cxnSp>
      <p:cxnSp>
        <p:nvCxnSpPr>
          <p:cNvPr id="125" name="Google Shape;125;p2"/>
          <p:cNvCxnSpPr/>
          <p:nvPr/>
        </p:nvCxnSpPr>
        <p:spPr>
          <a:xfrm>
            <a:off x="5541839" y="4125074"/>
            <a:ext cx="3633618" cy="951345"/>
          </a:xfrm>
          <a:prstGeom prst="straightConnector1">
            <a:avLst/>
          </a:prstGeom>
          <a:noFill/>
          <a:ln cap="flat" cmpd="sng" w="9525">
            <a:solidFill>
              <a:schemeClr val="dk1"/>
            </a:solidFill>
            <a:prstDash val="solid"/>
            <a:miter lim="800000"/>
            <a:headEnd len="sm" w="sm" type="none"/>
            <a:tailEnd len="sm" w="sm" type="none"/>
          </a:ln>
        </p:spPr>
      </p:cxnSp>
      <p:cxnSp>
        <p:nvCxnSpPr>
          <p:cNvPr id="126" name="Google Shape;126;p2"/>
          <p:cNvCxnSpPr/>
          <p:nvPr/>
        </p:nvCxnSpPr>
        <p:spPr>
          <a:xfrm>
            <a:off x="5715557" y="2978418"/>
            <a:ext cx="0" cy="1702337"/>
          </a:xfrm>
          <a:prstGeom prst="straightConnector1">
            <a:avLst/>
          </a:prstGeom>
          <a:noFill/>
          <a:ln cap="flat" cmpd="sng" w="12700">
            <a:solidFill>
              <a:schemeClr val="dk1"/>
            </a:solidFill>
            <a:prstDash val="solid"/>
            <a:miter lim="800000"/>
            <a:headEnd len="sm" w="sm" type="none"/>
            <a:tailEnd len="sm" w="sm" type="none"/>
          </a:ln>
        </p:spPr>
      </p:cxnSp>
      <p:cxnSp>
        <p:nvCxnSpPr>
          <p:cNvPr id="127" name="Google Shape;127;p2"/>
          <p:cNvCxnSpPr/>
          <p:nvPr/>
        </p:nvCxnSpPr>
        <p:spPr>
          <a:xfrm>
            <a:off x="2825555" y="4680755"/>
            <a:ext cx="2890002" cy="169"/>
          </a:xfrm>
          <a:prstGeom prst="straightConnector1">
            <a:avLst/>
          </a:prstGeom>
          <a:noFill/>
          <a:ln cap="flat" cmpd="sng" w="12700">
            <a:solidFill>
              <a:schemeClr val="dk1"/>
            </a:solidFill>
            <a:prstDash val="solid"/>
            <a:miter lim="800000"/>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CFA"/>
        </a:solidFill>
      </p:bgPr>
    </p:bg>
    <p:spTree>
      <p:nvGrpSpPr>
        <p:cNvPr id="132" name="Shape 132"/>
        <p:cNvGrpSpPr/>
        <p:nvPr/>
      </p:nvGrpSpPr>
      <p:grpSpPr>
        <a:xfrm>
          <a:off x="0" y="0"/>
          <a:ext cx="0" cy="0"/>
          <a:chOff x="0" y="0"/>
          <a:chExt cx="0" cy="0"/>
        </a:xfrm>
      </p:grpSpPr>
      <p:sp>
        <p:nvSpPr>
          <p:cNvPr id="133" name="Google Shape;133;p3"/>
          <p:cNvSpPr/>
          <p:nvPr/>
        </p:nvSpPr>
        <p:spPr>
          <a:xfrm>
            <a:off x="495068" y="483807"/>
            <a:ext cx="6172200" cy="771525"/>
          </a:xfrm>
          <a:prstGeom prst="rect">
            <a:avLst/>
          </a:prstGeom>
          <a:noFill/>
          <a:ln>
            <a:noFill/>
          </a:ln>
        </p:spPr>
        <p:txBody>
          <a:bodyPr anchorCtr="0" anchor="t" bIns="0" lIns="0" spcFirstLastPara="1" rIns="0" wrap="square" tIns="0">
            <a:noAutofit/>
          </a:bodyPr>
          <a:lstStyle/>
          <a:p>
            <a:pPr indent="0" lvl="0" marL="0" marR="0" rtl="0" algn="l">
              <a:lnSpc>
                <a:spcPct val="100833"/>
              </a:lnSpc>
              <a:spcBef>
                <a:spcPts val="0"/>
              </a:spcBef>
              <a:spcAft>
                <a:spcPts val="0"/>
              </a:spcAft>
              <a:buClr>
                <a:srgbClr val="443728"/>
              </a:buClr>
              <a:buSzPts val="6000"/>
              <a:buFont typeface="Crimson Pro"/>
              <a:buNone/>
            </a:pPr>
            <a:r>
              <a:rPr b="1" lang="en-US" sz="6000">
                <a:solidFill>
                  <a:srgbClr val="443728"/>
                </a:solidFill>
                <a:latin typeface="Crimson Pro"/>
                <a:ea typeface="Crimson Pro"/>
                <a:cs typeface="Crimson Pro"/>
                <a:sym typeface="Crimson Pro"/>
              </a:rPr>
              <a:t>Body paragraphs</a:t>
            </a:r>
            <a:endParaRPr sz="6000">
              <a:solidFill>
                <a:schemeClr val="dk1"/>
              </a:solidFill>
              <a:latin typeface="Calibri"/>
              <a:ea typeface="Calibri"/>
              <a:cs typeface="Calibri"/>
              <a:sym typeface="Calibri"/>
            </a:endParaRPr>
          </a:p>
        </p:txBody>
      </p:sp>
      <p:sp>
        <p:nvSpPr>
          <p:cNvPr id="134" name="Google Shape;134;p3"/>
          <p:cNvSpPr/>
          <p:nvPr/>
        </p:nvSpPr>
        <p:spPr>
          <a:xfrm>
            <a:off x="495068" y="1903270"/>
            <a:ext cx="555427" cy="555427"/>
          </a:xfrm>
          <a:prstGeom prst="roundRect">
            <a:avLst>
              <a:gd fmla="val 18669" name="adj"/>
            </a:avLst>
          </a:prstGeom>
          <a:solidFill>
            <a:srgbClr val="EBE2E0"/>
          </a:solidFill>
          <a:ln cap="flat" cmpd="sng" w="15225">
            <a:solidFill>
              <a:srgbClr val="D1C8C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3"/>
          <p:cNvSpPr/>
          <p:nvPr/>
        </p:nvSpPr>
        <p:spPr>
          <a:xfrm>
            <a:off x="703427" y="1995782"/>
            <a:ext cx="138589" cy="370284"/>
          </a:xfrm>
          <a:prstGeom prst="rect">
            <a:avLst/>
          </a:prstGeom>
          <a:noFill/>
          <a:ln>
            <a:noFill/>
          </a:ln>
        </p:spPr>
        <p:txBody>
          <a:bodyPr anchorCtr="0" anchor="t" bIns="0" lIns="0" spcFirstLastPara="1" rIns="0" wrap="square" tIns="0">
            <a:noAutofit/>
          </a:bodyPr>
          <a:lstStyle/>
          <a:p>
            <a:pPr indent="0" lvl="0" marL="0" marR="0" rtl="0" algn="ctr">
              <a:lnSpc>
                <a:spcPct val="80555"/>
              </a:lnSpc>
              <a:spcBef>
                <a:spcPts val="0"/>
              </a:spcBef>
              <a:spcAft>
                <a:spcPts val="0"/>
              </a:spcAft>
              <a:buClr>
                <a:srgbClr val="443728"/>
              </a:buClr>
              <a:buSzPts val="3600"/>
              <a:buFont typeface="Crimson Pro"/>
              <a:buNone/>
            </a:pPr>
            <a:r>
              <a:rPr b="1" lang="en-US" sz="3600">
                <a:solidFill>
                  <a:srgbClr val="443728"/>
                </a:solidFill>
                <a:latin typeface="Crimson Pro"/>
                <a:ea typeface="Crimson Pro"/>
                <a:cs typeface="Crimson Pro"/>
                <a:sym typeface="Crimson Pro"/>
              </a:rPr>
              <a:t>1</a:t>
            </a:r>
            <a:endParaRPr sz="3600">
              <a:solidFill>
                <a:schemeClr val="dk1"/>
              </a:solidFill>
              <a:latin typeface="Calibri"/>
              <a:ea typeface="Calibri"/>
              <a:cs typeface="Calibri"/>
              <a:sym typeface="Calibri"/>
            </a:endParaRPr>
          </a:p>
        </p:txBody>
      </p:sp>
      <p:sp>
        <p:nvSpPr>
          <p:cNvPr id="136" name="Google Shape;136;p3"/>
          <p:cNvSpPr/>
          <p:nvPr/>
        </p:nvSpPr>
        <p:spPr>
          <a:xfrm>
            <a:off x="1297311" y="1903270"/>
            <a:ext cx="3086100" cy="385763"/>
          </a:xfrm>
          <a:prstGeom prst="rect">
            <a:avLst/>
          </a:prstGeom>
          <a:noFill/>
          <a:ln>
            <a:noFill/>
          </a:ln>
        </p:spPr>
        <p:txBody>
          <a:bodyPr anchorCtr="0" anchor="t" bIns="0" lIns="0" spcFirstLastPara="1" rIns="0" wrap="square" tIns="0">
            <a:noAutofit/>
          </a:bodyPr>
          <a:lstStyle/>
          <a:p>
            <a:pPr indent="0" lvl="0" marL="0" marR="0" rtl="0" algn="l">
              <a:lnSpc>
                <a:spcPct val="93750"/>
              </a:lnSpc>
              <a:spcBef>
                <a:spcPts val="0"/>
              </a:spcBef>
              <a:spcAft>
                <a:spcPts val="0"/>
              </a:spcAft>
              <a:buClr>
                <a:srgbClr val="443728"/>
              </a:buClr>
              <a:buSzPts val="3200"/>
              <a:buFont typeface="Crimson Pro"/>
              <a:buNone/>
            </a:pPr>
            <a:r>
              <a:rPr b="1" lang="en-US" sz="3200">
                <a:solidFill>
                  <a:srgbClr val="443728"/>
                </a:solidFill>
                <a:latin typeface="Crimson Pro"/>
                <a:ea typeface="Crimson Pro"/>
                <a:cs typeface="Crimson Pro"/>
                <a:sym typeface="Crimson Pro"/>
              </a:rPr>
              <a:t>Supporting evidence</a:t>
            </a:r>
            <a:endParaRPr sz="3200">
              <a:solidFill>
                <a:schemeClr val="dk1"/>
              </a:solidFill>
              <a:latin typeface="Calibri"/>
              <a:ea typeface="Calibri"/>
              <a:cs typeface="Calibri"/>
              <a:sym typeface="Calibri"/>
            </a:endParaRPr>
          </a:p>
        </p:txBody>
      </p:sp>
      <p:sp>
        <p:nvSpPr>
          <p:cNvPr id="137" name="Google Shape;137;p3"/>
          <p:cNvSpPr/>
          <p:nvPr/>
        </p:nvSpPr>
        <p:spPr>
          <a:xfrm>
            <a:off x="1173361" y="3003397"/>
            <a:ext cx="3333900" cy="158010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443728"/>
              </a:buClr>
              <a:buSzPts val="2400"/>
              <a:buFont typeface="Open Sans"/>
              <a:buNone/>
            </a:pPr>
            <a:r>
              <a:rPr lang="en-US" sz="2400">
                <a:solidFill>
                  <a:srgbClr val="443728"/>
                </a:solidFill>
                <a:latin typeface="Open Sans"/>
                <a:ea typeface="Open Sans"/>
                <a:cs typeface="Open Sans"/>
                <a:sym typeface="Open Sans"/>
              </a:rPr>
              <a:t>Body paragraphs provide evidence and analysis to convince your reader of your argument.</a:t>
            </a:r>
            <a:endParaRPr sz="2400">
              <a:solidFill>
                <a:schemeClr val="dk1"/>
              </a:solidFill>
              <a:latin typeface="Calibri"/>
              <a:ea typeface="Calibri"/>
              <a:cs typeface="Calibri"/>
              <a:sym typeface="Calibri"/>
            </a:endParaRPr>
          </a:p>
        </p:txBody>
      </p:sp>
      <p:sp>
        <p:nvSpPr>
          <p:cNvPr id="138" name="Google Shape;138;p3"/>
          <p:cNvSpPr/>
          <p:nvPr/>
        </p:nvSpPr>
        <p:spPr>
          <a:xfrm>
            <a:off x="4878115" y="1903270"/>
            <a:ext cx="555427" cy="555427"/>
          </a:xfrm>
          <a:prstGeom prst="roundRect">
            <a:avLst>
              <a:gd fmla="val 18669" name="adj"/>
            </a:avLst>
          </a:prstGeom>
          <a:solidFill>
            <a:srgbClr val="EBE2E0"/>
          </a:solidFill>
          <a:ln cap="flat" cmpd="sng" w="15225">
            <a:solidFill>
              <a:srgbClr val="D1C8C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3"/>
          <p:cNvSpPr/>
          <p:nvPr/>
        </p:nvSpPr>
        <p:spPr>
          <a:xfrm>
            <a:off x="5061353" y="1995782"/>
            <a:ext cx="188833" cy="370284"/>
          </a:xfrm>
          <a:prstGeom prst="rect">
            <a:avLst/>
          </a:prstGeom>
          <a:noFill/>
          <a:ln>
            <a:noFill/>
          </a:ln>
        </p:spPr>
        <p:txBody>
          <a:bodyPr anchorCtr="0" anchor="t" bIns="0" lIns="0" spcFirstLastPara="1" rIns="0" wrap="square" tIns="0">
            <a:noAutofit/>
          </a:bodyPr>
          <a:lstStyle/>
          <a:p>
            <a:pPr indent="0" lvl="0" marL="0" marR="0" rtl="0" algn="ctr">
              <a:lnSpc>
                <a:spcPct val="80555"/>
              </a:lnSpc>
              <a:spcBef>
                <a:spcPts val="0"/>
              </a:spcBef>
              <a:spcAft>
                <a:spcPts val="0"/>
              </a:spcAft>
              <a:buClr>
                <a:srgbClr val="443728"/>
              </a:buClr>
              <a:buSzPts val="3600"/>
              <a:buFont typeface="Crimson Pro"/>
              <a:buNone/>
            </a:pPr>
            <a:r>
              <a:rPr b="1" lang="en-US" sz="3600">
                <a:solidFill>
                  <a:srgbClr val="443728"/>
                </a:solidFill>
                <a:latin typeface="Crimson Pro"/>
                <a:ea typeface="Crimson Pro"/>
                <a:cs typeface="Crimson Pro"/>
                <a:sym typeface="Crimson Pro"/>
              </a:rPr>
              <a:t>2</a:t>
            </a:r>
            <a:endParaRPr sz="3600">
              <a:solidFill>
                <a:schemeClr val="dk1"/>
              </a:solidFill>
              <a:latin typeface="Calibri"/>
              <a:ea typeface="Calibri"/>
              <a:cs typeface="Calibri"/>
              <a:sym typeface="Calibri"/>
            </a:endParaRPr>
          </a:p>
        </p:txBody>
      </p:sp>
      <p:sp>
        <p:nvSpPr>
          <p:cNvPr id="140" name="Google Shape;140;p3"/>
          <p:cNvSpPr/>
          <p:nvPr/>
        </p:nvSpPr>
        <p:spPr>
          <a:xfrm>
            <a:off x="5680359" y="1903270"/>
            <a:ext cx="3086100" cy="385763"/>
          </a:xfrm>
          <a:prstGeom prst="rect">
            <a:avLst/>
          </a:prstGeom>
          <a:noFill/>
          <a:ln>
            <a:noFill/>
          </a:ln>
        </p:spPr>
        <p:txBody>
          <a:bodyPr anchorCtr="0" anchor="t" bIns="0" lIns="0" spcFirstLastPara="1" rIns="0" wrap="square" tIns="0">
            <a:noAutofit/>
          </a:bodyPr>
          <a:lstStyle/>
          <a:p>
            <a:pPr indent="0" lvl="0" marL="0" marR="0" rtl="0" algn="l">
              <a:lnSpc>
                <a:spcPct val="93750"/>
              </a:lnSpc>
              <a:spcBef>
                <a:spcPts val="0"/>
              </a:spcBef>
              <a:spcAft>
                <a:spcPts val="0"/>
              </a:spcAft>
              <a:buClr>
                <a:srgbClr val="443728"/>
              </a:buClr>
              <a:buSzPts val="3200"/>
              <a:buFont typeface="Crimson Pro"/>
              <a:buNone/>
            </a:pPr>
            <a:r>
              <a:rPr b="1" lang="en-US" sz="3200">
                <a:solidFill>
                  <a:srgbClr val="443728"/>
                </a:solidFill>
                <a:latin typeface="Crimson Pro"/>
                <a:ea typeface="Crimson Pro"/>
                <a:cs typeface="Crimson Pro"/>
                <a:sym typeface="Crimson Pro"/>
              </a:rPr>
              <a:t>Focus on a single idea</a:t>
            </a:r>
            <a:endParaRPr sz="3200">
              <a:solidFill>
                <a:schemeClr val="dk1"/>
              </a:solidFill>
              <a:latin typeface="Calibri"/>
              <a:ea typeface="Calibri"/>
              <a:cs typeface="Calibri"/>
              <a:sym typeface="Calibri"/>
            </a:endParaRPr>
          </a:p>
        </p:txBody>
      </p:sp>
      <p:sp>
        <p:nvSpPr>
          <p:cNvPr id="141" name="Google Shape;141;p3"/>
          <p:cNvSpPr/>
          <p:nvPr/>
        </p:nvSpPr>
        <p:spPr>
          <a:xfrm>
            <a:off x="5648209" y="2890922"/>
            <a:ext cx="3333900" cy="237030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443728"/>
              </a:buClr>
              <a:buSzPts val="2400"/>
              <a:buFont typeface="Open Sans"/>
              <a:buNone/>
            </a:pPr>
            <a:r>
              <a:rPr lang="en-US" sz="2400">
                <a:solidFill>
                  <a:srgbClr val="443728"/>
                </a:solidFill>
                <a:latin typeface="Open Sans"/>
                <a:ea typeface="Open Sans"/>
                <a:cs typeface="Open Sans"/>
                <a:sym typeface="Open Sans"/>
              </a:rPr>
              <a:t>Each body paragraph should focus on a </a:t>
            </a:r>
            <a:r>
              <a:rPr b="1" lang="en-US" sz="2400" u="sng">
                <a:solidFill>
                  <a:srgbClr val="FF0000"/>
                </a:solidFill>
                <a:latin typeface="Open Sans"/>
                <a:ea typeface="Open Sans"/>
                <a:cs typeface="Open Sans"/>
                <a:sym typeface="Open Sans"/>
              </a:rPr>
              <a:t>single</a:t>
            </a:r>
            <a:r>
              <a:rPr lang="en-US" sz="2400">
                <a:solidFill>
                  <a:srgbClr val="443728"/>
                </a:solidFill>
                <a:latin typeface="Open Sans"/>
                <a:ea typeface="Open Sans"/>
                <a:cs typeface="Open Sans"/>
                <a:sym typeface="Open Sans"/>
              </a:rPr>
              <a:t> idea, using topic sentences, supporting evidence, and explanations to connect your points back to your thesis.</a:t>
            </a:r>
            <a:endParaRPr sz="2400">
              <a:solidFill>
                <a:schemeClr val="dk1"/>
              </a:solidFill>
              <a:latin typeface="Calibri"/>
              <a:ea typeface="Calibri"/>
              <a:cs typeface="Calibri"/>
              <a:sym typeface="Calibri"/>
            </a:endParaRPr>
          </a:p>
        </p:txBody>
      </p:sp>
      <p:sp>
        <p:nvSpPr>
          <p:cNvPr id="142" name="Google Shape;142;p3"/>
          <p:cNvSpPr/>
          <p:nvPr/>
        </p:nvSpPr>
        <p:spPr>
          <a:xfrm>
            <a:off x="9261163" y="1903270"/>
            <a:ext cx="555427" cy="555427"/>
          </a:xfrm>
          <a:prstGeom prst="roundRect">
            <a:avLst>
              <a:gd fmla="val 18669" name="adj"/>
            </a:avLst>
          </a:prstGeom>
          <a:solidFill>
            <a:srgbClr val="EBE2E0"/>
          </a:solidFill>
          <a:ln cap="flat" cmpd="sng" w="15225">
            <a:solidFill>
              <a:srgbClr val="D1C8C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3"/>
          <p:cNvSpPr/>
          <p:nvPr/>
        </p:nvSpPr>
        <p:spPr>
          <a:xfrm>
            <a:off x="9448449" y="1995782"/>
            <a:ext cx="180856" cy="370284"/>
          </a:xfrm>
          <a:prstGeom prst="rect">
            <a:avLst/>
          </a:prstGeom>
          <a:noFill/>
          <a:ln>
            <a:noFill/>
          </a:ln>
        </p:spPr>
        <p:txBody>
          <a:bodyPr anchorCtr="0" anchor="t" bIns="0" lIns="0" spcFirstLastPara="1" rIns="0" wrap="square" tIns="0">
            <a:noAutofit/>
          </a:bodyPr>
          <a:lstStyle/>
          <a:p>
            <a:pPr indent="0" lvl="0" marL="0" marR="0" rtl="0" algn="ctr">
              <a:lnSpc>
                <a:spcPct val="80555"/>
              </a:lnSpc>
              <a:spcBef>
                <a:spcPts val="0"/>
              </a:spcBef>
              <a:spcAft>
                <a:spcPts val="0"/>
              </a:spcAft>
              <a:buClr>
                <a:srgbClr val="443728"/>
              </a:buClr>
              <a:buSzPts val="3600"/>
              <a:buFont typeface="Crimson Pro"/>
              <a:buNone/>
            </a:pPr>
            <a:r>
              <a:rPr b="1" lang="en-US" sz="3600">
                <a:solidFill>
                  <a:srgbClr val="443728"/>
                </a:solidFill>
                <a:latin typeface="Crimson Pro"/>
                <a:ea typeface="Crimson Pro"/>
                <a:cs typeface="Crimson Pro"/>
                <a:sym typeface="Crimson Pro"/>
              </a:rPr>
              <a:t>3</a:t>
            </a:r>
            <a:endParaRPr sz="3600">
              <a:solidFill>
                <a:schemeClr val="dk1"/>
              </a:solidFill>
              <a:latin typeface="Calibri"/>
              <a:ea typeface="Calibri"/>
              <a:cs typeface="Calibri"/>
              <a:sym typeface="Calibri"/>
            </a:endParaRPr>
          </a:p>
        </p:txBody>
      </p:sp>
      <p:sp>
        <p:nvSpPr>
          <p:cNvPr id="144" name="Google Shape;144;p3"/>
          <p:cNvSpPr/>
          <p:nvPr/>
        </p:nvSpPr>
        <p:spPr>
          <a:xfrm>
            <a:off x="10063406" y="1903270"/>
            <a:ext cx="3333988" cy="771525"/>
          </a:xfrm>
          <a:prstGeom prst="rect">
            <a:avLst/>
          </a:prstGeom>
          <a:noFill/>
          <a:ln>
            <a:noFill/>
          </a:ln>
        </p:spPr>
        <p:txBody>
          <a:bodyPr anchorCtr="0" anchor="t" bIns="0" lIns="0" spcFirstLastPara="1" rIns="0" wrap="square" tIns="0">
            <a:noAutofit/>
          </a:bodyPr>
          <a:lstStyle/>
          <a:p>
            <a:pPr indent="0" lvl="0" marL="0" marR="0" rtl="0" algn="l">
              <a:lnSpc>
                <a:spcPct val="93750"/>
              </a:lnSpc>
              <a:spcBef>
                <a:spcPts val="0"/>
              </a:spcBef>
              <a:spcAft>
                <a:spcPts val="0"/>
              </a:spcAft>
              <a:buClr>
                <a:srgbClr val="443728"/>
              </a:buClr>
              <a:buSzPts val="3200"/>
              <a:buFont typeface="Crimson Pro"/>
              <a:buNone/>
            </a:pPr>
            <a:r>
              <a:rPr b="1" lang="en-US" sz="3200">
                <a:solidFill>
                  <a:srgbClr val="443728"/>
                </a:solidFill>
                <a:latin typeface="Crimson Pro"/>
                <a:ea typeface="Crimson Pro"/>
                <a:cs typeface="Crimson Pro"/>
                <a:sym typeface="Crimson Pro"/>
              </a:rPr>
              <a:t>Develop and support your thesis</a:t>
            </a:r>
            <a:endParaRPr sz="3200">
              <a:solidFill>
                <a:schemeClr val="dk1"/>
              </a:solidFill>
              <a:latin typeface="Calibri"/>
              <a:ea typeface="Calibri"/>
              <a:cs typeface="Calibri"/>
              <a:sym typeface="Calibri"/>
            </a:endParaRPr>
          </a:p>
        </p:txBody>
      </p:sp>
      <p:sp>
        <p:nvSpPr>
          <p:cNvPr id="145" name="Google Shape;145;p3"/>
          <p:cNvSpPr/>
          <p:nvPr/>
        </p:nvSpPr>
        <p:spPr>
          <a:xfrm>
            <a:off x="10123056" y="3626696"/>
            <a:ext cx="3333900" cy="158010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443728"/>
              </a:buClr>
              <a:buSzPts val="2400"/>
              <a:buFont typeface="Open Sans"/>
              <a:buNone/>
            </a:pPr>
            <a:r>
              <a:rPr lang="en-US" sz="2400">
                <a:solidFill>
                  <a:srgbClr val="443728"/>
                </a:solidFill>
                <a:latin typeface="Open Sans"/>
                <a:ea typeface="Open Sans"/>
                <a:cs typeface="Open Sans"/>
                <a:sym typeface="Open Sans"/>
              </a:rPr>
              <a:t>Body paragraphs are the heart of your essay. They develop and support your thesis statement.</a:t>
            </a:r>
            <a:endParaRPr sz="2400">
              <a:solidFill>
                <a:schemeClr val="dk1"/>
              </a:solidFill>
              <a:latin typeface="Calibri"/>
              <a:ea typeface="Calibri"/>
              <a:cs typeface="Calibri"/>
              <a:sym typeface="Calibri"/>
            </a:endParaRPr>
          </a:p>
        </p:txBody>
      </p:sp>
      <p:sp>
        <p:nvSpPr>
          <p:cNvPr id="146" name="Google Shape;146;p3"/>
          <p:cNvSpPr/>
          <p:nvPr/>
        </p:nvSpPr>
        <p:spPr>
          <a:xfrm>
            <a:off x="248252" y="6023189"/>
            <a:ext cx="555427" cy="555427"/>
          </a:xfrm>
          <a:prstGeom prst="roundRect">
            <a:avLst>
              <a:gd fmla="val 18669" name="adj"/>
            </a:avLst>
          </a:prstGeom>
          <a:solidFill>
            <a:srgbClr val="EBE2E0"/>
          </a:solidFill>
          <a:ln cap="flat" cmpd="sng" w="15225">
            <a:solidFill>
              <a:srgbClr val="D1C8C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3"/>
          <p:cNvSpPr/>
          <p:nvPr/>
        </p:nvSpPr>
        <p:spPr>
          <a:xfrm>
            <a:off x="426131" y="6115701"/>
            <a:ext cx="199668" cy="370284"/>
          </a:xfrm>
          <a:prstGeom prst="rect">
            <a:avLst/>
          </a:prstGeom>
          <a:noFill/>
          <a:ln>
            <a:noFill/>
          </a:ln>
        </p:spPr>
        <p:txBody>
          <a:bodyPr anchorCtr="0" anchor="t" bIns="0" lIns="0" spcFirstLastPara="1" rIns="0" wrap="square" tIns="0">
            <a:noAutofit/>
          </a:bodyPr>
          <a:lstStyle/>
          <a:p>
            <a:pPr indent="0" lvl="0" marL="0" marR="0" rtl="0" algn="ctr">
              <a:lnSpc>
                <a:spcPct val="80555"/>
              </a:lnSpc>
              <a:spcBef>
                <a:spcPts val="0"/>
              </a:spcBef>
              <a:spcAft>
                <a:spcPts val="0"/>
              </a:spcAft>
              <a:buClr>
                <a:srgbClr val="443728"/>
              </a:buClr>
              <a:buSzPts val="3600"/>
              <a:buFont typeface="Crimson Pro"/>
              <a:buNone/>
            </a:pPr>
            <a:r>
              <a:rPr b="1" lang="en-US" sz="3600">
                <a:solidFill>
                  <a:srgbClr val="443728"/>
                </a:solidFill>
                <a:latin typeface="Crimson Pro"/>
                <a:ea typeface="Crimson Pro"/>
                <a:cs typeface="Crimson Pro"/>
                <a:sym typeface="Crimson Pro"/>
              </a:rPr>
              <a:t>4</a:t>
            </a:r>
            <a:endParaRPr sz="3600">
              <a:solidFill>
                <a:schemeClr val="dk1"/>
              </a:solidFill>
              <a:latin typeface="Calibri"/>
              <a:ea typeface="Calibri"/>
              <a:cs typeface="Calibri"/>
              <a:sym typeface="Calibri"/>
            </a:endParaRPr>
          </a:p>
        </p:txBody>
      </p:sp>
      <p:sp>
        <p:nvSpPr>
          <p:cNvPr id="148" name="Google Shape;148;p3"/>
          <p:cNvSpPr/>
          <p:nvPr/>
        </p:nvSpPr>
        <p:spPr>
          <a:xfrm>
            <a:off x="1113420" y="6485964"/>
            <a:ext cx="11192700" cy="3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43728"/>
              </a:buClr>
              <a:buSzPts val="3000"/>
              <a:buFont typeface="Crimson Pro"/>
              <a:buNone/>
            </a:pPr>
            <a:r>
              <a:rPr b="1" lang="en-US" sz="3000">
                <a:solidFill>
                  <a:srgbClr val="443728"/>
                </a:solidFill>
                <a:latin typeface="Crimson Pro"/>
                <a:ea typeface="Crimson Pro"/>
                <a:cs typeface="Crimson Pro"/>
                <a:sym typeface="Crimson Pro"/>
              </a:rPr>
              <a:t>Each paragraph should be linked to the one before it with transitional devices such as:</a:t>
            </a:r>
            <a:endParaRPr sz="3000">
              <a:solidFill>
                <a:schemeClr val="dk1"/>
              </a:solidFill>
              <a:latin typeface="Calibri"/>
              <a:ea typeface="Calibri"/>
              <a:cs typeface="Calibri"/>
              <a:sym typeface="Calibri"/>
            </a:endParaRPr>
          </a:p>
        </p:txBody>
      </p:sp>
      <p:sp>
        <p:nvSpPr>
          <p:cNvPr id="149" name="Google Shape;149;p3"/>
          <p:cNvSpPr/>
          <p:nvPr/>
        </p:nvSpPr>
        <p:spPr>
          <a:xfrm>
            <a:off x="7417745" y="7249140"/>
            <a:ext cx="12100200" cy="39510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443728"/>
              </a:buClr>
              <a:buSzPts val="2400"/>
              <a:buFont typeface="Open Sans"/>
              <a:buNone/>
            </a:pPr>
            <a:r>
              <a:rPr lang="en-US" sz="2400">
                <a:solidFill>
                  <a:srgbClr val="443728"/>
                </a:solidFill>
                <a:latin typeface="Open Sans"/>
                <a:ea typeface="Open Sans"/>
                <a:cs typeface="Open Sans"/>
                <a:sym typeface="Open Sans"/>
              </a:rPr>
              <a:t>•repeating key words/synonyms</a:t>
            </a:r>
            <a:endParaRPr sz="2400">
              <a:solidFill>
                <a:schemeClr val="dk1"/>
              </a:solidFill>
              <a:latin typeface="Calibri"/>
              <a:ea typeface="Calibri"/>
              <a:cs typeface="Calibri"/>
              <a:sym typeface="Calibri"/>
            </a:endParaRPr>
          </a:p>
        </p:txBody>
      </p:sp>
      <p:sp>
        <p:nvSpPr>
          <p:cNvPr id="150" name="Google Shape;150;p3"/>
          <p:cNvSpPr/>
          <p:nvPr/>
        </p:nvSpPr>
        <p:spPr>
          <a:xfrm>
            <a:off x="7417758" y="7834503"/>
            <a:ext cx="12100200" cy="39510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443728"/>
              </a:buClr>
              <a:buSzPts val="2400"/>
              <a:buFont typeface="Open Sans"/>
              <a:buNone/>
            </a:pPr>
            <a:r>
              <a:rPr lang="en-US" sz="2400">
                <a:solidFill>
                  <a:srgbClr val="443728"/>
                </a:solidFill>
                <a:latin typeface="Open Sans"/>
                <a:ea typeface="Open Sans"/>
                <a:cs typeface="Open Sans"/>
                <a:sym typeface="Open Sans"/>
              </a:rPr>
              <a:t>• transitional words/phrases.</a:t>
            </a:r>
            <a:endParaRPr sz="24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CFA"/>
        </a:solidFill>
      </p:bgPr>
    </p:bg>
    <p:spTree>
      <p:nvGrpSpPr>
        <p:cNvPr id="155" name="Shape 155"/>
        <p:cNvGrpSpPr/>
        <p:nvPr/>
      </p:nvGrpSpPr>
      <p:grpSpPr>
        <a:xfrm>
          <a:off x="0" y="0"/>
          <a:ext cx="0" cy="0"/>
          <a:chOff x="0" y="0"/>
          <a:chExt cx="0" cy="0"/>
        </a:xfrm>
      </p:grpSpPr>
      <p:sp>
        <p:nvSpPr>
          <p:cNvPr id="156" name="Google Shape;156;p4"/>
          <p:cNvSpPr/>
          <p:nvPr/>
        </p:nvSpPr>
        <p:spPr>
          <a:xfrm>
            <a:off x="749231" y="93919"/>
            <a:ext cx="6172200" cy="771600"/>
          </a:xfrm>
          <a:prstGeom prst="rect">
            <a:avLst/>
          </a:prstGeom>
          <a:noFill/>
          <a:ln>
            <a:noFill/>
          </a:ln>
        </p:spPr>
        <p:txBody>
          <a:bodyPr anchorCtr="0" anchor="t" bIns="0" lIns="0" spcFirstLastPara="1" rIns="0" wrap="square" tIns="0">
            <a:noAutofit/>
          </a:bodyPr>
          <a:lstStyle/>
          <a:p>
            <a:pPr indent="0" lvl="0" marL="0" marR="0" rtl="0" algn="l">
              <a:lnSpc>
                <a:spcPct val="91666"/>
              </a:lnSpc>
              <a:spcBef>
                <a:spcPts val="0"/>
              </a:spcBef>
              <a:spcAft>
                <a:spcPts val="0"/>
              </a:spcAft>
              <a:buClr>
                <a:srgbClr val="443728"/>
              </a:buClr>
              <a:buSzPts val="6600"/>
              <a:buFont typeface="Crimson Pro"/>
              <a:buNone/>
            </a:pPr>
            <a:r>
              <a:rPr b="1" lang="en-US" sz="6600">
                <a:solidFill>
                  <a:srgbClr val="443728"/>
                </a:solidFill>
                <a:latin typeface="Crimson Pro"/>
                <a:ea typeface="Crimson Pro"/>
                <a:cs typeface="Crimson Pro"/>
                <a:sym typeface="Crimson Pro"/>
              </a:rPr>
              <a:t>Concluding Paragraph</a:t>
            </a:r>
            <a:endParaRPr sz="6600">
              <a:solidFill>
                <a:schemeClr val="dk1"/>
              </a:solidFill>
              <a:latin typeface="Calibri"/>
              <a:ea typeface="Calibri"/>
              <a:cs typeface="Calibri"/>
              <a:sym typeface="Calibri"/>
            </a:endParaRPr>
          </a:p>
        </p:txBody>
      </p:sp>
      <p:sp>
        <p:nvSpPr>
          <p:cNvPr id="157" name="Google Shape;157;p4"/>
          <p:cNvSpPr/>
          <p:nvPr/>
        </p:nvSpPr>
        <p:spPr>
          <a:xfrm>
            <a:off x="623329" y="2144187"/>
            <a:ext cx="12902400" cy="395100"/>
          </a:xfrm>
          <a:prstGeom prst="rect">
            <a:avLst/>
          </a:prstGeom>
          <a:noFill/>
          <a:ln>
            <a:noFill/>
          </a:ln>
        </p:spPr>
        <p:txBody>
          <a:bodyPr anchorCtr="0" anchor="t" bIns="0" lIns="0" spcFirstLastPara="1" rIns="0" wrap="square" tIns="0">
            <a:noAutofit/>
          </a:bodyPr>
          <a:lstStyle/>
          <a:p>
            <a:pPr indent="0" lvl="0" marL="0" marR="0" rtl="0" algn="l">
              <a:lnSpc>
                <a:spcPct val="96875"/>
              </a:lnSpc>
              <a:spcBef>
                <a:spcPts val="0"/>
              </a:spcBef>
              <a:spcAft>
                <a:spcPts val="0"/>
              </a:spcAft>
              <a:buClr>
                <a:srgbClr val="443728"/>
              </a:buClr>
              <a:buSzPts val="3200"/>
              <a:buFont typeface="Open Sans"/>
              <a:buNone/>
            </a:pPr>
            <a:r>
              <a:rPr lang="en-US" sz="3200">
                <a:solidFill>
                  <a:srgbClr val="443728"/>
                </a:solidFill>
                <a:latin typeface="Open Sans"/>
                <a:ea typeface="Open Sans"/>
                <a:cs typeface="Open Sans"/>
                <a:sym typeface="Open Sans"/>
              </a:rPr>
              <a:t>It is the </a:t>
            </a:r>
            <a:r>
              <a:rPr b="1" lang="en-US" sz="3200" u="sng">
                <a:solidFill>
                  <a:srgbClr val="F44444"/>
                </a:solidFill>
                <a:latin typeface="Open Sans"/>
                <a:ea typeface="Open Sans"/>
                <a:cs typeface="Open Sans"/>
                <a:sym typeface="Open Sans"/>
              </a:rPr>
              <a:t>final</a:t>
            </a:r>
            <a:r>
              <a:rPr lang="en-US" sz="3200">
                <a:solidFill>
                  <a:srgbClr val="443728"/>
                </a:solidFill>
                <a:latin typeface="Open Sans"/>
                <a:ea typeface="Open Sans"/>
                <a:cs typeface="Open Sans"/>
                <a:sym typeface="Open Sans"/>
              </a:rPr>
              <a:t> paragraph in an essay. It has </a:t>
            </a:r>
            <a:r>
              <a:rPr b="1" lang="en-US" sz="3200">
                <a:solidFill>
                  <a:srgbClr val="443728"/>
                </a:solidFill>
                <a:latin typeface="Open Sans"/>
                <a:ea typeface="Open Sans"/>
                <a:cs typeface="Open Sans"/>
                <a:sym typeface="Open Sans"/>
              </a:rPr>
              <a:t>three</a:t>
            </a:r>
            <a:r>
              <a:rPr lang="en-US" sz="3200">
                <a:solidFill>
                  <a:srgbClr val="443728"/>
                </a:solidFill>
                <a:latin typeface="Open Sans"/>
                <a:ea typeface="Open Sans"/>
                <a:cs typeface="Open Sans"/>
                <a:sym typeface="Open Sans"/>
              </a:rPr>
              <a:t> purposes:</a:t>
            </a:r>
            <a:endParaRPr sz="3200">
              <a:solidFill>
                <a:schemeClr val="dk1"/>
              </a:solidFill>
              <a:latin typeface="Calibri"/>
              <a:ea typeface="Calibri"/>
              <a:cs typeface="Calibri"/>
              <a:sym typeface="Calibri"/>
            </a:endParaRPr>
          </a:p>
        </p:txBody>
      </p:sp>
      <p:sp>
        <p:nvSpPr>
          <p:cNvPr id="158" name="Google Shape;158;p4"/>
          <p:cNvSpPr/>
          <p:nvPr/>
        </p:nvSpPr>
        <p:spPr>
          <a:xfrm>
            <a:off x="1018334" y="2905902"/>
            <a:ext cx="12507399" cy="790099"/>
          </a:xfrm>
          <a:prstGeom prst="rect">
            <a:avLst/>
          </a:prstGeom>
          <a:noFill/>
          <a:ln>
            <a:noFill/>
          </a:ln>
        </p:spPr>
        <p:txBody>
          <a:bodyPr anchorCtr="0" anchor="t" bIns="0" lIns="0" spcFirstLastPara="1" rIns="0" wrap="square" tIns="0">
            <a:noAutofit/>
          </a:bodyPr>
          <a:lstStyle/>
          <a:p>
            <a:pPr indent="-342900" lvl="0" marL="342900" marR="0" rtl="0" algn="l">
              <a:lnSpc>
                <a:spcPct val="96875"/>
              </a:lnSpc>
              <a:spcBef>
                <a:spcPts val="0"/>
              </a:spcBef>
              <a:spcAft>
                <a:spcPts val="0"/>
              </a:spcAft>
              <a:buClr>
                <a:srgbClr val="443728"/>
              </a:buClr>
              <a:buSzPts val="3200"/>
              <a:buFont typeface="Calibri"/>
              <a:buAutoNum type="arabicPeriod"/>
            </a:pPr>
            <a:r>
              <a:rPr lang="en-US" sz="3200">
                <a:solidFill>
                  <a:srgbClr val="443728"/>
                </a:solidFill>
                <a:latin typeface="Open Sans"/>
                <a:ea typeface="Open Sans"/>
                <a:cs typeface="Open Sans"/>
                <a:sym typeface="Open Sans"/>
              </a:rPr>
              <a:t> It signals the end of the essay. To do so, begin with a transition signal (ex. in conclusion, to conclude, to summarize, etc...).</a:t>
            </a:r>
            <a:endParaRPr sz="3200">
              <a:solidFill>
                <a:schemeClr val="dk1"/>
              </a:solidFill>
              <a:latin typeface="Calibri"/>
              <a:ea typeface="Calibri"/>
              <a:cs typeface="Calibri"/>
              <a:sym typeface="Calibri"/>
            </a:endParaRPr>
          </a:p>
        </p:txBody>
      </p:sp>
      <p:sp>
        <p:nvSpPr>
          <p:cNvPr id="159" name="Google Shape;159;p4"/>
          <p:cNvSpPr/>
          <p:nvPr/>
        </p:nvSpPr>
        <p:spPr>
          <a:xfrm>
            <a:off x="1018334" y="4433639"/>
            <a:ext cx="12507397" cy="790099"/>
          </a:xfrm>
          <a:prstGeom prst="rect">
            <a:avLst/>
          </a:prstGeom>
          <a:noFill/>
          <a:ln>
            <a:noFill/>
          </a:ln>
        </p:spPr>
        <p:txBody>
          <a:bodyPr anchorCtr="0" anchor="t" bIns="0" lIns="0" spcFirstLastPara="1" rIns="0" wrap="square" tIns="0">
            <a:noAutofit/>
          </a:bodyPr>
          <a:lstStyle/>
          <a:p>
            <a:pPr indent="-342900" lvl="0" marL="342900" marR="0" rtl="0" algn="l">
              <a:lnSpc>
                <a:spcPct val="96875"/>
              </a:lnSpc>
              <a:spcBef>
                <a:spcPts val="0"/>
              </a:spcBef>
              <a:spcAft>
                <a:spcPts val="0"/>
              </a:spcAft>
              <a:buClr>
                <a:srgbClr val="443728"/>
              </a:buClr>
              <a:buSzPts val="3200"/>
              <a:buFont typeface="Calibri"/>
              <a:buAutoNum type="arabicPeriod" startAt="2"/>
            </a:pPr>
            <a:r>
              <a:rPr lang="en-US" sz="3200">
                <a:solidFill>
                  <a:srgbClr val="443728"/>
                </a:solidFill>
                <a:latin typeface="Open Sans"/>
                <a:ea typeface="Open Sans"/>
                <a:cs typeface="Open Sans"/>
                <a:sym typeface="Open Sans"/>
              </a:rPr>
              <a:t> It reminds your reader of your </a:t>
            </a:r>
            <a:r>
              <a:rPr b="1" lang="en-US" sz="3200" u="sng">
                <a:solidFill>
                  <a:srgbClr val="F44444"/>
                </a:solidFill>
                <a:latin typeface="Open Sans"/>
                <a:ea typeface="Open Sans"/>
                <a:cs typeface="Open Sans"/>
                <a:sym typeface="Open Sans"/>
              </a:rPr>
              <a:t>main points</a:t>
            </a:r>
            <a:r>
              <a:rPr lang="en-US" sz="3200">
                <a:solidFill>
                  <a:srgbClr val="443728"/>
                </a:solidFill>
                <a:latin typeface="Open Sans"/>
                <a:ea typeface="Open Sans"/>
                <a:cs typeface="Open Sans"/>
                <a:sym typeface="Open Sans"/>
              </a:rPr>
              <a:t>, you can do this either by:</a:t>
            </a:r>
            <a:endParaRPr/>
          </a:p>
          <a:p>
            <a:pPr indent="-139700" lvl="0" marL="342900" marR="0" rtl="0" algn="l">
              <a:lnSpc>
                <a:spcPct val="96875"/>
              </a:lnSpc>
              <a:spcBef>
                <a:spcPts val="0"/>
              </a:spcBef>
              <a:spcAft>
                <a:spcPts val="0"/>
              </a:spcAft>
              <a:buClr>
                <a:schemeClr val="dk1"/>
              </a:buClr>
              <a:buSzPts val="3200"/>
              <a:buFont typeface="Calibri"/>
              <a:buNone/>
            </a:pPr>
            <a:r>
              <a:t/>
            </a:r>
            <a:endParaRPr sz="3200">
              <a:solidFill>
                <a:srgbClr val="443728"/>
              </a:solidFill>
              <a:latin typeface="Open Sans"/>
              <a:ea typeface="Open Sans"/>
              <a:cs typeface="Open Sans"/>
              <a:sym typeface="Open Sans"/>
            </a:endParaRPr>
          </a:p>
          <a:p>
            <a:pPr indent="0" lvl="0" marL="0" marR="0" rtl="0" algn="l">
              <a:lnSpc>
                <a:spcPct val="96875"/>
              </a:lnSpc>
              <a:spcBef>
                <a:spcPts val="0"/>
              </a:spcBef>
              <a:spcAft>
                <a:spcPts val="0"/>
              </a:spcAft>
              <a:buNone/>
            </a:pPr>
            <a:r>
              <a:rPr lang="en-US" sz="3200">
                <a:solidFill>
                  <a:srgbClr val="443728"/>
                </a:solidFill>
                <a:latin typeface="Open Sans"/>
                <a:ea typeface="Open Sans"/>
                <a:cs typeface="Open Sans"/>
                <a:sym typeface="Open Sans"/>
              </a:rPr>
              <a:t> </a:t>
            </a:r>
            <a:endParaRPr/>
          </a:p>
          <a:p>
            <a:pPr indent="0" lvl="0" marL="0" marR="0" rtl="0" algn="l">
              <a:lnSpc>
                <a:spcPct val="96875"/>
              </a:lnSpc>
              <a:spcBef>
                <a:spcPts val="0"/>
              </a:spcBef>
              <a:spcAft>
                <a:spcPts val="0"/>
              </a:spcAft>
              <a:buNone/>
            </a:pPr>
            <a:r>
              <a:rPr lang="en-US" sz="3200">
                <a:solidFill>
                  <a:srgbClr val="443728"/>
                </a:solidFill>
                <a:latin typeface="Open Sans"/>
                <a:ea typeface="Open Sans"/>
                <a:cs typeface="Open Sans"/>
                <a:sym typeface="Open Sans"/>
              </a:rPr>
              <a:t>•</a:t>
            </a:r>
            <a:r>
              <a:rPr b="1" lang="en-US" sz="3200">
                <a:solidFill>
                  <a:srgbClr val="443728"/>
                </a:solidFill>
                <a:latin typeface="Open Sans"/>
                <a:ea typeface="Open Sans"/>
                <a:cs typeface="Open Sans"/>
                <a:sym typeface="Open Sans"/>
              </a:rPr>
              <a:t> Summarizing your subtopics</a:t>
            </a:r>
            <a:r>
              <a:rPr lang="en-US" sz="3200">
                <a:solidFill>
                  <a:srgbClr val="443728"/>
                </a:solidFill>
                <a:latin typeface="Open Sans"/>
                <a:ea typeface="Open Sans"/>
                <a:cs typeface="Open Sans"/>
                <a:sym typeface="Open Sans"/>
              </a:rPr>
              <a:t>/ major ideas (body paragraphs’ topic sentences). </a:t>
            </a:r>
            <a:r>
              <a:rPr b="1" lang="en-US" sz="3200" u="sng">
                <a:solidFill>
                  <a:srgbClr val="FF0000"/>
                </a:solidFill>
                <a:latin typeface="Open Sans"/>
                <a:ea typeface="Open Sans"/>
                <a:cs typeface="Open Sans"/>
                <a:sym typeface="Open Sans"/>
              </a:rPr>
              <a:t>OR </a:t>
            </a:r>
            <a:endParaRPr b="1" sz="3200" u="sng">
              <a:solidFill>
                <a:srgbClr val="FF0000"/>
              </a:solidFill>
              <a:latin typeface="Calibri"/>
              <a:ea typeface="Calibri"/>
              <a:cs typeface="Calibri"/>
              <a:sym typeface="Calibri"/>
            </a:endParaRPr>
          </a:p>
        </p:txBody>
      </p:sp>
      <p:sp>
        <p:nvSpPr>
          <p:cNvPr id="160" name="Google Shape;160;p4"/>
          <p:cNvSpPr/>
          <p:nvPr/>
        </p:nvSpPr>
        <p:spPr>
          <a:xfrm>
            <a:off x="508035" y="7288494"/>
            <a:ext cx="12763800" cy="395100"/>
          </a:xfrm>
          <a:prstGeom prst="rect">
            <a:avLst/>
          </a:prstGeom>
          <a:noFill/>
          <a:ln>
            <a:noFill/>
          </a:ln>
        </p:spPr>
        <p:txBody>
          <a:bodyPr anchorCtr="0" anchor="t" bIns="0" lIns="0" spcFirstLastPara="1" rIns="0" wrap="square" tIns="0">
            <a:noAutofit/>
          </a:bodyPr>
          <a:lstStyle/>
          <a:p>
            <a:pPr indent="0" lvl="0" marL="0" marR="0" rtl="0" algn="l">
              <a:lnSpc>
                <a:spcPct val="96875"/>
              </a:lnSpc>
              <a:spcBef>
                <a:spcPts val="0"/>
              </a:spcBef>
              <a:spcAft>
                <a:spcPts val="0"/>
              </a:spcAft>
              <a:buClr>
                <a:srgbClr val="443728"/>
              </a:buClr>
              <a:buSzPts val="3200"/>
              <a:buFont typeface="Open Sans"/>
              <a:buNone/>
            </a:pPr>
            <a:r>
              <a:rPr lang="en-US" sz="3200">
                <a:solidFill>
                  <a:srgbClr val="443728"/>
                </a:solidFill>
                <a:latin typeface="Open Sans"/>
                <a:ea typeface="Open Sans"/>
                <a:cs typeface="Open Sans"/>
                <a:sym typeface="Open Sans"/>
              </a:rPr>
              <a:t>     • </a:t>
            </a:r>
            <a:r>
              <a:rPr b="1" lang="en-US" sz="3200">
                <a:solidFill>
                  <a:srgbClr val="443728"/>
                </a:solidFill>
                <a:latin typeface="Open Sans"/>
                <a:ea typeface="Open Sans"/>
                <a:cs typeface="Open Sans"/>
                <a:sym typeface="Open Sans"/>
              </a:rPr>
              <a:t>Paraphrasing</a:t>
            </a:r>
            <a:r>
              <a:rPr lang="en-US" sz="3200">
                <a:solidFill>
                  <a:srgbClr val="443728"/>
                </a:solidFill>
                <a:latin typeface="Open Sans"/>
                <a:ea typeface="Open Sans"/>
                <a:cs typeface="Open Sans"/>
                <a:sym typeface="Open Sans"/>
              </a:rPr>
              <a:t> your thesis statement.</a:t>
            </a:r>
            <a:endParaRPr sz="3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CFA"/>
        </a:solidFill>
      </p:bgPr>
    </p:bg>
    <p:spTree>
      <p:nvGrpSpPr>
        <p:cNvPr id="165" name="Shape 165"/>
        <p:cNvGrpSpPr/>
        <p:nvPr/>
      </p:nvGrpSpPr>
      <p:grpSpPr>
        <a:xfrm>
          <a:off x="0" y="0"/>
          <a:ext cx="0" cy="0"/>
          <a:chOff x="0" y="0"/>
          <a:chExt cx="0" cy="0"/>
        </a:xfrm>
      </p:grpSpPr>
      <p:sp>
        <p:nvSpPr>
          <p:cNvPr id="166" name="Google Shape;166;p5"/>
          <p:cNvSpPr/>
          <p:nvPr/>
        </p:nvSpPr>
        <p:spPr>
          <a:xfrm>
            <a:off x="159741" y="135905"/>
            <a:ext cx="6172200" cy="771600"/>
          </a:xfrm>
          <a:prstGeom prst="rect">
            <a:avLst/>
          </a:prstGeom>
          <a:noFill/>
          <a:ln>
            <a:noFill/>
          </a:ln>
        </p:spPr>
        <p:txBody>
          <a:bodyPr anchorCtr="0" anchor="t" bIns="0" lIns="0" spcFirstLastPara="1" rIns="0" wrap="square" tIns="0">
            <a:noAutofit/>
          </a:bodyPr>
          <a:lstStyle/>
          <a:p>
            <a:pPr indent="0" lvl="0" marL="0" marR="0" rtl="0" algn="l">
              <a:lnSpc>
                <a:spcPct val="91666"/>
              </a:lnSpc>
              <a:spcBef>
                <a:spcPts val="0"/>
              </a:spcBef>
              <a:spcAft>
                <a:spcPts val="0"/>
              </a:spcAft>
              <a:buClr>
                <a:srgbClr val="443728"/>
              </a:buClr>
              <a:buSzPts val="6600"/>
              <a:buFont typeface="Crimson Pro"/>
              <a:buNone/>
            </a:pPr>
            <a:r>
              <a:rPr b="1" lang="en-US" sz="6600">
                <a:solidFill>
                  <a:srgbClr val="443728"/>
                </a:solidFill>
                <a:latin typeface="Crimson Pro"/>
                <a:ea typeface="Crimson Pro"/>
                <a:cs typeface="Crimson Pro"/>
                <a:sym typeface="Crimson Pro"/>
              </a:rPr>
              <a:t>Concluding Paragraph</a:t>
            </a:r>
            <a:endParaRPr sz="6600">
              <a:solidFill>
                <a:schemeClr val="dk1"/>
              </a:solidFill>
              <a:latin typeface="Calibri"/>
              <a:ea typeface="Calibri"/>
              <a:cs typeface="Calibri"/>
              <a:sym typeface="Calibri"/>
            </a:endParaRPr>
          </a:p>
        </p:txBody>
      </p:sp>
      <p:sp>
        <p:nvSpPr>
          <p:cNvPr id="167" name="Google Shape;167;p5"/>
          <p:cNvSpPr/>
          <p:nvPr/>
        </p:nvSpPr>
        <p:spPr>
          <a:xfrm>
            <a:off x="298166" y="2112869"/>
            <a:ext cx="12902400" cy="395100"/>
          </a:xfrm>
          <a:prstGeom prst="rect">
            <a:avLst/>
          </a:prstGeom>
          <a:noFill/>
          <a:ln>
            <a:noFill/>
          </a:ln>
        </p:spPr>
        <p:txBody>
          <a:bodyPr anchorCtr="0" anchor="t" bIns="0" lIns="0" spcFirstLastPara="1" rIns="0" wrap="square" tIns="0">
            <a:noAutofit/>
          </a:bodyPr>
          <a:lstStyle/>
          <a:p>
            <a:pPr indent="0" lvl="0" marL="0" marR="0" rtl="0" algn="l">
              <a:lnSpc>
                <a:spcPct val="200000"/>
              </a:lnSpc>
              <a:spcBef>
                <a:spcPts val="0"/>
              </a:spcBef>
              <a:spcAft>
                <a:spcPts val="0"/>
              </a:spcAft>
              <a:buClr>
                <a:srgbClr val="443728"/>
              </a:buClr>
              <a:buSzPts val="2800"/>
              <a:buFont typeface="Open Sans"/>
              <a:buNone/>
            </a:pPr>
            <a:r>
              <a:rPr lang="en-US" sz="2800">
                <a:solidFill>
                  <a:srgbClr val="443728"/>
                </a:solidFill>
                <a:latin typeface="Open Sans"/>
                <a:ea typeface="Open Sans"/>
                <a:cs typeface="Open Sans"/>
                <a:sym typeface="Open Sans"/>
              </a:rPr>
              <a:t>3. It leaves your reader with </a:t>
            </a:r>
            <a:r>
              <a:rPr b="1" lang="en-US" sz="2800">
                <a:solidFill>
                  <a:srgbClr val="443728"/>
                </a:solidFill>
                <a:latin typeface="Open Sans"/>
                <a:ea typeface="Open Sans"/>
                <a:cs typeface="Open Sans"/>
                <a:sym typeface="Open Sans"/>
              </a:rPr>
              <a:t>your final thoughts/opinion </a:t>
            </a:r>
            <a:r>
              <a:rPr lang="en-US" sz="2800">
                <a:solidFill>
                  <a:srgbClr val="443728"/>
                </a:solidFill>
                <a:latin typeface="Open Sans"/>
                <a:ea typeface="Open Sans"/>
                <a:cs typeface="Open Sans"/>
                <a:sym typeface="Open Sans"/>
              </a:rPr>
              <a:t>on the topic.</a:t>
            </a:r>
            <a:endParaRPr sz="2800">
              <a:solidFill>
                <a:schemeClr val="dk1"/>
              </a:solidFill>
              <a:latin typeface="Calibri"/>
              <a:ea typeface="Calibri"/>
              <a:cs typeface="Calibri"/>
              <a:sym typeface="Calibri"/>
            </a:endParaRPr>
          </a:p>
        </p:txBody>
      </p:sp>
      <p:sp>
        <p:nvSpPr>
          <p:cNvPr id="168" name="Google Shape;168;p5"/>
          <p:cNvSpPr/>
          <p:nvPr/>
        </p:nvSpPr>
        <p:spPr>
          <a:xfrm>
            <a:off x="398816" y="2958830"/>
            <a:ext cx="12902327" cy="395049"/>
          </a:xfrm>
          <a:prstGeom prst="rect">
            <a:avLst/>
          </a:prstGeom>
          <a:noFill/>
          <a:ln>
            <a:noFill/>
          </a:ln>
        </p:spPr>
        <p:txBody>
          <a:bodyPr anchorCtr="0" anchor="t" bIns="0" lIns="0" spcFirstLastPara="1" rIns="0" wrap="square" tIns="0">
            <a:noAutofit/>
          </a:bodyPr>
          <a:lstStyle/>
          <a:p>
            <a:pPr indent="0" lvl="0" marL="0" marR="0" rtl="0" algn="l">
              <a:lnSpc>
                <a:spcPct val="200000"/>
              </a:lnSpc>
              <a:spcBef>
                <a:spcPts val="0"/>
              </a:spcBef>
              <a:spcAft>
                <a:spcPts val="0"/>
              </a:spcAft>
              <a:buClr>
                <a:srgbClr val="443728"/>
              </a:buClr>
              <a:buSzPts val="2800"/>
              <a:buFont typeface="Open Sans"/>
              <a:buNone/>
            </a:pPr>
            <a:r>
              <a:rPr lang="en-US" sz="2800">
                <a:solidFill>
                  <a:srgbClr val="443728"/>
                </a:solidFill>
                <a:latin typeface="Open Sans"/>
                <a:ea typeface="Open Sans"/>
                <a:cs typeface="Open Sans"/>
                <a:sym typeface="Open Sans"/>
              </a:rPr>
              <a:t>•This is your opportunity to </a:t>
            </a:r>
            <a:r>
              <a:rPr b="1" lang="en-US" sz="2800">
                <a:solidFill>
                  <a:srgbClr val="443728"/>
                </a:solidFill>
                <a:latin typeface="Open Sans"/>
                <a:ea typeface="Open Sans"/>
                <a:cs typeface="Open Sans"/>
                <a:sym typeface="Open Sans"/>
              </a:rPr>
              <a:t>convey a strong, effective message</a:t>
            </a:r>
            <a:r>
              <a:rPr lang="en-US" sz="2800">
                <a:solidFill>
                  <a:srgbClr val="443728"/>
                </a:solidFill>
                <a:latin typeface="Open Sans"/>
                <a:ea typeface="Open Sans"/>
                <a:cs typeface="Open Sans"/>
                <a:sym typeface="Open Sans"/>
              </a:rPr>
              <a:t> that your reader </a:t>
            </a:r>
            <a:endParaRPr/>
          </a:p>
          <a:p>
            <a:pPr indent="0" lvl="0" marL="0" marR="0" rtl="0" algn="l">
              <a:lnSpc>
                <a:spcPct val="200000"/>
              </a:lnSpc>
              <a:spcBef>
                <a:spcPts val="0"/>
              </a:spcBef>
              <a:spcAft>
                <a:spcPts val="0"/>
              </a:spcAft>
              <a:buClr>
                <a:srgbClr val="443728"/>
              </a:buClr>
              <a:buSzPts val="2800"/>
              <a:buFont typeface="Open Sans"/>
              <a:buNone/>
            </a:pPr>
            <a:r>
              <a:rPr lang="en-US" sz="2800">
                <a:solidFill>
                  <a:srgbClr val="443728"/>
                </a:solidFill>
                <a:latin typeface="Open Sans"/>
                <a:ea typeface="Open Sans"/>
                <a:cs typeface="Open Sans"/>
                <a:sym typeface="Open Sans"/>
              </a:rPr>
              <a:t>will remember.</a:t>
            </a:r>
            <a:endParaRPr sz="2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CFA"/>
        </a:solidFill>
      </p:bgPr>
    </p:bg>
    <p:spTree>
      <p:nvGrpSpPr>
        <p:cNvPr id="173" name="Shape 173"/>
        <p:cNvGrpSpPr/>
        <p:nvPr/>
      </p:nvGrpSpPr>
      <p:grpSpPr>
        <a:xfrm>
          <a:off x="0" y="0"/>
          <a:ext cx="0" cy="0"/>
          <a:chOff x="0" y="0"/>
          <a:chExt cx="0" cy="0"/>
        </a:xfrm>
      </p:grpSpPr>
      <p:sp>
        <p:nvSpPr>
          <p:cNvPr id="174" name="Google Shape;174;p6"/>
          <p:cNvSpPr/>
          <p:nvPr/>
        </p:nvSpPr>
        <p:spPr>
          <a:xfrm>
            <a:off x="126096" y="-53652"/>
            <a:ext cx="6172200" cy="771600"/>
          </a:xfrm>
          <a:prstGeom prst="rect">
            <a:avLst/>
          </a:prstGeom>
          <a:noFill/>
          <a:ln>
            <a:noFill/>
          </a:ln>
        </p:spPr>
        <p:txBody>
          <a:bodyPr anchorCtr="0" anchor="t" bIns="0" lIns="0" spcFirstLastPara="1" rIns="0" wrap="square" tIns="0">
            <a:noAutofit/>
          </a:bodyPr>
          <a:lstStyle/>
          <a:p>
            <a:pPr indent="0" lvl="0" marL="0" marR="0" rtl="0" algn="l">
              <a:lnSpc>
                <a:spcPct val="84027"/>
              </a:lnSpc>
              <a:spcBef>
                <a:spcPts val="0"/>
              </a:spcBef>
              <a:spcAft>
                <a:spcPts val="0"/>
              </a:spcAft>
              <a:buClr>
                <a:srgbClr val="443728"/>
              </a:buClr>
              <a:buSzPts val="7200"/>
              <a:buFont typeface="Crimson Pro"/>
              <a:buNone/>
            </a:pPr>
            <a:r>
              <a:rPr b="1" lang="en-US" sz="7200">
                <a:solidFill>
                  <a:srgbClr val="443728"/>
                </a:solidFill>
                <a:latin typeface="Crimson Pro"/>
                <a:ea typeface="Crimson Pro"/>
                <a:cs typeface="Crimson Pro"/>
                <a:sym typeface="Crimson Pro"/>
              </a:rPr>
              <a:t>Concluding Paragraph</a:t>
            </a:r>
            <a:endParaRPr sz="7200">
              <a:solidFill>
                <a:schemeClr val="dk1"/>
              </a:solidFill>
              <a:latin typeface="Calibri"/>
              <a:ea typeface="Calibri"/>
              <a:cs typeface="Calibri"/>
              <a:sym typeface="Calibri"/>
            </a:endParaRPr>
          </a:p>
        </p:txBody>
      </p:sp>
      <p:sp>
        <p:nvSpPr>
          <p:cNvPr id="175" name="Google Shape;175;p6"/>
          <p:cNvSpPr/>
          <p:nvPr/>
        </p:nvSpPr>
        <p:spPr>
          <a:xfrm>
            <a:off x="126058" y="1923045"/>
            <a:ext cx="12902400" cy="395100"/>
          </a:xfrm>
          <a:prstGeom prst="rect">
            <a:avLst/>
          </a:prstGeom>
          <a:noFill/>
          <a:ln>
            <a:noFill/>
          </a:ln>
        </p:spPr>
        <p:txBody>
          <a:bodyPr anchorCtr="0" anchor="t" bIns="0" lIns="0" spcFirstLastPara="1" rIns="0" wrap="square" tIns="0">
            <a:noAutofit/>
          </a:bodyPr>
          <a:lstStyle/>
          <a:p>
            <a:pPr indent="0" lvl="0" marL="0" marR="0" rtl="0" algn="l">
              <a:lnSpc>
                <a:spcPct val="96875"/>
              </a:lnSpc>
              <a:spcBef>
                <a:spcPts val="0"/>
              </a:spcBef>
              <a:spcAft>
                <a:spcPts val="0"/>
              </a:spcAft>
              <a:buClr>
                <a:srgbClr val="443728"/>
              </a:buClr>
              <a:buSzPts val="3200"/>
              <a:buFont typeface="Open Sans"/>
              <a:buNone/>
            </a:pPr>
            <a:r>
              <a:rPr b="1" lang="en-US" sz="3200">
                <a:solidFill>
                  <a:srgbClr val="443728"/>
                </a:solidFill>
                <a:latin typeface="Open Sans"/>
                <a:ea typeface="Open Sans"/>
                <a:cs typeface="Open Sans"/>
                <a:sym typeface="Open Sans"/>
              </a:rPr>
              <a:t>Techniques that you can use to write a memorable conclusion:</a:t>
            </a:r>
            <a:endParaRPr sz="3200">
              <a:solidFill>
                <a:schemeClr val="dk1"/>
              </a:solidFill>
              <a:latin typeface="Calibri"/>
              <a:ea typeface="Calibri"/>
              <a:cs typeface="Calibri"/>
              <a:sym typeface="Calibri"/>
            </a:endParaRPr>
          </a:p>
        </p:txBody>
      </p:sp>
      <p:sp>
        <p:nvSpPr>
          <p:cNvPr id="176" name="Google Shape;176;p6"/>
          <p:cNvSpPr/>
          <p:nvPr/>
        </p:nvSpPr>
        <p:spPr>
          <a:xfrm>
            <a:off x="591321" y="2748042"/>
            <a:ext cx="12902400" cy="395100"/>
          </a:xfrm>
          <a:prstGeom prst="rect">
            <a:avLst/>
          </a:prstGeom>
          <a:noFill/>
          <a:ln>
            <a:noFill/>
          </a:ln>
        </p:spPr>
        <p:txBody>
          <a:bodyPr anchorCtr="0" anchor="t" bIns="0" lIns="0" spcFirstLastPara="1" rIns="0" wrap="square" tIns="0">
            <a:noAutofit/>
          </a:bodyPr>
          <a:lstStyle/>
          <a:p>
            <a:pPr indent="0" lvl="0" marL="0" marR="0" rtl="0" algn="l">
              <a:lnSpc>
                <a:spcPct val="96875"/>
              </a:lnSpc>
              <a:spcBef>
                <a:spcPts val="0"/>
              </a:spcBef>
              <a:spcAft>
                <a:spcPts val="0"/>
              </a:spcAft>
              <a:buClr>
                <a:srgbClr val="443728"/>
              </a:buClr>
              <a:buSzPts val="3200"/>
              <a:buFont typeface="Open Sans"/>
              <a:buNone/>
            </a:pPr>
            <a:r>
              <a:rPr b="1" lang="en-US" sz="3200">
                <a:solidFill>
                  <a:srgbClr val="443728"/>
                </a:solidFill>
                <a:latin typeface="Open Sans"/>
                <a:ea typeface="Open Sans"/>
                <a:cs typeface="Open Sans"/>
                <a:sym typeface="Open Sans"/>
              </a:rPr>
              <a:t>1. Making a prediction</a:t>
            </a:r>
            <a:endParaRPr sz="3200">
              <a:solidFill>
                <a:schemeClr val="dk1"/>
              </a:solidFill>
              <a:latin typeface="Calibri"/>
              <a:ea typeface="Calibri"/>
              <a:cs typeface="Calibri"/>
              <a:sym typeface="Calibri"/>
            </a:endParaRPr>
          </a:p>
        </p:txBody>
      </p:sp>
      <p:sp>
        <p:nvSpPr>
          <p:cNvPr id="177" name="Google Shape;177;p6"/>
          <p:cNvSpPr/>
          <p:nvPr/>
        </p:nvSpPr>
        <p:spPr>
          <a:xfrm>
            <a:off x="591321" y="3809275"/>
            <a:ext cx="12902327" cy="395049"/>
          </a:xfrm>
          <a:prstGeom prst="rect">
            <a:avLst/>
          </a:prstGeom>
          <a:noFill/>
          <a:ln>
            <a:noFill/>
          </a:ln>
        </p:spPr>
        <p:txBody>
          <a:bodyPr anchorCtr="0" anchor="t" bIns="0" lIns="0" spcFirstLastPara="1" rIns="0" wrap="square" tIns="0">
            <a:noAutofit/>
          </a:bodyPr>
          <a:lstStyle/>
          <a:p>
            <a:pPr indent="0" lvl="0" marL="0" marR="0" rtl="0" algn="l">
              <a:lnSpc>
                <a:spcPct val="96875"/>
              </a:lnSpc>
              <a:spcBef>
                <a:spcPts val="0"/>
              </a:spcBef>
              <a:spcAft>
                <a:spcPts val="0"/>
              </a:spcAft>
              <a:buClr>
                <a:srgbClr val="443728"/>
              </a:buClr>
              <a:buSzPts val="3200"/>
              <a:buFont typeface="Open Sans"/>
              <a:buNone/>
            </a:pPr>
            <a:r>
              <a:rPr b="1" lang="en-US" sz="3200">
                <a:solidFill>
                  <a:srgbClr val="443728"/>
                </a:solidFill>
                <a:latin typeface="Open Sans"/>
                <a:ea typeface="Open Sans"/>
                <a:cs typeface="Open Sans"/>
                <a:sym typeface="Open Sans"/>
              </a:rPr>
              <a:t>2. Suggesting results or consequences</a:t>
            </a:r>
            <a:endParaRPr sz="3200">
              <a:solidFill>
                <a:schemeClr val="dk1"/>
              </a:solidFill>
              <a:latin typeface="Calibri"/>
              <a:ea typeface="Calibri"/>
              <a:cs typeface="Calibri"/>
              <a:sym typeface="Calibri"/>
            </a:endParaRPr>
          </a:p>
        </p:txBody>
      </p:sp>
      <p:sp>
        <p:nvSpPr>
          <p:cNvPr id="178" name="Google Shape;178;p6"/>
          <p:cNvSpPr/>
          <p:nvPr/>
        </p:nvSpPr>
        <p:spPr>
          <a:xfrm>
            <a:off x="581047" y="4810671"/>
            <a:ext cx="12902327" cy="395049"/>
          </a:xfrm>
          <a:prstGeom prst="rect">
            <a:avLst/>
          </a:prstGeom>
          <a:noFill/>
          <a:ln>
            <a:noFill/>
          </a:ln>
        </p:spPr>
        <p:txBody>
          <a:bodyPr anchorCtr="0" anchor="t" bIns="0" lIns="0" spcFirstLastPara="1" rIns="0" wrap="square" tIns="0">
            <a:noAutofit/>
          </a:bodyPr>
          <a:lstStyle/>
          <a:p>
            <a:pPr indent="0" lvl="0" marL="0" marR="0" rtl="0" algn="l">
              <a:lnSpc>
                <a:spcPct val="96875"/>
              </a:lnSpc>
              <a:spcBef>
                <a:spcPts val="0"/>
              </a:spcBef>
              <a:spcAft>
                <a:spcPts val="0"/>
              </a:spcAft>
              <a:buClr>
                <a:srgbClr val="443728"/>
              </a:buClr>
              <a:buSzPts val="3200"/>
              <a:buFont typeface="Open Sans"/>
              <a:buNone/>
            </a:pPr>
            <a:r>
              <a:rPr b="1" lang="en-US" sz="3200">
                <a:solidFill>
                  <a:srgbClr val="443728"/>
                </a:solidFill>
                <a:latin typeface="Open Sans"/>
                <a:ea typeface="Open Sans"/>
                <a:cs typeface="Open Sans"/>
                <a:sym typeface="Open Sans"/>
              </a:rPr>
              <a:t>3. Suggesting a solution, making a recommendation, or a call for </a:t>
            </a:r>
            <a:endParaRPr/>
          </a:p>
          <a:p>
            <a:pPr indent="0" lvl="0" marL="0" marR="0" rtl="0" algn="l">
              <a:lnSpc>
                <a:spcPct val="96875"/>
              </a:lnSpc>
              <a:spcBef>
                <a:spcPts val="0"/>
              </a:spcBef>
              <a:spcAft>
                <a:spcPts val="0"/>
              </a:spcAft>
              <a:buClr>
                <a:srgbClr val="443728"/>
              </a:buClr>
              <a:buSzPts val="3200"/>
              <a:buFont typeface="Open Sans"/>
              <a:buNone/>
            </a:pPr>
            <a:r>
              <a:rPr b="1" lang="en-US" sz="3200">
                <a:solidFill>
                  <a:srgbClr val="443728"/>
                </a:solidFill>
                <a:latin typeface="Open Sans"/>
                <a:ea typeface="Open Sans"/>
                <a:cs typeface="Open Sans"/>
                <a:sym typeface="Open Sans"/>
              </a:rPr>
              <a:t>action</a:t>
            </a:r>
            <a:endParaRPr sz="3200">
              <a:solidFill>
                <a:schemeClr val="dk1"/>
              </a:solidFill>
              <a:latin typeface="Calibri"/>
              <a:ea typeface="Calibri"/>
              <a:cs typeface="Calibri"/>
              <a:sym typeface="Calibri"/>
            </a:endParaRPr>
          </a:p>
        </p:txBody>
      </p:sp>
      <p:sp>
        <p:nvSpPr>
          <p:cNvPr id="179" name="Google Shape;179;p6"/>
          <p:cNvSpPr/>
          <p:nvPr/>
        </p:nvSpPr>
        <p:spPr>
          <a:xfrm>
            <a:off x="684871" y="6354555"/>
            <a:ext cx="12902400" cy="395100"/>
          </a:xfrm>
          <a:prstGeom prst="rect">
            <a:avLst/>
          </a:prstGeom>
          <a:noFill/>
          <a:ln>
            <a:noFill/>
          </a:ln>
        </p:spPr>
        <p:txBody>
          <a:bodyPr anchorCtr="0" anchor="t" bIns="0" lIns="0" spcFirstLastPara="1" rIns="0" wrap="square" tIns="0">
            <a:noAutofit/>
          </a:bodyPr>
          <a:lstStyle/>
          <a:p>
            <a:pPr indent="0" lvl="0" marL="0" marR="0" rtl="0" algn="l">
              <a:lnSpc>
                <a:spcPct val="96875"/>
              </a:lnSpc>
              <a:spcBef>
                <a:spcPts val="0"/>
              </a:spcBef>
              <a:spcAft>
                <a:spcPts val="0"/>
              </a:spcAft>
              <a:buClr>
                <a:srgbClr val="443728"/>
              </a:buClr>
              <a:buSzPts val="3200"/>
              <a:buFont typeface="Open Sans"/>
              <a:buNone/>
            </a:pPr>
            <a:r>
              <a:rPr b="1" lang="en-US" sz="3200">
                <a:solidFill>
                  <a:srgbClr val="443728"/>
                </a:solidFill>
                <a:latin typeface="Open Sans"/>
                <a:ea typeface="Open Sans"/>
                <a:cs typeface="Open Sans"/>
                <a:sym typeface="Open Sans"/>
              </a:rPr>
              <a:t>4. Quoting an authority on the topic</a:t>
            </a:r>
            <a:endParaRPr sz="3200">
              <a:solidFill>
                <a:schemeClr val="dk1"/>
              </a:solidFill>
              <a:latin typeface="Calibri"/>
              <a:ea typeface="Calibri"/>
              <a:cs typeface="Calibri"/>
              <a:sym typeface="Calibri"/>
            </a:endParaRPr>
          </a:p>
        </p:txBody>
      </p:sp>
      <p:sp>
        <p:nvSpPr>
          <p:cNvPr id="180" name="Google Shape;180;p6"/>
          <p:cNvSpPr/>
          <p:nvPr/>
        </p:nvSpPr>
        <p:spPr>
          <a:xfrm>
            <a:off x="126100" y="7214769"/>
            <a:ext cx="12902327" cy="395049"/>
          </a:xfrm>
          <a:prstGeom prst="rect">
            <a:avLst/>
          </a:prstGeom>
          <a:noFill/>
          <a:ln>
            <a:noFill/>
          </a:ln>
        </p:spPr>
        <p:txBody>
          <a:bodyPr anchorCtr="0" anchor="t" bIns="0" lIns="0" spcFirstLastPara="1" rIns="0" wrap="square" tIns="0">
            <a:noAutofit/>
          </a:bodyPr>
          <a:lstStyle/>
          <a:p>
            <a:pPr indent="0" lvl="0" marL="0" marR="0" rtl="0" algn="l">
              <a:lnSpc>
                <a:spcPct val="103333"/>
              </a:lnSpc>
              <a:spcBef>
                <a:spcPts val="0"/>
              </a:spcBef>
              <a:spcAft>
                <a:spcPts val="0"/>
              </a:spcAft>
              <a:buClr>
                <a:srgbClr val="F44444"/>
              </a:buClr>
              <a:buSzPts val="3000"/>
              <a:buFont typeface="Open Sans"/>
              <a:buNone/>
            </a:pPr>
            <a:r>
              <a:rPr b="1" lang="en-US" sz="3000">
                <a:solidFill>
                  <a:srgbClr val="F44444"/>
                </a:solidFill>
                <a:latin typeface="Open Sans"/>
                <a:ea typeface="Open Sans"/>
                <a:cs typeface="Open Sans"/>
                <a:sym typeface="Open Sans"/>
              </a:rPr>
              <a:t>Note:</a:t>
            </a:r>
            <a:r>
              <a:rPr lang="en-US" sz="3000">
                <a:solidFill>
                  <a:srgbClr val="443728"/>
                </a:solidFill>
                <a:latin typeface="Open Sans"/>
                <a:ea typeface="Open Sans"/>
                <a:cs typeface="Open Sans"/>
                <a:sym typeface="Open Sans"/>
              </a:rPr>
              <a:t> You can use more than one method within the same concluding paragraph.</a:t>
            </a:r>
            <a:endParaRPr sz="30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CFA"/>
        </a:solidFill>
      </p:bgPr>
    </p:bg>
    <p:spTree>
      <p:nvGrpSpPr>
        <p:cNvPr id="185" name="Shape 185"/>
        <p:cNvGrpSpPr/>
        <p:nvPr/>
      </p:nvGrpSpPr>
      <p:grpSpPr>
        <a:xfrm>
          <a:off x="0" y="0"/>
          <a:ext cx="0" cy="0"/>
          <a:chOff x="0" y="0"/>
          <a:chExt cx="0" cy="0"/>
        </a:xfrm>
      </p:grpSpPr>
      <p:sp>
        <p:nvSpPr>
          <p:cNvPr id="186" name="Google Shape;186;p7"/>
          <p:cNvSpPr/>
          <p:nvPr/>
        </p:nvSpPr>
        <p:spPr>
          <a:xfrm>
            <a:off x="460760" y="216680"/>
            <a:ext cx="6172200" cy="771600"/>
          </a:xfrm>
          <a:prstGeom prst="rect">
            <a:avLst/>
          </a:prstGeom>
          <a:noFill/>
          <a:ln>
            <a:noFill/>
          </a:ln>
        </p:spPr>
        <p:txBody>
          <a:bodyPr anchorCtr="0" anchor="t" bIns="0" lIns="0" spcFirstLastPara="1" rIns="0" wrap="square" tIns="0">
            <a:noAutofit/>
          </a:bodyPr>
          <a:lstStyle/>
          <a:p>
            <a:pPr indent="0" lvl="0" marL="0" marR="0" rtl="0" algn="l">
              <a:lnSpc>
                <a:spcPct val="91666"/>
              </a:lnSpc>
              <a:spcBef>
                <a:spcPts val="0"/>
              </a:spcBef>
              <a:spcAft>
                <a:spcPts val="0"/>
              </a:spcAft>
              <a:buClr>
                <a:srgbClr val="443728"/>
              </a:buClr>
              <a:buSzPts val="6600"/>
              <a:buFont typeface="Crimson Pro"/>
              <a:buNone/>
            </a:pPr>
            <a:r>
              <a:rPr b="1" lang="en-US" sz="6600">
                <a:solidFill>
                  <a:srgbClr val="443728"/>
                </a:solidFill>
                <a:latin typeface="Crimson Pro"/>
                <a:ea typeface="Crimson Pro"/>
                <a:cs typeface="Crimson Pro"/>
                <a:sym typeface="Crimson Pro"/>
              </a:rPr>
              <a:t>1. Making a prediction</a:t>
            </a:r>
            <a:endParaRPr sz="6600">
              <a:solidFill>
                <a:schemeClr val="dk1"/>
              </a:solidFill>
              <a:latin typeface="Calibri"/>
              <a:ea typeface="Calibri"/>
              <a:cs typeface="Calibri"/>
              <a:sym typeface="Calibri"/>
            </a:endParaRPr>
          </a:p>
        </p:txBody>
      </p:sp>
      <p:sp>
        <p:nvSpPr>
          <p:cNvPr id="187" name="Google Shape;187;p7"/>
          <p:cNvSpPr/>
          <p:nvPr/>
        </p:nvSpPr>
        <p:spPr>
          <a:xfrm>
            <a:off x="511135" y="1984808"/>
            <a:ext cx="13541700" cy="1403400"/>
          </a:xfrm>
          <a:prstGeom prst="rect">
            <a:avLst/>
          </a:prstGeom>
          <a:noFill/>
          <a:ln>
            <a:noFill/>
          </a:ln>
        </p:spPr>
        <p:txBody>
          <a:bodyPr anchorCtr="0" anchor="t" bIns="0" lIns="0" spcFirstLastPara="1" rIns="0" wrap="square" tIns="0">
            <a:noAutofit/>
          </a:bodyPr>
          <a:lstStyle/>
          <a:p>
            <a:pPr indent="0" lvl="0" marL="0" marR="0" rtl="0" algn="just">
              <a:lnSpc>
                <a:spcPct val="110714"/>
              </a:lnSpc>
              <a:spcBef>
                <a:spcPts val="0"/>
              </a:spcBef>
              <a:spcAft>
                <a:spcPts val="0"/>
              </a:spcAft>
              <a:buClr>
                <a:srgbClr val="443728"/>
              </a:buClr>
              <a:buSzPts val="2800"/>
              <a:buFont typeface="Open Sans"/>
              <a:buNone/>
            </a:pPr>
            <a:r>
              <a:rPr lang="en-US" sz="2800">
                <a:solidFill>
                  <a:srgbClr val="443728"/>
                </a:solidFill>
                <a:latin typeface="Open Sans"/>
                <a:ea typeface="Open Sans"/>
                <a:cs typeface="Open Sans"/>
                <a:sym typeface="Open Sans"/>
              </a:rPr>
              <a:t>A conclusion that ends with a </a:t>
            </a:r>
            <a:r>
              <a:rPr b="1" lang="en-US" sz="2800" u="sng">
                <a:solidFill>
                  <a:srgbClr val="F44444"/>
                </a:solidFill>
                <a:latin typeface="Open Sans"/>
                <a:ea typeface="Open Sans"/>
                <a:cs typeface="Open Sans"/>
                <a:sym typeface="Open Sans"/>
              </a:rPr>
              <a:t>prediction</a:t>
            </a:r>
            <a:r>
              <a:rPr lang="en-US" sz="2800">
                <a:solidFill>
                  <a:srgbClr val="443728"/>
                </a:solidFill>
                <a:latin typeface="Open Sans"/>
                <a:ea typeface="Open Sans"/>
                <a:cs typeface="Open Sans"/>
                <a:sym typeface="Open Sans"/>
              </a:rPr>
              <a:t> wrapping up the main points of the writing and then looks forward to what might happen in the future based on the information discussed.</a:t>
            </a:r>
            <a:endParaRPr sz="2800">
              <a:solidFill>
                <a:schemeClr val="dk1"/>
              </a:solidFill>
              <a:latin typeface="Calibri"/>
              <a:ea typeface="Calibri"/>
              <a:cs typeface="Calibri"/>
              <a:sym typeface="Calibri"/>
            </a:endParaRPr>
          </a:p>
        </p:txBody>
      </p:sp>
      <p:sp>
        <p:nvSpPr>
          <p:cNvPr id="188" name="Google Shape;188;p7"/>
          <p:cNvSpPr/>
          <p:nvPr/>
        </p:nvSpPr>
        <p:spPr>
          <a:xfrm>
            <a:off x="511110" y="3271273"/>
            <a:ext cx="12902400" cy="493800"/>
          </a:xfrm>
          <a:prstGeom prst="rect">
            <a:avLst/>
          </a:prstGeom>
          <a:noFill/>
          <a:ln>
            <a:noFill/>
          </a:ln>
        </p:spPr>
        <p:txBody>
          <a:bodyPr anchorCtr="0" anchor="t" bIns="0" lIns="0" spcFirstLastPara="1" rIns="0" wrap="square" tIns="0">
            <a:noAutofit/>
          </a:bodyPr>
          <a:lstStyle/>
          <a:p>
            <a:pPr indent="0" lvl="0" marL="0" marR="0" rtl="0" algn="l">
              <a:lnSpc>
                <a:spcPct val="106944"/>
              </a:lnSpc>
              <a:spcBef>
                <a:spcPts val="0"/>
              </a:spcBef>
              <a:spcAft>
                <a:spcPts val="0"/>
              </a:spcAft>
              <a:buClr>
                <a:srgbClr val="443728"/>
              </a:buClr>
              <a:buSzPts val="3600"/>
              <a:buFont typeface="Open Sans"/>
              <a:buNone/>
            </a:pPr>
            <a:r>
              <a:rPr b="1" lang="en-US" sz="3600">
                <a:solidFill>
                  <a:srgbClr val="443728"/>
                </a:solidFill>
                <a:latin typeface="Open Sans"/>
                <a:ea typeface="Open Sans"/>
                <a:cs typeface="Open Sans"/>
                <a:sym typeface="Open Sans"/>
              </a:rPr>
              <a:t>Example</a:t>
            </a:r>
            <a:endParaRPr sz="3600">
              <a:solidFill>
                <a:schemeClr val="dk1"/>
              </a:solidFill>
              <a:latin typeface="Calibri"/>
              <a:ea typeface="Calibri"/>
              <a:cs typeface="Calibri"/>
              <a:sym typeface="Calibri"/>
            </a:endParaRPr>
          </a:p>
        </p:txBody>
      </p:sp>
      <p:sp>
        <p:nvSpPr>
          <p:cNvPr id="189" name="Google Shape;189;p7"/>
          <p:cNvSpPr/>
          <p:nvPr/>
        </p:nvSpPr>
        <p:spPr>
          <a:xfrm>
            <a:off x="511110" y="3904279"/>
            <a:ext cx="13541774" cy="1580198"/>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0"/>
              </a:spcBef>
              <a:spcAft>
                <a:spcPts val="0"/>
              </a:spcAft>
              <a:buClr>
                <a:srgbClr val="443728"/>
              </a:buClr>
              <a:buSzPts val="2800"/>
              <a:buFont typeface="Open Sans"/>
              <a:buNone/>
            </a:pPr>
            <a:r>
              <a:rPr lang="en-US" sz="2800">
                <a:solidFill>
                  <a:srgbClr val="443728"/>
                </a:solidFill>
                <a:latin typeface="Open Sans"/>
                <a:ea typeface="Open Sans"/>
                <a:cs typeface="Open Sans"/>
                <a:sym typeface="Open Sans"/>
              </a:rPr>
              <a:t>In conclusion, it is obvious that technology has changed how we communicate, learn, and have fun in big ways. From the internet to smart devices, these changes have brought us closer and created new opportunities. </a:t>
            </a:r>
            <a:r>
              <a:rPr lang="en-US" sz="2800" u="sng">
                <a:solidFill>
                  <a:srgbClr val="FF0000"/>
                </a:solidFill>
                <a:latin typeface="Open Sans"/>
                <a:ea typeface="Open Sans"/>
                <a:cs typeface="Open Sans"/>
                <a:sym typeface="Open Sans"/>
              </a:rPr>
              <a:t>As we look to the future, it seems likely that technology will keep advancing quickly, possibly bringing even more surprising changes. The future of technology promises to be both exciting and full of surprises</a:t>
            </a:r>
            <a:r>
              <a:rPr lang="en-US" sz="2800">
                <a:solidFill>
                  <a:srgbClr val="443728"/>
                </a:solidFill>
                <a:latin typeface="Open Sans"/>
                <a:ea typeface="Open Sans"/>
                <a:cs typeface="Open Sans"/>
                <a:sym typeface="Open Sans"/>
              </a:rPr>
              <a:t>.</a:t>
            </a:r>
            <a:endParaRPr sz="2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CFA"/>
        </a:solidFill>
      </p:bgPr>
    </p:bg>
    <p:spTree>
      <p:nvGrpSpPr>
        <p:cNvPr id="194" name="Shape 194"/>
        <p:cNvGrpSpPr/>
        <p:nvPr/>
      </p:nvGrpSpPr>
      <p:grpSpPr>
        <a:xfrm>
          <a:off x="0" y="0"/>
          <a:ext cx="0" cy="0"/>
          <a:chOff x="0" y="0"/>
          <a:chExt cx="0" cy="0"/>
        </a:xfrm>
      </p:grpSpPr>
      <p:sp>
        <p:nvSpPr>
          <p:cNvPr id="195" name="Google Shape;195;p8"/>
          <p:cNvSpPr/>
          <p:nvPr/>
        </p:nvSpPr>
        <p:spPr>
          <a:xfrm>
            <a:off x="-9" y="-309277"/>
            <a:ext cx="9803100" cy="771600"/>
          </a:xfrm>
          <a:prstGeom prst="rect">
            <a:avLst/>
          </a:prstGeom>
          <a:noFill/>
          <a:ln>
            <a:noFill/>
          </a:ln>
        </p:spPr>
        <p:txBody>
          <a:bodyPr anchorCtr="0" anchor="t" bIns="0" lIns="0" spcFirstLastPara="1" rIns="0" wrap="square" tIns="0">
            <a:noAutofit/>
          </a:bodyPr>
          <a:lstStyle/>
          <a:p>
            <a:pPr indent="0" lvl="0" marL="0" marR="0" rtl="0" algn="l">
              <a:lnSpc>
                <a:spcPct val="100833"/>
              </a:lnSpc>
              <a:spcBef>
                <a:spcPts val="0"/>
              </a:spcBef>
              <a:spcAft>
                <a:spcPts val="0"/>
              </a:spcAft>
              <a:buClr>
                <a:srgbClr val="443728"/>
              </a:buClr>
              <a:buSzPts val="6000"/>
              <a:buFont typeface="Crimson Pro"/>
              <a:buNone/>
            </a:pPr>
            <a:r>
              <a:rPr b="1" lang="en-US" sz="6000">
                <a:solidFill>
                  <a:srgbClr val="443728"/>
                </a:solidFill>
                <a:latin typeface="Crimson Pro"/>
                <a:ea typeface="Crimson Pro"/>
                <a:cs typeface="Crimson Pro"/>
                <a:sym typeface="Crimson Pro"/>
              </a:rPr>
              <a:t>2. Suggesting results or consequences</a:t>
            </a:r>
            <a:endParaRPr sz="6000">
              <a:solidFill>
                <a:schemeClr val="dk1"/>
              </a:solidFill>
              <a:latin typeface="Calibri"/>
              <a:ea typeface="Calibri"/>
              <a:cs typeface="Calibri"/>
              <a:sym typeface="Calibri"/>
            </a:endParaRPr>
          </a:p>
        </p:txBody>
      </p:sp>
      <p:sp>
        <p:nvSpPr>
          <p:cNvPr id="196" name="Google Shape;196;p8"/>
          <p:cNvSpPr/>
          <p:nvPr/>
        </p:nvSpPr>
        <p:spPr>
          <a:xfrm>
            <a:off x="454966" y="1748877"/>
            <a:ext cx="13750200" cy="7902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443728"/>
              </a:buClr>
              <a:buSzPts val="2800"/>
              <a:buFont typeface="Open Sans"/>
              <a:buNone/>
            </a:pPr>
            <a:r>
              <a:rPr lang="en-US" sz="2800">
                <a:solidFill>
                  <a:srgbClr val="443728"/>
                </a:solidFill>
                <a:latin typeface="Open Sans"/>
                <a:ea typeface="Open Sans"/>
                <a:cs typeface="Open Sans"/>
                <a:sym typeface="Open Sans"/>
              </a:rPr>
              <a:t>A conclusion that sums up the main ideas and then explains what will likely happen because of them. It shows </a:t>
            </a:r>
            <a:r>
              <a:rPr b="1" lang="en-US" sz="2800" u="sng">
                <a:solidFill>
                  <a:srgbClr val="F44444"/>
                </a:solidFill>
                <a:latin typeface="Open Sans"/>
                <a:ea typeface="Open Sans"/>
                <a:cs typeface="Open Sans"/>
                <a:sym typeface="Open Sans"/>
              </a:rPr>
              <a:t>the effects</a:t>
            </a:r>
            <a:r>
              <a:rPr lang="en-US" sz="2800">
                <a:solidFill>
                  <a:srgbClr val="4D4D4D"/>
                </a:solidFill>
                <a:latin typeface="Open Sans"/>
                <a:ea typeface="Open Sans"/>
                <a:cs typeface="Open Sans"/>
                <a:sym typeface="Open Sans"/>
              </a:rPr>
              <a:t> or </a:t>
            </a:r>
            <a:r>
              <a:rPr b="1" lang="en-US" sz="2800" u="sng">
                <a:solidFill>
                  <a:srgbClr val="F44444"/>
                </a:solidFill>
                <a:latin typeface="Open Sans"/>
                <a:ea typeface="Open Sans"/>
                <a:cs typeface="Open Sans"/>
                <a:sym typeface="Open Sans"/>
              </a:rPr>
              <a:t>outcomes</a:t>
            </a:r>
            <a:r>
              <a:rPr lang="en-US" sz="2800">
                <a:solidFill>
                  <a:srgbClr val="443728"/>
                </a:solidFill>
                <a:latin typeface="Open Sans"/>
                <a:ea typeface="Open Sans"/>
                <a:cs typeface="Open Sans"/>
                <a:sym typeface="Open Sans"/>
              </a:rPr>
              <a:t> of the topic discussed.</a:t>
            </a:r>
            <a:endParaRPr sz="2800">
              <a:solidFill>
                <a:schemeClr val="dk1"/>
              </a:solidFill>
              <a:latin typeface="Calibri"/>
              <a:ea typeface="Calibri"/>
              <a:cs typeface="Calibri"/>
              <a:sym typeface="Calibri"/>
            </a:endParaRPr>
          </a:p>
        </p:txBody>
      </p:sp>
      <p:sp>
        <p:nvSpPr>
          <p:cNvPr id="197" name="Google Shape;197;p8"/>
          <p:cNvSpPr/>
          <p:nvPr/>
        </p:nvSpPr>
        <p:spPr>
          <a:xfrm>
            <a:off x="398815" y="2538986"/>
            <a:ext cx="12902327" cy="493752"/>
          </a:xfrm>
          <a:prstGeom prst="rect">
            <a:avLst/>
          </a:prstGeom>
          <a:noFill/>
          <a:ln>
            <a:noFill/>
          </a:ln>
        </p:spPr>
        <p:txBody>
          <a:bodyPr anchorCtr="0" anchor="t" bIns="0" lIns="0" spcFirstLastPara="1" rIns="0" wrap="square" tIns="0">
            <a:noAutofit/>
          </a:bodyPr>
          <a:lstStyle/>
          <a:p>
            <a:pPr indent="0" lvl="0" marL="0" marR="0" rtl="0" algn="l">
              <a:lnSpc>
                <a:spcPct val="106944"/>
              </a:lnSpc>
              <a:spcBef>
                <a:spcPts val="0"/>
              </a:spcBef>
              <a:spcAft>
                <a:spcPts val="0"/>
              </a:spcAft>
              <a:buClr>
                <a:srgbClr val="443728"/>
              </a:buClr>
              <a:buSzPts val="3600"/>
              <a:buFont typeface="Open Sans"/>
              <a:buNone/>
            </a:pPr>
            <a:r>
              <a:rPr b="1" lang="en-US" sz="3600">
                <a:solidFill>
                  <a:srgbClr val="443728"/>
                </a:solidFill>
                <a:latin typeface="Open Sans"/>
                <a:ea typeface="Open Sans"/>
                <a:cs typeface="Open Sans"/>
                <a:sym typeface="Open Sans"/>
              </a:rPr>
              <a:t>Example</a:t>
            </a:r>
            <a:endParaRPr sz="3600">
              <a:solidFill>
                <a:schemeClr val="dk1"/>
              </a:solidFill>
              <a:latin typeface="Calibri"/>
              <a:ea typeface="Calibri"/>
              <a:cs typeface="Calibri"/>
              <a:sym typeface="Calibri"/>
            </a:endParaRPr>
          </a:p>
        </p:txBody>
      </p:sp>
      <p:sp>
        <p:nvSpPr>
          <p:cNvPr id="198" name="Google Shape;198;p8"/>
          <p:cNvSpPr/>
          <p:nvPr/>
        </p:nvSpPr>
        <p:spPr>
          <a:xfrm>
            <a:off x="398814" y="3011407"/>
            <a:ext cx="13862618" cy="2370296"/>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0"/>
              </a:spcBef>
              <a:spcAft>
                <a:spcPts val="0"/>
              </a:spcAft>
              <a:buClr>
                <a:srgbClr val="443728"/>
              </a:buClr>
              <a:buSzPts val="2800"/>
              <a:buFont typeface="Open Sans"/>
              <a:buNone/>
            </a:pPr>
            <a:r>
              <a:rPr lang="en-US" sz="2800">
                <a:solidFill>
                  <a:srgbClr val="443728"/>
                </a:solidFill>
                <a:latin typeface="Open Sans"/>
                <a:ea typeface="Open Sans"/>
                <a:cs typeface="Open Sans"/>
                <a:sym typeface="Open Sans"/>
              </a:rPr>
              <a:t>In summary, the advancements we've seen in renewable energy technologies have significantly reduced our reliance on fossil fuels and lowered greenhouse gas emissions. These changes are helping to combat climate change and protect our environment. As we continue to invest in and develop these technologies, we can expect even greater improvements in energy efficiency and sustainability. </a:t>
            </a:r>
            <a:r>
              <a:rPr lang="en-US" sz="2800" u="sng">
                <a:solidFill>
                  <a:srgbClr val="FF0000"/>
                </a:solidFill>
                <a:latin typeface="Open Sans"/>
                <a:ea typeface="Open Sans"/>
                <a:cs typeface="Open Sans"/>
                <a:sym typeface="Open Sans"/>
              </a:rPr>
              <a:t>If these trends continue, we may see a future where clean energy is the norm, leading to healthier ecosystems and a more stable climate for generations to come.</a:t>
            </a:r>
            <a:endParaRPr sz="2800" u="sng">
              <a:solidFill>
                <a:srgbClr val="FF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CFA"/>
        </a:solidFill>
      </p:bgPr>
    </p:bg>
    <p:spTree>
      <p:nvGrpSpPr>
        <p:cNvPr id="203" name="Shape 203"/>
        <p:cNvGrpSpPr/>
        <p:nvPr/>
      </p:nvGrpSpPr>
      <p:grpSpPr>
        <a:xfrm>
          <a:off x="0" y="0"/>
          <a:ext cx="0" cy="0"/>
          <a:chOff x="0" y="0"/>
          <a:chExt cx="0" cy="0"/>
        </a:xfrm>
      </p:grpSpPr>
      <p:sp>
        <p:nvSpPr>
          <p:cNvPr id="204" name="Google Shape;204;p9"/>
          <p:cNvSpPr/>
          <p:nvPr/>
        </p:nvSpPr>
        <p:spPr>
          <a:xfrm>
            <a:off x="382774" y="281821"/>
            <a:ext cx="12902327" cy="1543050"/>
          </a:xfrm>
          <a:prstGeom prst="rect">
            <a:avLst/>
          </a:prstGeom>
          <a:noFill/>
          <a:ln>
            <a:noFill/>
          </a:ln>
        </p:spPr>
        <p:txBody>
          <a:bodyPr anchorCtr="0" anchor="t" bIns="0" lIns="0" spcFirstLastPara="1" rIns="0" wrap="square" tIns="0">
            <a:noAutofit/>
          </a:bodyPr>
          <a:lstStyle/>
          <a:p>
            <a:pPr indent="0" lvl="0" marL="0" marR="0" rtl="0" algn="l">
              <a:lnSpc>
                <a:spcPct val="100833"/>
              </a:lnSpc>
              <a:spcBef>
                <a:spcPts val="0"/>
              </a:spcBef>
              <a:spcAft>
                <a:spcPts val="0"/>
              </a:spcAft>
              <a:buClr>
                <a:srgbClr val="443728"/>
              </a:buClr>
              <a:buSzPts val="6000"/>
              <a:buFont typeface="Crimson Pro"/>
              <a:buNone/>
            </a:pPr>
            <a:r>
              <a:rPr b="1" lang="en-US" sz="6000">
                <a:solidFill>
                  <a:srgbClr val="443728"/>
                </a:solidFill>
                <a:latin typeface="Crimson Pro"/>
                <a:ea typeface="Crimson Pro"/>
                <a:cs typeface="Crimson Pro"/>
                <a:sym typeface="Crimson Pro"/>
              </a:rPr>
              <a:t>3. Suggesting a solution, making a recommendation, or a call for action</a:t>
            </a:r>
            <a:endParaRPr sz="6000">
              <a:solidFill>
                <a:schemeClr val="dk1"/>
              </a:solidFill>
              <a:latin typeface="Calibri"/>
              <a:ea typeface="Calibri"/>
              <a:cs typeface="Calibri"/>
              <a:sym typeface="Calibri"/>
            </a:endParaRPr>
          </a:p>
        </p:txBody>
      </p:sp>
      <p:sp>
        <p:nvSpPr>
          <p:cNvPr id="205" name="Google Shape;205;p9"/>
          <p:cNvSpPr/>
          <p:nvPr/>
        </p:nvSpPr>
        <p:spPr>
          <a:xfrm>
            <a:off x="382774" y="1938482"/>
            <a:ext cx="13814489" cy="1185148"/>
          </a:xfrm>
          <a:prstGeom prst="rect">
            <a:avLst/>
          </a:prstGeom>
          <a:noFill/>
          <a:ln>
            <a:noFill/>
          </a:ln>
        </p:spPr>
        <p:txBody>
          <a:bodyPr anchorCtr="0" anchor="t" bIns="0" lIns="0" spcFirstLastPara="1" rIns="0" wrap="square" tIns="0">
            <a:noAutofit/>
          </a:bodyPr>
          <a:lstStyle/>
          <a:p>
            <a:pPr indent="0" lvl="0" marL="0" marR="0" rtl="0" algn="just">
              <a:lnSpc>
                <a:spcPct val="119230"/>
              </a:lnSpc>
              <a:spcBef>
                <a:spcPts val="0"/>
              </a:spcBef>
              <a:spcAft>
                <a:spcPts val="0"/>
              </a:spcAft>
              <a:buClr>
                <a:srgbClr val="443728"/>
              </a:buClr>
              <a:buSzPts val="2600"/>
              <a:buFont typeface="Open Sans"/>
              <a:buNone/>
            </a:pPr>
            <a:r>
              <a:rPr lang="en-US" sz="2600">
                <a:solidFill>
                  <a:srgbClr val="443728"/>
                </a:solidFill>
                <a:latin typeface="Open Sans"/>
                <a:ea typeface="Open Sans"/>
                <a:cs typeface="Open Sans"/>
                <a:sym typeface="Open Sans"/>
              </a:rPr>
              <a:t>It is a conclusion that wraps up what has been previously said and then suggests what should be done next. It provides a </a:t>
            </a:r>
            <a:r>
              <a:rPr b="1" lang="en-US" sz="2600" u="sng">
                <a:solidFill>
                  <a:srgbClr val="443728"/>
                </a:solidFill>
                <a:latin typeface="Open Sans"/>
                <a:ea typeface="Open Sans"/>
                <a:cs typeface="Open Sans"/>
                <a:sym typeface="Open Sans"/>
              </a:rPr>
              <a:t>clear solution to a problem</a:t>
            </a:r>
            <a:r>
              <a:rPr lang="en-US" sz="2600">
                <a:solidFill>
                  <a:srgbClr val="443728"/>
                </a:solidFill>
                <a:latin typeface="Open Sans"/>
                <a:ea typeface="Open Sans"/>
                <a:cs typeface="Open Sans"/>
                <a:sym typeface="Open Sans"/>
              </a:rPr>
              <a:t>, </a:t>
            </a:r>
            <a:r>
              <a:rPr b="1" lang="en-US" sz="2600" u="sng">
                <a:solidFill>
                  <a:srgbClr val="443728"/>
                </a:solidFill>
                <a:latin typeface="Open Sans"/>
                <a:ea typeface="Open Sans"/>
                <a:cs typeface="Open Sans"/>
                <a:sym typeface="Open Sans"/>
              </a:rPr>
              <a:t>offers advice on what actions to take</a:t>
            </a:r>
            <a:r>
              <a:rPr lang="en-US" sz="2600">
                <a:solidFill>
                  <a:srgbClr val="443728"/>
                </a:solidFill>
                <a:latin typeface="Open Sans"/>
                <a:ea typeface="Open Sans"/>
                <a:cs typeface="Open Sans"/>
                <a:sym typeface="Open Sans"/>
              </a:rPr>
              <a:t>, or </a:t>
            </a:r>
            <a:r>
              <a:rPr b="1" lang="en-US" sz="2600" u="sng">
                <a:solidFill>
                  <a:srgbClr val="443728"/>
                </a:solidFill>
                <a:latin typeface="Open Sans"/>
                <a:ea typeface="Open Sans"/>
                <a:cs typeface="Open Sans"/>
                <a:sym typeface="Open Sans"/>
              </a:rPr>
              <a:t>encourages readers to act in a certain way</a:t>
            </a:r>
            <a:r>
              <a:rPr lang="en-US" sz="2600">
                <a:solidFill>
                  <a:srgbClr val="443728"/>
                </a:solidFill>
                <a:latin typeface="Open Sans"/>
                <a:ea typeface="Open Sans"/>
                <a:cs typeface="Open Sans"/>
                <a:sym typeface="Open Sans"/>
              </a:rPr>
              <a:t>.</a:t>
            </a:r>
            <a:endParaRPr sz="2600">
              <a:solidFill>
                <a:schemeClr val="dk1"/>
              </a:solidFill>
              <a:latin typeface="Calibri"/>
              <a:ea typeface="Calibri"/>
              <a:cs typeface="Calibri"/>
              <a:sym typeface="Calibri"/>
            </a:endParaRPr>
          </a:p>
        </p:txBody>
      </p:sp>
      <p:sp>
        <p:nvSpPr>
          <p:cNvPr id="206" name="Google Shape;206;p9"/>
          <p:cNvSpPr/>
          <p:nvPr/>
        </p:nvSpPr>
        <p:spPr>
          <a:xfrm>
            <a:off x="382774" y="3247396"/>
            <a:ext cx="12902327" cy="493752"/>
          </a:xfrm>
          <a:prstGeom prst="rect">
            <a:avLst/>
          </a:prstGeom>
          <a:noFill/>
          <a:ln>
            <a:noFill/>
          </a:ln>
        </p:spPr>
        <p:txBody>
          <a:bodyPr anchorCtr="0" anchor="t" bIns="0" lIns="0" spcFirstLastPara="1" rIns="0" wrap="square" tIns="0">
            <a:noAutofit/>
          </a:bodyPr>
          <a:lstStyle/>
          <a:p>
            <a:pPr indent="0" lvl="0" marL="0" marR="0" rtl="0" algn="l">
              <a:lnSpc>
                <a:spcPct val="120312"/>
              </a:lnSpc>
              <a:spcBef>
                <a:spcPts val="0"/>
              </a:spcBef>
              <a:spcAft>
                <a:spcPts val="0"/>
              </a:spcAft>
              <a:buClr>
                <a:srgbClr val="443728"/>
              </a:buClr>
              <a:buSzPts val="3200"/>
              <a:buFont typeface="Open Sans"/>
              <a:buNone/>
            </a:pPr>
            <a:r>
              <a:rPr b="1" lang="en-US" sz="3200">
                <a:solidFill>
                  <a:srgbClr val="443728"/>
                </a:solidFill>
                <a:latin typeface="Open Sans"/>
                <a:ea typeface="Open Sans"/>
                <a:cs typeface="Open Sans"/>
                <a:sym typeface="Open Sans"/>
              </a:rPr>
              <a:t>Example</a:t>
            </a:r>
            <a:endParaRPr sz="3200">
              <a:solidFill>
                <a:schemeClr val="dk1"/>
              </a:solidFill>
              <a:latin typeface="Calibri"/>
              <a:ea typeface="Calibri"/>
              <a:cs typeface="Calibri"/>
              <a:sym typeface="Calibri"/>
            </a:endParaRPr>
          </a:p>
        </p:txBody>
      </p:sp>
      <p:sp>
        <p:nvSpPr>
          <p:cNvPr id="207" name="Google Shape;207;p9"/>
          <p:cNvSpPr/>
          <p:nvPr/>
        </p:nvSpPr>
        <p:spPr>
          <a:xfrm>
            <a:off x="382773" y="3657957"/>
            <a:ext cx="13958869" cy="1975247"/>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0"/>
              </a:spcBef>
              <a:spcAft>
                <a:spcPts val="0"/>
              </a:spcAft>
              <a:buClr>
                <a:srgbClr val="443728"/>
              </a:buClr>
              <a:buSzPts val="2800"/>
              <a:buFont typeface="Open Sans"/>
              <a:buNone/>
            </a:pPr>
            <a:r>
              <a:rPr lang="en-US" sz="2800">
                <a:solidFill>
                  <a:srgbClr val="443728"/>
                </a:solidFill>
                <a:latin typeface="Open Sans"/>
                <a:ea typeface="Open Sans"/>
                <a:cs typeface="Open Sans"/>
                <a:sym typeface="Open Sans"/>
              </a:rPr>
              <a:t>In conclusion, while climate change presents significant challenges, there are clear steps we can take to address it effectively. By increasing our investment in renewable energy, improving energy efficiency, and supporting policies aimed at reducing carbon emissions, we can make a substantial impact. </a:t>
            </a:r>
            <a:r>
              <a:rPr lang="en-US" sz="2800" u="sng">
                <a:solidFill>
                  <a:srgbClr val="FF0000"/>
                </a:solidFill>
                <a:latin typeface="Open Sans"/>
                <a:ea typeface="Open Sans"/>
                <a:cs typeface="Open Sans"/>
                <a:sym typeface="Open Sans"/>
              </a:rPr>
              <a:t>It is crucial for individuals, businesses, and governments to work together to implement these solutions. Taking these actions now will help protect our planet for future generations and ensure a more sustainable and healthier world.</a:t>
            </a:r>
            <a:endParaRPr sz="2800" u="sng">
              <a:solidFill>
                <a:srgbClr val="FF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CFA"/>
        </a:solidFill>
      </p:bgPr>
    </p:bg>
    <p:spTree>
      <p:nvGrpSpPr>
        <p:cNvPr id="212" name="Shape 212"/>
        <p:cNvGrpSpPr/>
        <p:nvPr/>
      </p:nvGrpSpPr>
      <p:grpSpPr>
        <a:xfrm>
          <a:off x="0" y="0"/>
          <a:ext cx="0" cy="0"/>
          <a:chOff x="0" y="0"/>
          <a:chExt cx="0" cy="0"/>
        </a:xfrm>
      </p:grpSpPr>
      <p:sp>
        <p:nvSpPr>
          <p:cNvPr id="213" name="Google Shape;213;p10"/>
          <p:cNvSpPr/>
          <p:nvPr/>
        </p:nvSpPr>
        <p:spPr>
          <a:xfrm>
            <a:off x="382775" y="0"/>
            <a:ext cx="14022300" cy="771600"/>
          </a:xfrm>
          <a:prstGeom prst="rect">
            <a:avLst/>
          </a:prstGeom>
          <a:noFill/>
          <a:ln>
            <a:noFill/>
          </a:ln>
        </p:spPr>
        <p:txBody>
          <a:bodyPr anchorCtr="0" anchor="t" bIns="0" lIns="0" spcFirstLastPara="1" rIns="0" wrap="square" tIns="0">
            <a:noAutofit/>
          </a:bodyPr>
          <a:lstStyle/>
          <a:p>
            <a:pPr indent="0" lvl="0" marL="0" marR="0" rtl="0" algn="l">
              <a:lnSpc>
                <a:spcPct val="91666"/>
              </a:lnSpc>
              <a:spcBef>
                <a:spcPts val="0"/>
              </a:spcBef>
              <a:spcAft>
                <a:spcPts val="0"/>
              </a:spcAft>
              <a:buClr>
                <a:srgbClr val="443728"/>
              </a:buClr>
              <a:buSzPts val="6600"/>
              <a:buFont typeface="Crimson Pro"/>
              <a:buNone/>
            </a:pPr>
            <a:r>
              <a:rPr b="1" lang="en-US" sz="6600">
                <a:solidFill>
                  <a:srgbClr val="443728"/>
                </a:solidFill>
                <a:latin typeface="Crimson Pro"/>
                <a:ea typeface="Crimson Pro"/>
                <a:cs typeface="Crimson Pro"/>
                <a:sym typeface="Crimson Pro"/>
              </a:rPr>
              <a:t>4. Quoting an authority on the topic</a:t>
            </a:r>
            <a:endParaRPr sz="6600">
              <a:solidFill>
                <a:schemeClr val="dk1"/>
              </a:solidFill>
              <a:latin typeface="Calibri"/>
              <a:ea typeface="Calibri"/>
              <a:cs typeface="Calibri"/>
              <a:sym typeface="Calibri"/>
            </a:endParaRPr>
          </a:p>
        </p:txBody>
      </p:sp>
      <p:sp>
        <p:nvSpPr>
          <p:cNvPr id="214" name="Google Shape;214;p10"/>
          <p:cNvSpPr/>
          <p:nvPr/>
        </p:nvSpPr>
        <p:spPr>
          <a:xfrm>
            <a:off x="382774" y="1233382"/>
            <a:ext cx="13862615" cy="1702324"/>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0"/>
              </a:spcBef>
              <a:spcAft>
                <a:spcPts val="0"/>
              </a:spcAft>
              <a:buClr>
                <a:srgbClr val="443728"/>
              </a:buClr>
              <a:buSzPts val="2800"/>
              <a:buFont typeface="Open Sans"/>
              <a:buNone/>
            </a:pPr>
            <a:r>
              <a:rPr lang="en-US" sz="2800">
                <a:solidFill>
                  <a:srgbClr val="443728"/>
                </a:solidFill>
                <a:latin typeface="Open Sans"/>
                <a:ea typeface="Open Sans"/>
                <a:cs typeface="Open Sans"/>
                <a:sym typeface="Open Sans"/>
              </a:rPr>
              <a:t>A conclusion that ends with quoting an authority finishes by including </a:t>
            </a:r>
            <a:r>
              <a:rPr b="1" lang="en-US" sz="2800" u="sng">
                <a:solidFill>
                  <a:srgbClr val="F44444"/>
                </a:solidFill>
                <a:latin typeface="Open Sans"/>
                <a:ea typeface="Open Sans"/>
                <a:cs typeface="Open Sans"/>
                <a:sym typeface="Open Sans"/>
              </a:rPr>
              <a:t>a quote from an expert</a:t>
            </a:r>
            <a:r>
              <a:rPr lang="en-US" sz="2800">
                <a:solidFill>
                  <a:srgbClr val="443728"/>
                </a:solidFill>
                <a:latin typeface="Open Sans"/>
                <a:ea typeface="Open Sans"/>
                <a:cs typeface="Open Sans"/>
                <a:sym typeface="Open Sans"/>
              </a:rPr>
              <a:t> on the topic. This helps to </a:t>
            </a:r>
            <a:r>
              <a:rPr b="1" lang="en-US" sz="2800" u="sng">
                <a:solidFill>
                  <a:srgbClr val="443728"/>
                </a:solidFill>
                <a:latin typeface="Open Sans"/>
                <a:ea typeface="Open Sans"/>
                <a:cs typeface="Open Sans"/>
                <a:sym typeface="Open Sans"/>
              </a:rPr>
              <a:t>strengthen the argument</a:t>
            </a:r>
            <a:r>
              <a:rPr lang="en-US" sz="2800">
                <a:solidFill>
                  <a:srgbClr val="443728"/>
                </a:solidFill>
                <a:latin typeface="Open Sans"/>
                <a:ea typeface="Open Sans"/>
                <a:cs typeface="Open Sans"/>
                <a:sym typeface="Open Sans"/>
              </a:rPr>
              <a:t> and add </a:t>
            </a:r>
            <a:r>
              <a:rPr b="1" lang="en-US" sz="2800" u="sng">
                <a:solidFill>
                  <a:srgbClr val="443728"/>
                </a:solidFill>
                <a:latin typeface="Open Sans"/>
                <a:ea typeface="Open Sans"/>
                <a:cs typeface="Open Sans"/>
                <a:sym typeface="Open Sans"/>
              </a:rPr>
              <a:t>credibility</a:t>
            </a:r>
            <a:r>
              <a:rPr lang="en-US" sz="2800">
                <a:solidFill>
                  <a:srgbClr val="443728"/>
                </a:solidFill>
                <a:latin typeface="Open Sans"/>
                <a:ea typeface="Open Sans"/>
                <a:cs typeface="Open Sans"/>
                <a:sym typeface="Open Sans"/>
              </a:rPr>
              <a:t> by showing that a knowledgeable person agrees with the points made.</a:t>
            </a:r>
            <a:endParaRPr sz="2800">
              <a:solidFill>
                <a:schemeClr val="dk1"/>
              </a:solidFill>
              <a:latin typeface="Calibri"/>
              <a:ea typeface="Calibri"/>
              <a:cs typeface="Calibri"/>
              <a:sym typeface="Calibri"/>
            </a:endParaRPr>
          </a:p>
        </p:txBody>
      </p:sp>
      <p:sp>
        <p:nvSpPr>
          <p:cNvPr id="215" name="Google Shape;215;p10"/>
          <p:cNvSpPr/>
          <p:nvPr/>
        </p:nvSpPr>
        <p:spPr>
          <a:xfrm>
            <a:off x="382774" y="3584548"/>
            <a:ext cx="12902327" cy="493752"/>
          </a:xfrm>
          <a:prstGeom prst="rect">
            <a:avLst/>
          </a:prstGeom>
          <a:noFill/>
          <a:ln>
            <a:noFill/>
          </a:ln>
        </p:spPr>
        <p:txBody>
          <a:bodyPr anchorCtr="0" anchor="t" bIns="0" lIns="0" spcFirstLastPara="1" rIns="0" wrap="square" tIns="0">
            <a:noAutofit/>
          </a:bodyPr>
          <a:lstStyle/>
          <a:p>
            <a:pPr indent="0" lvl="0" marL="0" marR="0" rtl="0" algn="l">
              <a:lnSpc>
                <a:spcPct val="106944"/>
              </a:lnSpc>
              <a:spcBef>
                <a:spcPts val="0"/>
              </a:spcBef>
              <a:spcAft>
                <a:spcPts val="0"/>
              </a:spcAft>
              <a:buClr>
                <a:srgbClr val="443728"/>
              </a:buClr>
              <a:buSzPts val="3600"/>
              <a:buFont typeface="Open Sans"/>
              <a:buNone/>
            </a:pPr>
            <a:r>
              <a:rPr b="1" lang="en-US" sz="3600">
                <a:solidFill>
                  <a:srgbClr val="443728"/>
                </a:solidFill>
                <a:latin typeface="Open Sans"/>
                <a:ea typeface="Open Sans"/>
                <a:cs typeface="Open Sans"/>
                <a:sym typeface="Open Sans"/>
              </a:rPr>
              <a:t>Example</a:t>
            </a:r>
            <a:endParaRPr sz="3600">
              <a:solidFill>
                <a:schemeClr val="dk1"/>
              </a:solidFill>
              <a:latin typeface="Calibri"/>
              <a:ea typeface="Calibri"/>
              <a:cs typeface="Calibri"/>
              <a:sym typeface="Calibri"/>
            </a:endParaRPr>
          </a:p>
        </p:txBody>
      </p:sp>
      <p:sp>
        <p:nvSpPr>
          <p:cNvPr id="216" name="Google Shape;216;p10"/>
          <p:cNvSpPr/>
          <p:nvPr/>
        </p:nvSpPr>
        <p:spPr>
          <a:xfrm>
            <a:off x="382774" y="4093232"/>
            <a:ext cx="13734279" cy="1975247"/>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0"/>
              </a:spcBef>
              <a:spcAft>
                <a:spcPts val="0"/>
              </a:spcAft>
              <a:buClr>
                <a:srgbClr val="443728"/>
              </a:buClr>
              <a:buSzPts val="2800"/>
              <a:buFont typeface="Open Sans"/>
              <a:buNone/>
            </a:pPr>
            <a:r>
              <a:rPr lang="en-US" sz="2800">
                <a:solidFill>
                  <a:srgbClr val="443728"/>
                </a:solidFill>
                <a:latin typeface="Open Sans"/>
                <a:ea typeface="Open Sans"/>
                <a:cs typeface="Open Sans"/>
                <a:sym typeface="Open Sans"/>
              </a:rPr>
              <a:t>In conclusion, while the benefits of regular exercise are clear, it is important to remember the advice of fitness expert </a:t>
            </a:r>
            <a:r>
              <a:rPr lang="en-US" sz="2800" u="sng">
                <a:solidFill>
                  <a:srgbClr val="FF0000"/>
                </a:solidFill>
                <a:latin typeface="Open Sans"/>
                <a:ea typeface="Open Sans"/>
                <a:cs typeface="Open Sans"/>
                <a:sym typeface="Open Sans"/>
              </a:rPr>
              <a:t>Dr. Jane Smith, who says, "Exercise is not just about adding years to your life but adding life to your years." </a:t>
            </a:r>
            <a:r>
              <a:rPr lang="en-US" sz="2800">
                <a:solidFill>
                  <a:srgbClr val="443728"/>
                </a:solidFill>
                <a:latin typeface="Open Sans"/>
                <a:ea typeface="Open Sans"/>
                <a:cs typeface="Open Sans"/>
                <a:sym typeface="Open Sans"/>
              </a:rPr>
              <a:t>Embracing a consistent workout routine not only improves physical health but also enhances overall well-being. By following this expert advice, we can make meaningful changes that contribute to a healthier, more fulfilling life.</a:t>
            </a:r>
            <a:endParaRPr sz="2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CFA"/>
        </a:solidFill>
      </p:bgPr>
    </p:bg>
    <p:spTree>
      <p:nvGrpSpPr>
        <p:cNvPr id="221" name="Shape 221"/>
        <p:cNvGrpSpPr/>
        <p:nvPr/>
      </p:nvGrpSpPr>
      <p:grpSpPr>
        <a:xfrm>
          <a:off x="0" y="0"/>
          <a:ext cx="0" cy="0"/>
          <a:chOff x="0" y="0"/>
          <a:chExt cx="0" cy="0"/>
        </a:xfrm>
      </p:grpSpPr>
      <p:sp>
        <p:nvSpPr>
          <p:cNvPr id="222" name="Google Shape;222;p11"/>
          <p:cNvSpPr/>
          <p:nvPr/>
        </p:nvSpPr>
        <p:spPr>
          <a:xfrm>
            <a:off x="430900" y="413040"/>
            <a:ext cx="6172200" cy="771525"/>
          </a:xfrm>
          <a:prstGeom prst="rect">
            <a:avLst/>
          </a:prstGeom>
          <a:noFill/>
          <a:ln>
            <a:noFill/>
          </a:ln>
        </p:spPr>
        <p:txBody>
          <a:bodyPr anchorCtr="0" anchor="t" bIns="0" lIns="0" spcFirstLastPara="1" rIns="0" wrap="square" tIns="0">
            <a:noAutofit/>
          </a:bodyPr>
          <a:lstStyle/>
          <a:p>
            <a:pPr indent="0" lvl="0" marL="0" marR="0" rtl="0" algn="l">
              <a:lnSpc>
                <a:spcPct val="84027"/>
              </a:lnSpc>
              <a:spcBef>
                <a:spcPts val="0"/>
              </a:spcBef>
              <a:spcAft>
                <a:spcPts val="0"/>
              </a:spcAft>
              <a:buClr>
                <a:srgbClr val="FF0000"/>
              </a:buClr>
              <a:buSzPts val="7200"/>
              <a:buFont typeface="Crimson Pro"/>
              <a:buNone/>
            </a:pPr>
            <a:r>
              <a:rPr b="1" lang="en-US" sz="7200">
                <a:solidFill>
                  <a:srgbClr val="FF0000"/>
                </a:solidFill>
                <a:latin typeface="Crimson Pro"/>
                <a:ea typeface="Crimson Pro"/>
                <a:cs typeface="Crimson Pro"/>
                <a:sym typeface="Crimson Pro"/>
              </a:rPr>
              <a:t>Practice</a:t>
            </a:r>
            <a:endParaRPr sz="7200">
              <a:solidFill>
                <a:srgbClr val="FF0000"/>
              </a:solidFill>
              <a:latin typeface="Calibri"/>
              <a:ea typeface="Calibri"/>
              <a:cs typeface="Calibri"/>
              <a:sym typeface="Calibri"/>
            </a:endParaRPr>
          </a:p>
        </p:txBody>
      </p:sp>
      <p:sp>
        <p:nvSpPr>
          <p:cNvPr id="223" name="Google Shape;223;p11"/>
          <p:cNvSpPr/>
          <p:nvPr/>
        </p:nvSpPr>
        <p:spPr>
          <a:xfrm>
            <a:off x="286521" y="1480792"/>
            <a:ext cx="12902327" cy="395049"/>
          </a:xfrm>
          <a:prstGeom prst="rect">
            <a:avLst/>
          </a:prstGeom>
          <a:noFill/>
          <a:ln>
            <a:noFill/>
          </a:ln>
        </p:spPr>
        <p:txBody>
          <a:bodyPr anchorCtr="0" anchor="t" bIns="0" lIns="0" spcFirstLastPara="1" rIns="0" wrap="square" tIns="0">
            <a:noAutofit/>
          </a:bodyPr>
          <a:lstStyle/>
          <a:p>
            <a:pPr indent="0" lvl="0" marL="0" marR="0" rtl="0" algn="l">
              <a:lnSpc>
                <a:spcPct val="96875"/>
              </a:lnSpc>
              <a:spcBef>
                <a:spcPts val="0"/>
              </a:spcBef>
              <a:spcAft>
                <a:spcPts val="0"/>
              </a:spcAft>
              <a:buClr>
                <a:srgbClr val="443728"/>
              </a:buClr>
              <a:buSzPts val="3200"/>
              <a:buFont typeface="Open Sans"/>
              <a:buNone/>
            </a:pPr>
            <a:r>
              <a:rPr b="1" lang="en-US" sz="3200">
                <a:solidFill>
                  <a:srgbClr val="443728"/>
                </a:solidFill>
                <a:latin typeface="Open Sans"/>
                <a:ea typeface="Open Sans"/>
                <a:cs typeface="Open Sans"/>
                <a:sym typeface="Open Sans"/>
              </a:rPr>
              <a:t>State the technique used in the following concluding paragraphs.</a:t>
            </a:r>
            <a:endParaRPr b="1" sz="3200">
              <a:solidFill>
                <a:schemeClr val="dk1"/>
              </a:solidFill>
              <a:latin typeface="Calibri"/>
              <a:ea typeface="Calibri"/>
              <a:cs typeface="Calibri"/>
              <a:sym typeface="Calibri"/>
            </a:endParaRPr>
          </a:p>
        </p:txBody>
      </p:sp>
      <p:sp>
        <p:nvSpPr>
          <p:cNvPr id="224" name="Google Shape;224;p11"/>
          <p:cNvSpPr/>
          <p:nvPr/>
        </p:nvSpPr>
        <p:spPr>
          <a:xfrm>
            <a:off x="1802501" y="5714203"/>
            <a:ext cx="6172200" cy="771525"/>
          </a:xfrm>
          <a:prstGeom prst="rect">
            <a:avLst/>
          </a:prstGeom>
          <a:noFill/>
          <a:ln>
            <a:noFill/>
          </a:ln>
        </p:spPr>
        <p:txBody>
          <a:bodyPr anchorCtr="0" anchor="t" bIns="0" lIns="0" spcFirstLastPara="1" rIns="0" wrap="square" tIns="0">
            <a:noAutofit/>
          </a:bodyPr>
          <a:lstStyle/>
          <a:p>
            <a:pPr indent="0" lvl="0" marL="0" marR="0" rtl="0" algn="l">
              <a:lnSpc>
                <a:spcPct val="100833"/>
              </a:lnSpc>
              <a:spcBef>
                <a:spcPts val="0"/>
              </a:spcBef>
              <a:spcAft>
                <a:spcPts val="0"/>
              </a:spcAft>
              <a:buClr>
                <a:srgbClr val="FF0000"/>
              </a:buClr>
              <a:buSzPts val="6000"/>
              <a:buFont typeface="Crimson Pro"/>
              <a:buNone/>
            </a:pPr>
            <a:r>
              <a:rPr b="1" lang="en-US" sz="6000">
                <a:solidFill>
                  <a:srgbClr val="FF0000"/>
                </a:solidFill>
                <a:latin typeface="Crimson Pro"/>
                <a:ea typeface="Crimson Pro"/>
                <a:cs typeface="Crimson Pro"/>
                <a:sym typeface="Crimson Pro"/>
              </a:rPr>
              <a:t>Suggesting results of consequences</a:t>
            </a:r>
            <a:endParaRPr sz="6000">
              <a:solidFill>
                <a:srgbClr val="FF0000"/>
              </a:solidFill>
              <a:latin typeface="Calibri"/>
              <a:ea typeface="Calibri"/>
              <a:cs typeface="Calibri"/>
              <a:sym typeface="Calibri"/>
            </a:endParaRPr>
          </a:p>
        </p:txBody>
      </p:sp>
      <p:pic>
        <p:nvPicPr>
          <p:cNvPr id="225" name="Google Shape;225;p11"/>
          <p:cNvPicPr preferRelativeResize="0"/>
          <p:nvPr/>
        </p:nvPicPr>
        <p:blipFill rotWithShape="1">
          <a:blip r:embed="rId3">
            <a:alphaModFix/>
          </a:blip>
          <a:srcRect b="0" l="0" r="0" t="0"/>
          <a:stretch/>
        </p:blipFill>
        <p:spPr>
          <a:xfrm>
            <a:off x="994611" y="2553069"/>
            <a:ext cx="12416588" cy="28651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CFA"/>
        </a:solidFill>
      </p:bgPr>
    </p:bg>
    <p:spTree>
      <p:nvGrpSpPr>
        <p:cNvPr id="230" name="Shape 230"/>
        <p:cNvGrpSpPr/>
        <p:nvPr/>
      </p:nvGrpSpPr>
      <p:grpSpPr>
        <a:xfrm>
          <a:off x="0" y="0"/>
          <a:ext cx="0" cy="0"/>
          <a:chOff x="0" y="0"/>
          <a:chExt cx="0" cy="0"/>
        </a:xfrm>
      </p:grpSpPr>
      <p:sp>
        <p:nvSpPr>
          <p:cNvPr id="231" name="Google Shape;231;p12"/>
          <p:cNvSpPr/>
          <p:nvPr/>
        </p:nvSpPr>
        <p:spPr>
          <a:xfrm>
            <a:off x="430900" y="413040"/>
            <a:ext cx="6172200" cy="771525"/>
          </a:xfrm>
          <a:prstGeom prst="rect">
            <a:avLst/>
          </a:prstGeom>
          <a:noFill/>
          <a:ln>
            <a:noFill/>
          </a:ln>
        </p:spPr>
        <p:txBody>
          <a:bodyPr anchorCtr="0" anchor="t" bIns="0" lIns="0" spcFirstLastPara="1" rIns="0" wrap="square" tIns="0">
            <a:noAutofit/>
          </a:bodyPr>
          <a:lstStyle/>
          <a:p>
            <a:pPr indent="0" lvl="0" marL="0" marR="0" rtl="0" algn="l">
              <a:lnSpc>
                <a:spcPct val="84027"/>
              </a:lnSpc>
              <a:spcBef>
                <a:spcPts val="0"/>
              </a:spcBef>
              <a:spcAft>
                <a:spcPts val="0"/>
              </a:spcAft>
              <a:buClr>
                <a:srgbClr val="FF0000"/>
              </a:buClr>
              <a:buSzPts val="7200"/>
              <a:buFont typeface="Crimson Pro"/>
              <a:buNone/>
            </a:pPr>
            <a:r>
              <a:rPr b="1" lang="en-US" sz="7200">
                <a:solidFill>
                  <a:srgbClr val="FF0000"/>
                </a:solidFill>
                <a:latin typeface="Crimson Pro"/>
                <a:ea typeface="Crimson Pro"/>
                <a:cs typeface="Crimson Pro"/>
                <a:sym typeface="Crimson Pro"/>
              </a:rPr>
              <a:t>Practice</a:t>
            </a:r>
            <a:endParaRPr sz="7200">
              <a:solidFill>
                <a:srgbClr val="FF0000"/>
              </a:solidFill>
              <a:latin typeface="Calibri"/>
              <a:ea typeface="Calibri"/>
              <a:cs typeface="Calibri"/>
              <a:sym typeface="Calibri"/>
            </a:endParaRPr>
          </a:p>
        </p:txBody>
      </p:sp>
      <p:sp>
        <p:nvSpPr>
          <p:cNvPr id="232" name="Google Shape;232;p12"/>
          <p:cNvSpPr/>
          <p:nvPr/>
        </p:nvSpPr>
        <p:spPr>
          <a:xfrm>
            <a:off x="286521" y="1480792"/>
            <a:ext cx="12902327" cy="395049"/>
          </a:xfrm>
          <a:prstGeom prst="rect">
            <a:avLst/>
          </a:prstGeom>
          <a:noFill/>
          <a:ln>
            <a:noFill/>
          </a:ln>
        </p:spPr>
        <p:txBody>
          <a:bodyPr anchorCtr="0" anchor="t" bIns="0" lIns="0" spcFirstLastPara="1" rIns="0" wrap="square" tIns="0">
            <a:noAutofit/>
          </a:bodyPr>
          <a:lstStyle/>
          <a:p>
            <a:pPr indent="0" lvl="0" marL="0" marR="0" rtl="0" algn="l">
              <a:lnSpc>
                <a:spcPct val="96875"/>
              </a:lnSpc>
              <a:spcBef>
                <a:spcPts val="0"/>
              </a:spcBef>
              <a:spcAft>
                <a:spcPts val="0"/>
              </a:spcAft>
              <a:buClr>
                <a:srgbClr val="443728"/>
              </a:buClr>
              <a:buSzPts val="3200"/>
              <a:buFont typeface="Open Sans"/>
              <a:buNone/>
            </a:pPr>
            <a:r>
              <a:rPr b="1" lang="en-US" sz="3200">
                <a:solidFill>
                  <a:srgbClr val="443728"/>
                </a:solidFill>
                <a:latin typeface="Open Sans"/>
                <a:ea typeface="Open Sans"/>
                <a:cs typeface="Open Sans"/>
                <a:sym typeface="Open Sans"/>
              </a:rPr>
              <a:t>State the technique used in the following concluding paragraphs.</a:t>
            </a:r>
            <a:endParaRPr b="1" sz="3200">
              <a:solidFill>
                <a:schemeClr val="dk1"/>
              </a:solidFill>
              <a:latin typeface="Calibri"/>
              <a:ea typeface="Calibri"/>
              <a:cs typeface="Calibri"/>
              <a:sym typeface="Calibri"/>
            </a:endParaRPr>
          </a:p>
        </p:txBody>
      </p:sp>
      <p:pic>
        <p:nvPicPr>
          <p:cNvPr id="233" name="Google Shape;233;p12"/>
          <p:cNvPicPr preferRelativeResize="0"/>
          <p:nvPr/>
        </p:nvPicPr>
        <p:blipFill rotWithShape="1">
          <a:blip r:embed="rId3">
            <a:alphaModFix/>
          </a:blip>
          <a:srcRect b="0" l="0" r="0" t="0"/>
          <a:stretch/>
        </p:blipFill>
        <p:spPr>
          <a:xfrm>
            <a:off x="844467" y="2518610"/>
            <a:ext cx="13187548" cy="2358190"/>
          </a:xfrm>
          <a:prstGeom prst="rect">
            <a:avLst/>
          </a:prstGeom>
          <a:noFill/>
          <a:ln>
            <a:noFill/>
          </a:ln>
        </p:spPr>
      </p:pic>
      <p:sp>
        <p:nvSpPr>
          <p:cNvPr id="234" name="Google Shape;234;p12"/>
          <p:cNvSpPr/>
          <p:nvPr/>
        </p:nvSpPr>
        <p:spPr>
          <a:xfrm>
            <a:off x="3855890" y="5489614"/>
            <a:ext cx="6172200" cy="771525"/>
          </a:xfrm>
          <a:prstGeom prst="rect">
            <a:avLst/>
          </a:prstGeom>
          <a:noFill/>
          <a:ln>
            <a:noFill/>
          </a:ln>
        </p:spPr>
        <p:txBody>
          <a:bodyPr anchorCtr="0" anchor="t" bIns="0" lIns="0" spcFirstLastPara="1" rIns="0" wrap="square" tIns="0">
            <a:noAutofit/>
          </a:bodyPr>
          <a:lstStyle/>
          <a:p>
            <a:pPr indent="0" lvl="0" marL="0" marR="0" rtl="0" algn="l">
              <a:lnSpc>
                <a:spcPct val="100833"/>
              </a:lnSpc>
              <a:spcBef>
                <a:spcPts val="0"/>
              </a:spcBef>
              <a:spcAft>
                <a:spcPts val="0"/>
              </a:spcAft>
              <a:buClr>
                <a:srgbClr val="FF0000"/>
              </a:buClr>
              <a:buSzPts val="6000"/>
              <a:buFont typeface="Crimson Pro"/>
              <a:buNone/>
            </a:pPr>
            <a:r>
              <a:rPr b="1" lang="en-US" sz="6000">
                <a:solidFill>
                  <a:srgbClr val="FF0000"/>
                </a:solidFill>
                <a:latin typeface="Crimson Pro"/>
                <a:ea typeface="Crimson Pro"/>
                <a:cs typeface="Crimson Pro"/>
                <a:sym typeface="Crimson Pro"/>
              </a:rPr>
              <a:t>Making a prediction</a:t>
            </a:r>
            <a:endParaRPr sz="6000">
              <a:solidFill>
                <a:srgbClr val="FF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CFA"/>
        </a:solidFill>
      </p:bgPr>
    </p:bg>
    <p:spTree>
      <p:nvGrpSpPr>
        <p:cNvPr id="239" name="Shape 239"/>
        <p:cNvGrpSpPr/>
        <p:nvPr/>
      </p:nvGrpSpPr>
      <p:grpSpPr>
        <a:xfrm>
          <a:off x="0" y="0"/>
          <a:ext cx="0" cy="0"/>
          <a:chOff x="0" y="0"/>
          <a:chExt cx="0" cy="0"/>
        </a:xfrm>
      </p:grpSpPr>
      <p:sp>
        <p:nvSpPr>
          <p:cNvPr id="240" name="Google Shape;240;p13"/>
          <p:cNvSpPr/>
          <p:nvPr/>
        </p:nvSpPr>
        <p:spPr>
          <a:xfrm>
            <a:off x="430900" y="413040"/>
            <a:ext cx="6172200" cy="771525"/>
          </a:xfrm>
          <a:prstGeom prst="rect">
            <a:avLst/>
          </a:prstGeom>
          <a:noFill/>
          <a:ln>
            <a:noFill/>
          </a:ln>
        </p:spPr>
        <p:txBody>
          <a:bodyPr anchorCtr="0" anchor="t" bIns="0" lIns="0" spcFirstLastPara="1" rIns="0" wrap="square" tIns="0">
            <a:noAutofit/>
          </a:bodyPr>
          <a:lstStyle/>
          <a:p>
            <a:pPr indent="0" lvl="0" marL="0" marR="0" rtl="0" algn="l">
              <a:lnSpc>
                <a:spcPct val="84027"/>
              </a:lnSpc>
              <a:spcBef>
                <a:spcPts val="0"/>
              </a:spcBef>
              <a:spcAft>
                <a:spcPts val="0"/>
              </a:spcAft>
              <a:buClr>
                <a:srgbClr val="FF0000"/>
              </a:buClr>
              <a:buSzPts val="7200"/>
              <a:buFont typeface="Crimson Pro"/>
              <a:buNone/>
            </a:pPr>
            <a:r>
              <a:rPr b="1" lang="en-US" sz="7200">
                <a:solidFill>
                  <a:srgbClr val="FF0000"/>
                </a:solidFill>
                <a:latin typeface="Crimson Pro"/>
                <a:ea typeface="Crimson Pro"/>
                <a:cs typeface="Crimson Pro"/>
                <a:sym typeface="Crimson Pro"/>
              </a:rPr>
              <a:t>Practice</a:t>
            </a:r>
            <a:endParaRPr sz="7200">
              <a:solidFill>
                <a:srgbClr val="FF0000"/>
              </a:solidFill>
              <a:latin typeface="Calibri"/>
              <a:ea typeface="Calibri"/>
              <a:cs typeface="Calibri"/>
              <a:sym typeface="Calibri"/>
            </a:endParaRPr>
          </a:p>
        </p:txBody>
      </p:sp>
      <p:sp>
        <p:nvSpPr>
          <p:cNvPr id="241" name="Google Shape;241;p13"/>
          <p:cNvSpPr/>
          <p:nvPr/>
        </p:nvSpPr>
        <p:spPr>
          <a:xfrm>
            <a:off x="286521" y="1480792"/>
            <a:ext cx="12902327" cy="395049"/>
          </a:xfrm>
          <a:prstGeom prst="rect">
            <a:avLst/>
          </a:prstGeom>
          <a:noFill/>
          <a:ln>
            <a:noFill/>
          </a:ln>
        </p:spPr>
        <p:txBody>
          <a:bodyPr anchorCtr="0" anchor="t" bIns="0" lIns="0" spcFirstLastPara="1" rIns="0" wrap="square" tIns="0">
            <a:noAutofit/>
          </a:bodyPr>
          <a:lstStyle/>
          <a:p>
            <a:pPr indent="0" lvl="0" marL="0" marR="0" rtl="0" algn="l">
              <a:lnSpc>
                <a:spcPct val="96875"/>
              </a:lnSpc>
              <a:spcBef>
                <a:spcPts val="0"/>
              </a:spcBef>
              <a:spcAft>
                <a:spcPts val="0"/>
              </a:spcAft>
              <a:buClr>
                <a:srgbClr val="443728"/>
              </a:buClr>
              <a:buSzPts val="3200"/>
              <a:buFont typeface="Open Sans"/>
              <a:buNone/>
            </a:pPr>
            <a:r>
              <a:rPr b="1" lang="en-US" sz="3200">
                <a:solidFill>
                  <a:srgbClr val="443728"/>
                </a:solidFill>
                <a:latin typeface="Open Sans"/>
                <a:ea typeface="Open Sans"/>
                <a:cs typeface="Open Sans"/>
                <a:sym typeface="Open Sans"/>
              </a:rPr>
              <a:t>State the technique used in the following concluding paragraphs.</a:t>
            </a:r>
            <a:endParaRPr b="1" sz="3200">
              <a:solidFill>
                <a:schemeClr val="dk1"/>
              </a:solidFill>
              <a:latin typeface="Calibri"/>
              <a:ea typeface="Calibri"/>
              <a:cs typeface="Calibri"/>
              <a:sym typeface="Calibri"/>
            </a:endParaRPr>
          </a:p>
        </p:txBody>
      </p:sp>
      <p:sp>
        <p:nvSpPr>
          <p:cNvPr id="242" name="Google Shape;242;p13"/>
          <p:cNvSpPr/>
          <p:nvPr/>
        </p:nvSpPr>
        <p:spPr>
          <a:xfrm>
            <a:off x="3849643" y="5875376"/>
            <a:ext cx="6172200" cy="771525"/>
          </a:xfrm>
          <a:prstGeom prst="rect">
            <a:avLst/>
          </a:prstGeom>
          <a:noFill/>
          <a:ln>
            <a:noFill/>
          </a:ln>
        </p:spPr>
        <p:txBody>
          <a:bodyPr anchorCtr="0" anchor="t" bIns="0" lIns="0" spcFirstLastPara="1" rIns="0" wrap="square" tIns="0">
            <a:noAutofit/>
          </a:bodyPr>
          <a:lstStyle/>
          <a:p>
            <a:pPr indent="0" lvl="0" marL="0" marR="0" rtl="0" algn="l">
              <a:lnSpc>
                <a:spcPct val="100833"/>
              </a:lnSpc>
              <a:spcBef>
                <a:spcPts val="0"/>
              </a:spcBef>
              <a:spcAft>
                <a:spcPts val="0"/>
              </a:spcAft>
              <a:buClr>
                <a:srgbClr val="FF0000"/>
              </a:buClr>
              <a:buSzPts val="6000"/>
              <a:buFont typeface="Crimson Pro"/>
              <a:buNone/>
            </a:pPr>
            <a:r>
              <a:rPr b="1" lang="en-US" sz="6000">
                <a:solidFill>
                  <a:srgbClr val="FF0000"/>
                </a:solidFill>
                <a:latin typeface="Crimson Pro"/>
                <a:ea typeface="Crimson Pro"/>
                <a:cs typeface="Crimson Pro"/>
                <a:sym typeface="Crimson Pro"/>
              </a:rPr>
              <a:t>Quoting an authority</a:t>
            </a:r>
            <a:endParaRPr sz="6000">
              <a:solidFill>
                <a:srgbClr val="FF0000"/>
              </a:solidFill>
              <a:latin typeface="Calibri"/>
              <a:ea typeface="Calibri"/>
              <a:cs typeface="Calibri"/>
              <a:sym typeface="Calibri"/>
            </a:endParaRPr>
          </a:p>
        </p:txBody>
      </p:sp>
      <p:pic>
        <p:nvPicPr>
          <p:cNvPr id="243" name="Google Shape;243;p13"/>
          <p:cNvPicPr preferRelativeResize="0"/>
          <p:nvPr/>
        </p:nvPicPr>
        <p:blipFill rotWithShape="1">
          <a:blip r:embed="rId3">
            <a:alphaModFix/>
          </a:blip>
          <a:srcRect b="0" l="0" r="0" t="0"/>
          <a:stretch/>
        </p:blipFill>
        <p:spPr>
          <a:xfrm>
            <a:off x="990271" y="2629267"/>
            <a:ext cx="12597392" cy="313786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CFA"/>
        </a:solidFill>
      </p:bgPr>
    </p:bg>
    <p:spTree>
      <p:nvGrpSpPr>
        <p:cNvPr id="248" name="Shape 248"/>
        <p:cNvGrpSpPr/>
        <p:nvPr/>
      </p:nvGrpSpPr>
      <p:grpSpPr>
        <a:xfrm>
          <a:off x="0" y="0"/>
          <a:ext cx="0" cy="0"/>
          <a:chOff x="0" y="0"/>
          <a:chExt cx="0" cy="0"/>
        </a:xfrm>
      </p:grpSpPr>
      <p:sp>
        <p:nvSpPr>
          <p:cNvPr id="249" name="Google Shape;249;p14"/>
          <p:cNvSpPr/>
          <p:nvPr/>
        </p:nvSpPr>
        <p:spPr>
          <a:xfrm>
            <a:off x="430900" y="413040"/>
            <a:ext cx="6172200" cy="771525"/>
          </a:xfrm>
          <a:prstGeom prst="rect">
            <a:avLst/>
          </a:prstGeom>
          <a:noFill/>
          <a:ln>
            <a:noFill/>
          </a:ln>
        </p:spPr>
        <p:txBody>
          <a:bodyPr anchorCtr="0" anchor="t" bIns="0" lIns="0" spcFirstLastPara="1" rIns="0" wrap="square" tIns="0">
            <a:noAutofit/>
          </a:bodyPr>
          <a:lstStyle/>
          <a:p>
            <a:pPr indent="0" lvl="0" marL="0" marR="0" rtl="0" algn="l">
              <a:lnSpc>
                <a:spcPct val="84027"/>
              </a:lnSpc>
              <a:spcBef>
                <a:spcPts val="0"/>
              </a:spcBef>
              <a:spcAft>
                <a:spcPts val="0"/>
              </a:spcAft>
              <a:buClr>
                <a:srgbClr val="FF0000"/>
              </a:buClr>
              <a:buSzPts val="7200"/>
              <a:buFont typeface="Crimson Pro"/>
              <a:buNone/>
            </a:pPr>
            <a:r>
              <a:rPr b="1" lang="en-US" sz="7200">
                <a:solidFill>
                  <a:srgbClr val="FF0000"/>
                </a:solidFill>
                <a:latin typeface="Crimson Pro"/>
                <a:ea typeface="Crimson Pro"/>
                <a:cs typeface="Crimson Pro"/>
                <a:sym typeface="Crimson Pro"/>
              </a:rPr>
              <a:t>Practice</a:t>
            </a:r>
            <a:endParaRPr sz="7200">
              <a:solidFill>
                <a:srgbClr val="FF0000"/>
              </a:solidFill>
              <a:latin typeface="Calibri"/>
              <a:ea typeface="Calibri"/>
              <a:cs typeface="Calibri"/>
              <a:sym typeface="Calibri"/>
            </a:endParaRPr>
          </a:p>
        </p:txBody>
      </p:sp>
      <p:sp>
        <p:nvSpPr>
          <p:cNvPr id="250" name="Google Shape;250;p14"/>
          <p:cNvSpPr/>
          <p:nvPr/>
        </p:nvSpPr>
        <p:spPr>
          <a:xfrm>
            <a:off x="286521" y="1480792"/>
            <a:ext cx="12902327" cy="395049"/>
          </a:xfrm>
          <a:prstGeom prst="rect">
            <a:avLst/>
          </a:prstGeom>
          <a:noFill/>
          <a:ln>
            <a:noFill/>
          </a:ln>
        </p:spPr>
        <p:txBody>
          <a:bodyPr anchorCtr="0" anchor="t" bIns="0" lIns="0" spcFirstLastPara="1" rIns="0" wrap="square" tIns="0">
            <a:noAutofit/>
          </a:bodyPr>
          <a:lstStyle/>
          <a:p>
            <a:pPr indent="0" lvl="0" marL="0" marR="0" rtl="0" algn="l">
              <a:lnSpc>
                <a:spcPct val="96875"/>
              </a:lnSpc>
              <a:spcBef>
                <a:spcPts val="0"/>
              </a:spcBef>
              <a:spcAft>
                <a:spcPts val="0"/>
              </a:spcAft>
              <a:buClr>
                <a:srgbClr val="443728"/>
              </a:buClr>
              <a:buSzPts val="3200"/>
              <a:buFont typeface="Open Sans"/>
              <a:buNone/>
            </a:pPr>
            <a:r>
              <a:rPr b="1" lang="en-US" sz="3200">
                <a:solidFill>
                  <a:srgbClr val="443728"/>
                </a:solidFill>
                <a:latin typeface="Open Sans"/>
                <a:ea typeface="Open Sans"/>
                <a:cs typeface="Open Sans"/>
                <a:sym typeface="Open Sans"/>
              </a:rPr>
              <a:t>State the technique used in the following concluding paragraphs.</a:t>
            </a:r>
            <a:endParaRPr b="1" sz="3200">
              <a:solidFill>
                <a:schemeClr val="dk1"/>
              </a:solidFill>
              <a:latin typeface="Calibri"/>
              <a:ea typeface="Calibri"/>
              <a:cs typeface="Calibri"/>
              <a:sym typeface="Calibri"/>
            </a:endParaRPr>
          </a:p>
        </p:txBody>
      </p:sp>
      <p:sp>
        <p:nvSpPr>
          <p:cNvPr id="251" name="Google Shape;251;p14"/>
          <p:cNvSpPr/>
          <p:nvPr/>
        </p:nvSpPr>
        <p:spPr>
          <a:xfrm>
            <a:off x="3855890" y="5489614"/>
            <a:ext cx="6172200" cy="771525"/>
          </a:xfrm>
          <a:prstGeom prst="rect">
            <a:avLst/>
          </a:prstGeom>
          <a:noFill/>
          <a:ln>
            <a:noFill/>
          </a:ln>
        </p:spPr>
        <p:txBody>
          <a:bodyPr anchorCtr="0" anchor="t" bIns="0" lIns="0" spcFirstLastPara="1" rIns="0" wrap="square" tIns="0">
            <a:noAutofit/>
          </a:bodyPr>
          <a:lstStyle/>
          <a:p>
            <a:pPr indent="0" lvl="0" marL="0" marR="0" rtl="0" algn="l">
              <a:lnSpc>
                <a:spcPct val="100833"/>
              </a:lnSpc>
              <a:spcBef>
                <a:spcPts val="0"/>
              </a:spcBef>
              <a:spcAft>
                <a:spcPts val="0"/>
              </a:spcAft>
              <a:buClr>
                <a:srgbClr val="FF0000"/>
              </a:buClr>
              <a:buSzPts val="6000"/>
              <a:buFont typeface="Crimson Pro"/>
              <a:buNone/>
            </a:pPr>
            <a:r>
              <a:rPr b="1" lang="en-US" sz="6000">
                <a:solidFill>
                  <a:srgbClr val="FF0000"/>
                </a:solidFill>
                <a:latin typeface="Crimson Pro"/>
                <a:ea typeface="Crimson Pro"/>
                <a:cs typeface="Crimson Pro"/>
                <a:sym typeface="Crimson Pro"/>
              </a:rPr>
              <a:t>Recommend a solution</a:t>
            </a:r>
            <a:endParaRPr sz="6000">
              <a:solidFill>
                <a:srgbClr val="FF0000"/>
              </a:solidFill>
              <a:latin typeface="Calibri"/>
              <a:ea typeface="Calibri"/>
              <a:cs typeface="Calibri"/>
              <a:sym typeface="Calibri"/>
            </a:endParaRPr>
          </a:p>
        </p:txBody>
      </p:sp>
      <p:pic>
        <p:nvPicPr>
          <p:cNvPr id="252" name="Google Shape;252;p14"/>
          <p:cNvPicPr preferRelativeResize="0"/>
          <p:nvPr/>
        </p:nvPicPr>
        <p:blipFill rotWithShape="1">
          <a:blip r:embed="rId3">
            <a:alphaModFix/>
          </a:blip>
          <a:srcRect b="0" l="0" r="0" t="0"/>
          <a:stretch/>
        </p:blipFill>
        <p:spPr>
          <a:xfrm>
            <a:off x="1315453" y="2310063"/>
            <a:ext cx="12015535" cy="273454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2024-09-06T10:44:19Z</dcterms:created>
  <dc:creator>PptxGenJS</dc:creator>
</cp:coreProperties>
</file>