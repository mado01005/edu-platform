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iUzJfzH+oJK3KfxfMn0wVde8M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regular.fntdata"/><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Listen from (0:40) to (1:42)</a:t>
            </a:r>
            <a:endParaRPr/>
          </a:p>
          <a:p>
            <a:pPr indent="0" lvl="0" marL="0" rtl="0" algn="l">
              <a:spcBef>
                <a:spcPts val="0"/>
              </a:spcBef>
              <a:spcAft>
                <a:spcPts val="0"/>
              </a:spcAft>
              <a:buNone/>
            </a:pPr>
            <a:r>
              <a:t/>
            </a:r>
            <a:endParaRPr/>
          </a:p>
        </p:txBody>
      </p:sp>
      <p:sp>
        <p:nvSpPr>
          <p:cNvPr id="130" name="Google Shape;1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4" name="Google Shape;2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9" name="Google Shape;89;p1"/>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grpSp>
        <p:nvGrpSpPr>
          <p:cNvPr id="90" name="Google Shape;90;p1"/>
          <p:cNvGrpSpPr/>
          <p:nvPr/>
        </p:nvGrpSpPr>
        <p:grpSpPr>
          <a:xfrm>
            <a:off x="1303402" y="3985"/>
            <a:ext cx="9772765" cy="6858000"/>
            <a:chOff x="1303402" y="36937"/>
            <a:chExt cx="9772765" cy="6858000"/>
          </a:xfrm>
        </p:grpSpPr>
        <p:sp>
          <p:nvSpPr>
            <p:cNvPr id="91" name="Google Shape;91;p1"/>
            <p:cNvSpPr/>
            <p:nvPr/>
          </p:nvSpPr>
          <p:spPr>
            <a:xfrm>
              <a:off x="1560551" y="36937"/>
              <a:ext cx="9313016" cy="6858000"/>
            </a:xfrm>
            <a:custGeom>
              <a:rect b="b" l="l" r="r" t="t"/>
              <a:pathLst>
                <a:path extrusionOk="0" h="6858000" w="9313016">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0">
                  <a:srgbClr val="FFFFFF">
                    <a:alpha val="9803"/>
                  </a:srgbClr>
                </a:gs>
                <a:gs pos="2000">
                  <a:srgbClr val="FFFFFF">
                    <a:alpha val="9803"/>
                  </a:srgbClr>
                </a:gs>
                <a:gs pos="16000">
                  <a:srgbClr val="4EA72E">
                    <a:alpha val="784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
            <p:cNvSpPr/>
            <p:nvPr/>
          </p:nvSpPr>
          <p:spPr>
            <a:xfrm>
              <a:off x="1659468" y="36937"/>
              <a:ext cx="9065550" cy="6858000"/>
            </a:xfrm>
            <a:custGeom>
              <a:rect b="b" l="l" r="r" t="t"/>
              <a:pathLst>
                <a:path extrusionOk="0" h="6858000" w="906555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
            <p:cNvSpPr/>
            <p:nvPr/>
          </p:nvSpPr>
          <p:spPr>
            <a:xfrm>
              <a:off x="1648217" y="36937"/>
              <a:ext cx="9088051" cy="6858000"/>
            </a:xfrm>
            <a:custGeom>
              <a:rect b="b" l="l" r="r" t="t"/>
              <a:pathLst>
                <a:path extrusionOk="0" h="6858000" w="9088051">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0">
                  <a:srgbClr val="FFFFFF">
                    <a:alpha val="9803"/>
                  </a:srgbClr>
                </a:gs>
                <a:gs pos="2000">
                  <a:srgbClr val="FFFFFF">
                    <a:alpha val="9803"/>
                  </a:srgbClr>
                </a:gs>
                <a:gs pos="16000">
                  <a:srgbClr val="4EA72E">
                    <a:alpha val="20000"/>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
            <p:cNvSpPr/>
            <p:nvPr/>
          </p:nvSpPr>
          <p:spPr>
            <a:xfrm>
              <a:off x="1629061" y="36937"/>
              <a:ext cx="9107210" cy="6858000"/>
            </a:xfrm>
            <a:custGeom>
              <a:rect b="b" l="l" r="r" t="t"/>
              <a:pathLst>
                <a:path extrusionOk="0" h="6858000" w="910721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0">
                  <a:srgbClr val="FFFFFF">
                    <a:alpha val="9803"/>
                  </a:srgbClr>
                </a:gs>
                <a:gs pos="2000">
                  <a:srgbClr val="FFFFFF">
                    <a:alpha val="9803"/>
                  </a:srgbClr>
                </a:gs>
                <a:gs pos="16000">
                  <a:srgbClr val="4EA72E">
                    <a:alpha val="784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 name="Google Shape;95;p1"/>
            <p:cNvSpPr/>
            <p:nvPr/>
          </p:nvSpPr>
          <p:spPr>
            <a:xfrm>
              <a:off x="1318434" y="36937"/>
              <a:ext cx="9747620" cy="6858000"/>
            </a:xfrm>
            <a:custGeom>
              <a:rect b="b" l="l" r="r" t="t"/>
              <a:pathLst>
                <a:path extrusionOk="0" h="6858000" w="974762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0">
                  <a:srgbClr val="FFFFFF">
                    <a:alpha val="9803"/>
                  </a:srgbClr>
                </a:gs>
                <a:gs pos="2000">
                  <a:srgbClr val="FFFFFF">
                    <a:alpha val="9803"/>
                  </a:srgbClr>
                </a:gs>
                <a:gs pos="16000">
                  <a:srgbClr val="4EA72E">
                    <a:alpha val="20000"/>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6" name="Google Shape;96;p1"/>
            <p:cNvSpPr/>
            <p:nvPr/>
          </p:nvSpPr>
          <p:spPr>
            <a:xfrm>
              <a:off x="1308320" y="36937"/>
              <a:ext cx="9767847" cy="6858000"/>
            </a:xfrm>
            <a:custGeom>
              <a:rect b="b" l="l" r="r" t="t"/>
              <a:pathLst>
                <a:path extrusionOk="0" h="6858000" w="9767847">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0">
                  <a:srgbClr val="FFFFFF">
                    <a:alpha val="40784"/>
                  </a:srgbClr>
                </a:gs>
                <a:gs pos="813">
                  <a:srgbClr val="FFFFFF">
                    <a:alpha val="40784"/>
                  </a:srgbClr>
                </a:gs>
                <a:gs pos="20000">
                  <a:srgbClr val="88247C">
                    <a:alpha val="55686"/>
                  </a:srgbClr>
                </a:gs>
                <a:gs pos="44000">
                  <a:srgbClr val="B3E5A0">
                    <a:alpha val="56862"/>
                  </a:srgbClr>
                </a:gs>
                <a:gs pos="74000">
                  <a:srgbClr val="19749D">
                    <a:alpha val="33725"/>
                  </a:srgbClr>
                </a:gs>
                <a:gs pos="100000">
                  <a:srgbClr val="FFFFFF">
                    <a:alpha val="5882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a:off x="1303402" y="36937"/>
              <a:ext cx="9767847" cy="6858000"/>
            </a:xfrm>
            <a:custGeom>
              <a:rect b="b" l="l" r="r" t="t"/>
              <a:pathLst>
                <a:path extrusionOk="0" h="6858000" w="9767847">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98" name="Google Shape;98;p1"/>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400"/>
              <a:buFont typeface="Arial"/>
              <a:buNone/>
            </a:pPr>
            <a:r>
              <a:rPr lang="en-GB" sz="2900">
                <a:solidFill>
                  <a:schemeClr val="dk2"/>
                </a:solidFill>
                <a:latin typeface="Arial"/>
                <a:ea typeface="Arial"/>
                <a:cs typeface="Arial"/>
                <a:sym typeface="Arial"/>
              </a:rPr>
              <a:t>Student Performance Analysis Project</a:t>
            </a:r>
            <a:endParaRPr sz="2900">
              <a:solidFill>
                <a:schemeClr val="dk2"/>
              </a:solidFill>
              <a:latin typeface="Arial"/>
              <a:ea typeface="Arial"/>
              <a:cs typeface="Arial"/>
              <a:sym typeface="Arial"/>
            </a:endParaRPr>
          </a:p>
          <a:p>
            <a:pPr indent="0" lvl="0" marL="0" rtl="0" algn="ctr">
              <a:lnSpc>
                <a:spcPct val="90000"/>
              </a:lnSpc>
              <a:spcBef>
                <a:spcPts val="0"/>
              </a:spcBef>
              <a:spcAft>
                <a:spcPts val="0"/>
              </a:spcAft>
              <a:buClr>
                <a:schemeClr val="dk2"/>
              </a:buClr>
              <a:buSzPts val="5200"/>
              <a:buFont typeface="Play"/>
              <a:buNone/>
            </a:pPr>
            <a:r>
              <a:t/>
            </a:r>
            <a:endParaRPr sz="5200">
              <a:solidFill>
                <a:schemeClr val="dk2"/>
              </a:solidFill>
            </a:endParaRPr>
          </a:p>
        </p:txBody>
      </p:sp>
      <p:sp>
        <p:nvSpPr>
          <p:cNvPr id="99" name="Google Shape;99;p1"/>
          <p:cNvSpPr txBox="1"/>
          <p:nvPr>
            <p:ph idx="1" type="subTitle"/>
          </p:nvPr>
        </p:nvSpPr>
        <p:spPr>
          <a:xfrm>
            <a:off x="3054138" y="4160126"/>
            <a:ext cx="6105300" cy="68220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90000"/>
              </a:lnSpc>
              <a:spcBef>
                <a:spcPts val="0"/>
              </a:spcBef>
              <a:spcAft>
                <a:spcPts val="0"/>
              </a:spcAft>
              <a:buClr>
                <a:schemeClr val="dk1"/>
              </a:buClr>
              <a:buSzPct val="100000"/>
              <a:buNone/>
            </a:pPr>
            <a:r>
              <a:t/>
            </a:r>
            <a:endParaRPr>
              <a:solidFill>
                <a:schemeClr val="dk2"/>
              </a:solidFill>
            </a:endParaRPr>
          </a:p>
          <a:p>
            <a:pPr indent="0" lvl="0" marL="0" rtl="0" algn="ctr">
              <a:lnSpc>
                <a:spcPct val="90000"/>
              </a:lnSpc>
              <a:spcBef>
                <a:spcPts val="0"/>
              </a:spcBef>
              <a:spcAft>
                <a:spcPts val="0"/>
              </a:spcAft>
              <a:buClr>
                <a:schemeClr val="dk1"/>
              </a:buClr>
              <a:buSzPct val="54309"/>
              <a:buNone/>
            </a:pPr>
            <a:r>
              <a:rPr lang="en-GB" sz="4419">
                <a:solidFill>
                  <a:schemeClr val="dk2"/>
                </a:solidFill>
              </a:rPr>
              <a:t>By mohamed salah</a:t>
            </a:r>
            <a:endParaRPr sz="4419">
              <a:solidFill>
                <a:schemeClr val="dk2"/>
              </a:solidFill>
            </a:endParaRPr>
          </a:p>
          <a:p>
            <a:pPr indent="0" lvl="0" marL="0" rtl="0" algn="l">
              <a:lnSpc>
                <a:spcPct val="90000"/>
              </a:lnSpc>
              <a:spcBef>
                <a:spcPts val="0"/>
              </a:spcBef>
              <a:spcAft>
                <a:spcPts val="0"/>
              </a:spcAft>
              <a:buClr>
                <a:schemeClr val="dk1"/>
              </a:buClr>
              <a:buSzPct val="100000"/>
              <a:buNone/>
            </a:pPr>
            <a:r>
              <a:t/>
            </a:r>
            <a:endParaRPr>
              <a:solidFill>
                <a:schemeClr val="dk2"/>
              </a:solidFill>
            </a:endParaRPr>
          </a:p>
          <a:p>
            <a:pPr indent="0" lvl="0" marL="0" rtl="0" algn="l">
              <a:lnSpc>
                <a:spcPct val="90000"/>
              </a:lnSpc>
              <a:spcBef>
                <a:spcPts val="0"/>
              </a:spcBef>
              <a:spcAft>
                <a:spcPts val="0"/>
              </a:spcAft>
              <a:buClr>
                <a:schemeClr val="dk1"/>
              </a:buClr>
              <a:buSzPct val="100000"/>
              <a:buNone/>
            </a:pPr>
            <a:r>
              <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2"/>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5" name="Google Shape;105;p2"/>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sp>
        <p:nvSpPr>
          <p:cNvPr id="106" name="Google Shape;106;p2"/>
          <p:cNvSpPr/>
          <p:nvPr/>
        </p:nvSpPr>
        <p:spPr>
          <a:xfrm>
            <a:off x="1496934" y="3984"/>
            <a:ext cx="9376632" cy="6858000"/>
          </a:xfrm>
          <a:custGeom>
            <a:rect b="b" l="l" r="r" t="t"/>
            <a:pathLst>
              <a:path extrusionOk="0" h="6858000" w="9376632">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a:gsLst>
              <a:gs pos="0">
                <a:srgbClr val="4EA72E">
                  <a:alpha val="20000"/>
                </a:srgbClr>
              </a:gs>
              <a:gs pos="16000">
                <a:srgbClr val="4EA72E">
                  <a:alpha val="20000"/>
                </a:srgbClr>
              </a:gs>
              <a:gs pos="85000">
                <a:srgbClr val="156082">
                  <a:alpha val="40000"/>
                </a:srgbClr>
              </a:gs>
              <a:gs pos="100000">
                <a:srgbClr val="156082">
                  <a:alpha val="40000"/>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107" name="Google Shape;107;p2"/>
          <p:cNvGrpSpPr/>
          <p:nvPr/>
        </p:nvGrpSpPr>
        <p:grpSpPr>
          <a:xfrm>
            <a:off x="1303402" y="3985"/>
            <a:ext cx="9772765" cy="6858000"/>
            <a:chOff x="1303402" y="36937"/>
            <a:chExt cx="9772765" cy="6858000"/>
          </a:xfrm>
        </p:grpSpPr>
        <p:sp>
          <p:nvSpPr>
            <p:cNvPr id="108" name="Google Shape;108;p2"/>
            <p:cNvSpPr/>
            <p:nvPr/>
          </p:nvSpPr>
          <p:spPr>
            <a:xfrm>
              <a:off x="1560551" y="36937"/>
              <a:ext cx="9313016" cy="6858000"/>
            </a:xfrm>
            <a:custGeom>
              <a:rect b="b" l="l" r="r" t="t"/>
              <a:pathLst>
                <a:path extrusionOk="0" h="6858000" w="9313016">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l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9" name="Google Shape;109;p2"/>
            <p:cNvSpPr/>
            <p:nvPr/>
          </p:nvSpPr>
          <p:spPr>
            <a:xfrm>
              <a:off x="1659468" y="36937"/>
              <a:ext cx="9065550" cy="6858000"/>
            </a:xfrm>
            <a:custGeom>
              <a:rect b="b" l="l" r="r" t="t"/>
              <a:pathLst>
                <a:path extrusionOk="0" h="6858000" w="906555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l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0" name="Google Shape;110;p2"/>
            <p:cNvSpPr/>
            <p:nvPr/>
          </p:nvSpPr>
          <p:spPr>
            <a:xfrm>
              <a:off x="1648217" y="36937"/>
              <a:ext cx="9088051" cy="6858000"/>
            </a:xfrm>
            <a:custGeom>
              <a:rect b="b" l="l" r="r" t="t"/>
              <a:pathLst>
                <a:path extrusionOk="0" h="6858000" w="9088051">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l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1" name="Google Shape;111;p2"/>
            <p:cNvSpPr/>
            <p:nvPr/>
          </p:nvSpPr>
          <p:spPr>
            <a:xfrm>
              <a:off x="1629061" y="36937"/>
              <a:ext cx="9107210" cy="6858000"/>
            </a:xfrm>
            <a:custGeom>
              <a:rect b="b" l="l" r="r" t="t"/>
              <a:pathLst>
                <a:path extrusionOk="0" h="6858000" w="910721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l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2" name="Google Shape;112;p2"/>
            <p:cNvSpPr/>
            <p:nvPr/>
          </p:nvSpPr>
          <p:spPr>
            <a:xfrm>
              <a:off x="1318434" y="36937"/>
              <a:ext cx="9747620" cy="6858000"/>
            </a:xfrm>
            <a:custGeom>
              <a:rect b="b" l="l" r="r" t="t"/>
              <a:pathLst>
                <a:path extrusionOk="0" h="6858000" w="974762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l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3" name="Google Shape;113;p2"/>
            <p:cNvSpPr/>
            <p:nvPr/>
          </p:nvSpPr>
          <p:spPr>
            <a:xfrm>
              <a:off x="1308320" y="36937"/>
              <a:ext cx="9767847" cy="6858000"/>
            </a:xfrm>
            <a:custGeom>
              <a:rect b="b" l="l" r="r" t="t"/>
              <a:pathLst>
                <a:path extrusionOk="0" h="6858000" w="9767847">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4" name="Google Shape;114;p2"/>
            <p:cNvSpPr/>
            <p:nvPr/>
          </p:nvSpPr>
          <p:spPr>
            <a:xfrm>
              <a:off x="1303402" y="36937"/>
              <a:ext cx="9767847" cy="6858000"/>
            </a:xfrm>
            <a:custGeom>
              <a:rect b="b" l="l" r="r" t="t"/>
              <a:pathLst>
                <a:path extrusionOk="0" h="6858000" w="9767847">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115" name="Google Shape;115;p2"/>
          <p:cNvSpPr txBox="1"/>
          <p:nvPr>
            <p:ph type="title"/>
          </p:nvPr>
        </p:nvSpPr>
        <p:spPr>
          <a:xfrm>
            <a:off x="3502731" y="1542402"/>
            <a:ext cx="5186842" cy="23879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5200"/>
              <a:buFont typeface="Play"/>
              <a:buNone/>
            </a:pPr>
            <a:r>
              <a:rPr lang="en-GB" sz="5200">
                <a:solidFill>
                  <a:schemeClr val="dk2"/>
                </a:solidFill>
                <a:latin typeface="Play"/>
                <a:ea typeface="Play"/>
                <a:cs typeface="Play"/>
                <a:sym typeface="Play"/>
              </a:rPr>
              <a:t>1- </a:t>
            </a:r>
            <a:r>
              <a:rPr lang="en-GB" sz="5200">
                <a:solidFill>
                  <a:schemeClr val="dk2"/>
                </a:solidFill>
              </a:rPr>
              <a:t>Data &amp; Variables”</a:t>
            </a:r>
            <a:endParaRPr/>
          </a:p>
        </p:txBody>
      </p:sp>
      <p:sp>
        <p:nvSpPr>
          <p:cNvPr id="116" name="Google Shape;116;p2"/>
          <p:cNvSpPr txBox="1"/>
          <p:nvPr>
            <p:ph idx="1" type="body"/>
          </p:nvPr>
        </p:nvSpPr>
        <p:spPr>
          <a:xfrm>
            <a:off x="3502135" y="4001587"/>
            <a:ext cx="518803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57575"/>
              </a:buClr>
              <a:buSzPts val="2400"/>
              <a:buNone/>
            </a:pPr>
            <a:r>
              <a:t/>
            </a:r>
            <a:endParaRPr sz="2400">
              <a:solidFill>
                <a:schemeClr val="dk2"/>
              </a:solidFill>
              <a:latin typeface="Arial"/>
              <a:ea typeface="Arial"/>
              <a:cs typeface="Arial"/>
              <a:sym typeface="Arial"/>
            </a:endParaRPr>
          </a:p>
        </p:txBody>
      </p:sp>
      <p:grpSp>
        <p:nvGrpSpPr>
          <p:cNvPr id="117" name="Google Shape;117;p2"/>
          <p:cNvGrpSpPr/>
          <p:nvPr/>
        </p:nvGrpSpPr>
        <p:grpSpPr>
          <a:xfrm>
            <a:off x="-305" y="-4155"/>
            <a:ext cx="2514948" cy="2174333"/>
            <a:chOff x="-305" y="-4155"/>
            <a:chExt cx="2514948" cy="2174333"/>
          </a:xfrm>
        </p:grpSpPr>
        <p:sp>
          <p:nvSpPr>
            <p:cNvPr id="118" name="Google Shape;118;p2"/>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9" name="Google Shape;119;p2"/>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0" name="Google Shape;120;p2"/>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sp>
          <p:nvSpPr>
            <p:cNvPr id="121" name="Google Shape;121;p2"/>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22" name="Google Shape;122;p2"/>
          <p:cNvGrpSpPr/>
          <p:nvPr/>
        </p:nvGrpSpPr>
        <p:grpSpPr>
          <a:xfrm rot="10800000">
            <a:off x="9685727" y="4683666"/>
            <a:ext cx="2514948" cy="2174333"/>
            <a:chOff x="-305" y="-4155"/>
            <a:chExt cx="2514948" cy="2174333"/>
          </a:xfrm>
        </p:grpSpPr>
        <p:sp>
          <p:nvSpPr>
            <p:cNvPr id="123" name="Google Shape;123;p2"/>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4" name="Google Shape;124;p2"/>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5" name="Google Shape;125;p2"/>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sp>
          <p:nvSpPr>
            <p:cNvPr id="126" name="Google Shape;126;p2"/>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3" name="Google Shape;133;p3"/>
          <p:cNvSpPr txBox="1"/>
          <p:nvPr>
            <p:ph type="title"/>
          </p:nvPr>
        </p:nvSpPr>
        <p:spPr>
          <a:xfrm>
            <a:off x="4980786" y="1534045"/>
            <a:ext cx="3429000" cy="17190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GB" sz="3000"/>
              <a:t>Watch the following video and answer these questions:</a:t>
            </a:r>
            <a:endParaRPr/>
          </a:p>
        </p:txBody>
      </p:sp>
      <p:sp>
        <p:nvSpPr>
          <p:cNvPr id="134" name="Google Shape;134;p3"/>
          <p:cNvSpPr/>
          <p:nvPr/>
        </p:nvSpPr>
        <p:spPr>
          <a:xfrm>
            <a:off x="643278" y="2573756"/>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5" name="Google Shape;135;p3"/>
          <p:cNvSpPr txBox="1"/>
          <p:nvPr>
            <p:ph idx="1" type="body"/>
          </p:nvPr>
        </p:nvSpPr>
        <p:spPr>
          <a:xfrm>
            <a:off x="630936" y="2807208"/>
            <a:ext cx="3429000" cy="34107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n-GB" sz="1700"/>
              <a:t>What is persuasion?</a:t>
            </a:r>
            <a:endParaRPr/>
          </a:p>
          <a:p>
            <a:pPr indent="-228600" lvl="0" marL="228600" rtl="0" algn="l">
              <a:lnSpc>
                <a:spcPct val="90000"/>
              </a:lnSpc>
              <a:spcBef>
                <a:spcPts val="1000"/>
              </a:spcBef>
              <a:spcAft>
                <a:spcPts val="0"/>
              </a:spcAft>
              <a:buClr>
                <a:schemeClr val="dk1"/>
              </a:buClr>
              <a:buSzPts val="1700"/>
              <a:buChar char="•"/>
            </a:pPr>
            <a:r>
              <a:rPr lang="en-GB" sz="1700"/>
              <a:t>What are the tools that we can use to support our arguments?</a:t>
            </a:r>
            <a:endParaRPr/>
          </a:p>
          <a:p>
            <a:pPr indent="-228600" lvl="0" marL="228600" rtl="0" algn="l">
              <a:lnSpc>
                <a:spcPct val="90000"/>
              </a:lnSpc>
              <a:spcBef>
                <a:spcPts val="1000"/>
              </a:spcBef>
              <a:spcAft>
                <a:spcPts val="0"/>
              </a:spcAft>
              <a:buClr>
                <a:schemeClr val="dk1"/>
              </a:buClr>
              <a:buSzPts val="1700"/>
              <a:buChar char="•"/>
            </a:pPr>
            <a:r>
              <a:rPr lang="en-GB" sz="1700"/>
              <a:t>When can we judge if we were able to persuade our listeners?</a:t>
            </a:r>
            <a:endParaRPr/>
          </a:p>
          <a:p>
            <a:pPr indent="-228600" lvl="0" marL="228600" rtl="0" algn="l">
              <a:lnSpc>
                <a:spcPct val="90000"/>
              </a:lnSpc>
              <a:spcBef>
                <a:spcPts val="1000"/>
              </a:spcBef>
              <a:spcAft>
                <a:spcPts val="0"/>
              </a:spcAft>
              <a:buClr>
                <a:schemeClr val="dk1"/>
              </a:buClr>
              <a:buSzPts val="1700"/>
              <a:buChar char="•"/>
            </a:pPr>
            <a:r>
              <a:rPr lang="en-GB" sz="1700"/>
              <a:t>What are the three components involved in persuasion?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4"/>
          <p:cNvSpPr txBox="1"/>
          <p:nvPr>
            <p:ph type="title"/>
          </p:nvPr>
        </p:nvSpPr>
        <p:spPr>
          <a:xfrm>
            <a:off x="630936" y="639520"/>
            <a:ext cx="10007756" cy="145304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Play"/>
              <a:buNone/>
            </a:pPr>
            <a:r>
              <a:rPr lang="en-GB" sz="3000"/>
              <a:t>Watch the following video and answer these questions:</a:t>
            </a:r>
            <a:endParaRPr/>
          </a:p>
        </p:txBody>
      </p:sp>
      <p:sp>
        <p:nvSpPr>
          <p:cNvPr id="142" name="Google Shape;142;p4"/>
          <p:cNvSpPr txBox="1"/>
          <p:nvPr>
            <p:ph idx="1" type="body"/>
          </p:nvPr>
        </p:nvSpPr>
        <p:spPr>
          <a:xfrm>
            <a:off x="630936" y="2807208"/>
            <a:ext cx="10636154" cy="274225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n-GB" sz="1700"/>
              <a:t>What is persuasion?</a:t>
            </a:r>
            <a:endParaRPr/>
          </a:p>
          <a:p>
            <a:pPr indent="0" lvl="0" marL="0" rtl="0" algn="l">
              <a:lnSpc>
                <a:spcPct val="90000"/>
              </a:lnSpc>
              <a:spcBef>
                <a:spcPts val="1000"/>
              </a:spcBef>
              <a:spcAft>
                <a:spcPts val="0"/>
              </a:spcAft>
              <a:buClr>
                <a:schemeClr val="dk1"/>
              </a:buClr>
              <a:buSzPts val="1700"/>
              <a:buNone/>
            </a:pPr>
            <a:r>
              <a:t/>
            </a:r>
            <a:endParaRPr sz="1700"/>
          </a:p>
          <a:p>
            <a:pPr indent="-228600" lvl="0" marL="228600" rtl="0" algn="l">
              <a:lnSpc>
                <a:spcPct val="90000"/>
              </a:lnSpc>
              <a:spcBef>
                <a:spcPts val="1000"/>
              </a:spcBef>
              <a:spcAft>
                <a:spcPts val="0"/>
              </a:spcAft>
              <a:buClr>
                <a:schemeClr val="dk1"/>
              </a:buClr>
              <a:buSzPts val="1700"/>
              <a:buChar char="•"/>
            </a:pPr>
            <a:r>
              <a:rPr lang="en-GB" sz="1700"/>
              <a:t>What are the tools that we can use to support our arguments?</a:t>
            </a:r>
            <a:endParaRPr/>
          </a:p>
          <a:p>
            <a:pPr indent="0" lvl="0" marL="0" rtl="0" algn="l">
              <a:lnSpc>
                <a:spcPct val="90000"/>
              </a:lnSpc>
              <a:spcBef>
                <a:spcPts val="1000"/>
              </a:spcBef>
              <a:spcAft>
                <a:spcPts val="0"/>
              </a:spcAft>
              <a:buClr>
                <a:schemeClr val="dk1"/>
              </a:buClr>
              <a:buSzPts val="1700"/>
              <a:buNone/>
            </a:pPr>
            <a:r>
              <a:t/>
            </a:r>
            <a:endParaRPr sz="1700"/>
          </a:p>
          <a:p>
            <a:pPr indent="-228600" lvl="0" marL="228600" rtl="0" algn="l">
              <a:lnSpc>
                <a:spcPct val="90000"/>
              </a:lnSpc>
              <a:spcBef>
                <a:spcPts val="1000"/>
              </a:spcBef>
              <a:spcAft>
                <a:spcPts val="0"/>
              </a:spcAft>
              <a:buClr>
                <a:schemeClr val="dk1"/>
              </a:buClr>
              <a:buSzPts val="1700"/>
              <a:buChar char="•"/>
            </a:pPr>
            <a:r>
              <a:rPr lang="en-GB" sz="1700"/>
              <a:t>When can we judge if we were able to persuade our listeners?</a:t>
            </a:r>
            <a:endParaRPr/>
          </a:p>
          <a:p>
            <a:pPr indent="0" lvl="0" marL="0" rtl="0" algn="l">
              <a:lnSpc>
                <a:spcPct val="90000"/>
              </a:lnSpc>
              <a:spcBef>
                <a:spcPts val="1000"/>
              </a:spcBef>
              <a:spcAft>
                <a:spcPts val="0"/>
              </a:spcAft>
              <a:buClr>
                <a:schemeClr val="dk1"/>
              </a:buClr>
              <a:buSzPts val="1700"/>
              <a:buNone/>
            </a:pPr>
            <a:r>
              <a:t/>
            </a:r>
            <a:endParaRPr sz="1700"/>
          </a:p>
          <a:p>
            <a:pPr indent="-228600" lvl="0" marL="228600" rtl="0" algn="l">
              <a:lnSpc>
                <a:spcPct val="90000"/>
              </a:lnSpc>
              <a:spcBef>
                <a:spcPts val="1000"/>
              </a:spcBef>
              <a:spcAft>
                <a:spcPts val="0"/>
              </a:spcAft>
              <a:buClr>
                <a:schemeClr val="dk1"/>
              </a:buClr>
              <a:buSzPts val="1700"/>
              <a:buChar char="•"/>
            </a:pPr>
            <a:r>
              <a:rPr lang="en-GB" sz="1700"/>
              <a:t>What are the three components involved in persuasion?</a:t>
            </a:r>
            <a:endParaRPr/>
          </a:p>
        </p:txBody>
      </p:sp>
      <p:sp>
        <p:nvSpPr>
          <p:cNvPr id="143" name="Google Shape;143;p4"/>
          <p:cNvSpPr txBox="1"/>
          <p:nvPr/>
        </p:nvSpPr>
        <p:spPr>
          <a:xfrm>
            <a:off x="1539362" y="3101700"/>
            <a:ext cx="842232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600" u="none" cap="none" strike="noStrike">
                <a:solidFill>
                  <a:srgbClr val="78206E"/>
                </a:solidFill>
                <a:latin typeface="Arial"/>
                <a:ea typeface="Arial"/>
                <a:cs typeface="Arial"/>
                <a:sym typeface="Arial"/>
              </a:rPr>
              <a:t>Using spoken or written messages to change someone’s attitude or behaviour</a:t>
            </a:r>
            <a:endParaRPr/>
          </a:p>
        </p:txBody>
      </p:sp>
      <p:sp>
        <p:nvSpPr>
          <p:cNvPr id="144" name="Google Shape;144;p4"/>
          <p:cNvSpPr txBox="1"/>
          <p:nvPr/>
        </p:nvSpPr>
        <p:spPr>
          <a:xfrm>
            <a:off x="1539362" y="3764486"/>
            <a:ext cx="67840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78206E"/>
                </a:solidFill>
                <a:latin typeface="Arial"/>
                <a:ea typeface="Arial"/>
                <a:cs typeface="Arial"/>
                <a:sym typeface="Arial"/>
              </a:rPr>
              <a:t>Hard evidence, sound reasoning, credibility and emotions</a:t>
            </a:r>
            <a:endParaRPr/>
          </a:p>
        </p:txBody>
      </p:sp>
      <p:sp>
        <p:nvSpPr>
          <p:cNvPr id="145" name="Google Shape;145;p4"/>
          <p:cNvSpPr txBox="1"/>
          <p:nvPr/>
        </p:nvSpPr>
        <p:spPr>
          <a:xfrm>
            <a:off x="920362" y="4633106"/>
            <a:ext cx="4651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78206E"/>
                </a:solidFill>
                <a:latin typeface="Arial"/>
                <a:ea typeface="Arial"/>
                <a:cs typeface="Arial"/>
                <a:sym typeface="Arial"/>
              </a:rPr>
              <a:t>It is enough to change someone's mind.</a:t>
            </a:r>
            <a:endParaRPr/>
          </a:p>
        </p:txBody>
      </p:sp>
      <p:sp>
        <p:nvSpPr>
          <p:cNvPr id="146" name="Google Shape;146;p4"/>
          <p:cNvSpPr txBox="1"/>
          <p:nvPr/>
        </p:nvSpPr>
        <p:spPr>
          <a:xfrm>
            <a:off x="1539362" y="5265939"/>
            <a:ext cx="645598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78206E"/>
                </a:solidFill>
                <a:latin typeface="Arial"/>
                <a:ea typeface="Arial"/>
                <a:cs typeface="Arial"/>
                <a:sym typeface="Arial"/>
              </a:rPr>
              <a:t>Speaker, sharing a message and an audience to be persuaded.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5"/>
          <p:cNvSpPr txBox="1"/>
          <p:nvPr>
            <p:ph type="title"/>
          </p:nvPr>
        </p:nvSpPr>
        <p:spPr>
          <a:xfrm>
            <a:off x="762000" y="1143486"/>
            <a:ext cx="4267200" cy="14374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GB" sz="3200"/>
              <a:t>McGuire’s Model of Persuasion</a:t>
            </a:r>
            <a:endParaRPr/>
          </a:p>
        </p:txBody>
      </p:sp>
      <p:cxnSp>
        <p:nvCxnSpPr>
          <p:cNvPr id="152" name="Google Shape;152;p5"/>
          <p:cNvCxnSpPr/>
          <p:nvPr/>
        </p:nvCxnSpPr>
        <p:spPr>
          <a:xfrm>
            <a:off x="865140" y="871146"/>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153" name="Google Shape;153;p5"/>
          <p:cNvSpPr txBox="1"/>
          <p:nvPr>
            <p:ph idx="1" type="body"/>
          </p:nvPr>
        </p:nvSpPr>
        <p:spPr>
          <a:xfrm>
            <a:off x="5825613" y="838200"/>
            <a:ext cx="5501247" cy="1866358"/>
          </a:xfrm>
          <a:prstGeom prst="rect">
            <a:avLst/>
          </a:prstGeom>
          <a:noFill/>
          <a:ln>
            <a:noFill/>
          </a:ln>
        </p:spPr>
        <p:txBody>
          <a:bodyPr anchorCtr="0" anchor="t" bIns="45700" lIns="91425" spcFirstLastPara="1" rIns="91425" wrap="square" tIns="45700">
            <a:normAutofit/>
          </a:bodyPr>
          <a:lstStyle/>
          <a:p>
            <a:pPr indent="-101600" lvl="0" marL="228600" rtl="0" algn="l">
              <a:lnSpc>
                <a:spcPct val="90000"/>
              </a:lnSpc>
              <a:spcBef>
                <a:spcPts val="0"/>
              </a:spcBef>
              <a:spcAft>
                <a:spcPts val="0"/>
              </a:spcAft>
              <a:buClr>
                <a:schemeClr val="dk1"/>
              </a:buClr>
              <a:buSzPts val="2000"/>
              <a:buNone/>
            </a:pPr>
            <a:r>
              <a:t/>
            </a:r>
            <a:endParaRPr sz="2000"/>
          </a:p>
        </p:txBody>
      </p:sp>
      <p:pic>
        <p:nvPicPr>
          <p:cNvPr descr="A close up of a paper&#10;&#10;AI-generated content may be incorrect." id="154" name="Google Shape;154;p5"/>
          <p:cNvPicPr preferRelativeResize="0"/>
          <p:nvPr/>
        </p:nvPicPr>
        <p:blipFill rotWithShape="1">
          <a:blip r:embed="rId3">
            <a:alphaModFix/>
          </a:blip>
          <a:srcRect b="0" l="0" r="0" t="0"/>
          <a:stretch/>
        </p:blipFill>
        <p:spPr>
          <a:xfrm rot="-5400000">
            <a:off x="4893108" y="-1383560"/>
            <a:ext cx="2405784" cy="11321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60" name="Google Shape;160;p6"/>
          <p:cNvSpPr/>
          <p:nvPr/>
        </p:nvSpPr>
        <p:spPr>
          <a:xfrm flipH="1">
            <a:off x="1" y="0"/>
            <a:ext cx="5511704" cy="6858000"/>
          </a:xfrm>
          <a:custGeom>
            <a:rect b="b" l="l" r="r" t="t"/>
            <a:pathLst>
              <a:path extrusionOk="0" h="6886576" w="5511704">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 name="Google Shape;161;p6"/>
          <p:cNvSpPr txBox="1"/>
          <p:nvPr>
            <p:ph type="title"/>
          </p:nvPr>
        </p:nvSpPr>
        <p:spPr>
          <a:xfrm>
            <a:off x="838200" y="713312"/>
            <a:ext cx="4038600"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The Five Stages of Persuasion</a:t>
            </a:r>
            <a:endParaRPr/>
          </a:p>
        </p:txBody>
      </p:sp>
      <p:sp>
        <p:nvSpPr>
          <p:cNvPr id="162" name="Google Shape;162;p6"/>
          <p:cNvSpPr txBox="1"/>
          <p:nvPr>
            <p:ph idx="1" type="body"/>
          </p:nvPr>
        </p:nvSpPr>
        <p:spPr>
          <a:xfrm>
            <a:off x="6095999" y="713313"/>
            <a:ext cx="5257801"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2000"/>
              <a:buNone/>
            </a:pPr>
            <a:r>
              <a:rPr b="1" lang="en-GB" sz="2000">
                <a:solidFill>
                  <a:srgbClr val="78206E"/>
                </a:solidFill>
              </a:rPr>
              <a:t>First: Awareness (Consciousness-raising) </a:t>
            </a:r>
            <a:endParaRPr/>
          </a:p>
          <a:p>
            <a:pPr indent="-228600" lvl="0" marL="228600" rtl="0" algn="l">
              <a:lnSpc>
                <a:spcPct val="90000"/>
              </a:lnSpc>
              <a:spcBef>
                <a:spcPts val="1000"/>
              </a:spcBef>
              <a:spcAft>
                <a:spcPts val="0"/>
              </a:spcAft>
              <a:buClr>
                <a:schemeClr val="dk1"/>
              </a:buClr>
              <a:buSzPts val="2000"/>
              <a:buChar char="•"/>
            </a:pPr>
            <a:r>
              <a:rPr lang="en-GB" sz="2000"/>
              <a:t>Includes knowing about a problem</a:t>
            </a:r>
            <a:endParaRPr/>
          </a:p>
          <a:p>
            <a:pPr indent="-228600" lvl="0" marL="228600" rtl="0" algn="l">
              <a:lnSpc>
                <a:spcPct val="90000"/>
              </a:lnSpc>
              <a:spcBef>
                <a:spcPts val="1000"/>
              </a:spcBef>
              <a:spcAft>
                <a:spcPts val="0"/>
              </a:spcAft>
              <a:buClr>
                <a:schemeClr val="dk1"/>
              </a:buClr>
              <a:buSzPts val="2000"/>
              <a:buChar char="•"/>
            </a:pPr>
            <a:r>
              <a:rPr lang="en-GB" sz="2000"/>
              <a:t>When people do not believe there actually is a problem</a:t>
            </a:r>
            <a:endParaRPr/>
          </a:p>
          <a:p>
            <a:pPr indent="-228600" lvl="0" marL="228600" rtl="0" algn="l">
              <a:lnSpc>
                <a:spcPct val="90000"/>
              </a:lnSpc>
              <a:spcBef>
                <a:spcPts val="1000"/>
              </a:spcBef>
              <a:spcAft>
                <a:spcPts val="0"/>
              </a:spcAft>
              <a:buClr>
                <a:schemeClr val="dk1"/>
              </a:buClr>
              <a:buSzPts val="2000"/>
              <a:buChar char="•"/>
            </a:pPr>
            <a:r>
              <a:rPr lang="en-GB" sz="2000"/>
              <a:t>Building awareness must demonstrate how important the issue is and how it affects the audience. </a:t>
            </a:r>
            <a:endParaRPr/>
          </a:p>
          <a:p>
            <a:pPr indent="-228600" lvl="0" marL="228600" rtl="0" algn="l">
              <a:lnSpc>
                <a:spcPct val="90000"/>
              </a:lnSpc>
              <a:spcBef>
                <a:spcPts val="1000"/>
              </a:spcBef>
              <a:spcAft>
                <a:spcPts val="0"/>
              </a:spcAft>
              <a:buClr>
                <a:schemeClr val="dk1"/>
              </a:buClr>
              <a:buSzPts val="2000"/>
              <a:buChar char="•"/>
            </a:pPr>
            <a:r>
              <a:rPr lang="en-GB" sz="2000"/>
              <a:t>Persuasive presenters must raise awareness before they move on to the next stage. </a:t>
            </a:r>
            <a:endParaRPr/>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68" name="Google Shape;168;p7"/>
          <p:cNvSpPr/>
          <p:nvPr/>
        </p:nvSpPr>
        <p:spPr>
          <a:xfrm flipH="1">
            <a:off x="1" y="0"/>
            <a:ext cx="5511704" cy="6858000"/>
          </a:xfrm>
          <a:custGeom>
            <a:rect b="b" l="l" r="r" t="t"/>
            <a:pathLst>
              <a:path extrusionOk="0" h="6886576" w="5511704">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7"/>
          <p:cNvSpPr txBox="1"/>
          <p:nvPr>
            <p:ph type="title"/>
          </p:nvPr>
        </p:nvSpPr>
        <p:spPr>
          <a:xfrm>
            <a:off x="838200" y="713312"/>
            <a:ext cx="4038600"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The Five Stages of Persuasion</a:t>
            </a:r>
            <a:endParaRPr/>
          </a:p>
        </p:txBody>
      </p:sp>
      <p:sp>
        <p:nvSpPr>
          <p:cNvPr id="170" name="Google Shape;170;p7"/>
          <p:cNvSpPr txBox="1"/>
          <p:nvPr>
            <p:ph idx="1" type="body"/>
          </p:nvPr>
        </p:nvSpPr>
        <p:spPr>
          <a:xfrm>
            <a:off x="6157545" y="1038629"/>
            <a:ext cx="5257801"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2000"/>
              <a:buNone/>
            </a:pPr>
            <a:r>
              <a:rPr b="1" lang="en-GB" sz="2000">
                <a:solidFill>
                  <a:srgbClr val="78206E"/>
                </a:solidFill>
              </a:rPr>
              <a:t>Second: Understanding</a:t>
            </a:r>
            <a:endParaRPr/>
          </a:p>
          <a:p>
            <a:pPr indent="-228600" lvl="0" marL="228600" rtl="0" algn="l">
              <a:lnSpc>
                <a:spcPct val="90000"/>
              </a:lnSpc>
              <a:spcBef>
                <a:spcPts val="1000"/>
              </a:spcBef>
              <a:spcAft>
                <a:spcPts val="0"/>
              </a:spcAft>
              <a:buClr>
                <a:schemeClr val="dk1"/>
              </a:buClr>
              <a:buSzPts val="2000"/>
              <a:buChar char="•"/>
            </a:pPr>
            <a:r>
              <a:rPr lang="en-GB" sz="2000"/>
              <a:t>Listeners must understand what is being said to them</a:t>
            </a:r>
            <a:endParaRPr/>
          </a:p>
          <a:p>
            <a:pPr indent="-228600" lvl="0" marL="228600" rtl="0" algn="l">
              <a:lnSpc>
                <a:spcPct val="90000"/>
              </a:lnSpc>
              <a:spcBef>
                <a:spcPts val="1000"/>
              </a:spcBef>
              <a:spcAft>
                <a:spcPts val="0"/>
              </a:spcAft>
              <a:buClr>
                <a:schemeClr val="dk1"/>
              </a:buClr>
              <a:buSzPts val="2000"/>
              <a:buChar char="•"/>
            </a:pPr>
            <a:r>
              <a:rPr lang="en-GB" sz="2000"/>
              <a:t>They must be </a:t>
            </a:r>
            <a:r>
              <a:rPr b="1" i="1" lang="en-GB" sz="2000" u="sng">
                <a:solidFill>
                  <a:srgbClr val="BF4F14"/>
                </a:solidFill>
              </a:rPr>
              <a:t>moved </a:t>
            </a:r>
            <a:r>
              <a:rPr lang="en-GB" sz="2000"/>
              <a:t>by the ideas presented and know how to carry them out.</a:t>
            </a:r>
            <a:endParaRPr/>
          </a:p>
          <a:p>
            <a:pPr indent="-228600" lvl="0" marL="228600" rtl="0" algn="l">
              <a:lnSpc>
                <a:spcPct val="90000"/>
              </a:lnSpc>
              <a:spcBef>
                <a:spcPts val="1000"/>
              </a:spcBef>
              <a:spcAft>
                <a:spcPts val="0"/>
              </a:spcAft>
              <a:buClr>
                <a:schemeClr val="dk1"/>
              </a:buClr>
              <a:buSzPts val="2000"/>
              <a:buChar char="•"/>
            </a:pPr>
            <a:r>
              <a:rPr lang="en-GB" sz="2000"/>
              <a:t>Persuasive ideas strike sparks in the minds of listeners. </a:t>
            </a:r>
            <a:endParaRPr/>
          </a:p>
          <a:p>
            <a:pPr indent="-228600" lvl="0" marL="228600" rtl="0" algn="l">
              <a:lnSpc>
                <a:spcPct val="90000"/>
              </a:lnSpc>
              <a:spcBef>
                <a:spcPts val="1000"/>
              </a:spcBef>
              <a:spcAft>
                <a:spcPts val="0"/>
              </a:spcAft>
              <a:buClr>
                <a:schemeClr val="dk1"/>
              </a:buClr>
              <a:buSzPts val="2000"/>
              <a:buChar char="•"/>
            </a:pPr>
            <a:r>
              <a:rPr lang="en-GB" sz="2000"/>
              <a:t>Listeners use critical thinking skills to engage with your argument.</a:t>
            </a:r>
            <a:endParaRPr/>
          </a:p>
          <a:p>
            <a:pPr indent="-228600" lvl="0" marL="228600" rtl="0" algn="l">
              <a:lnSpc>
                <a:spcPct val="90000"/>
              </a:lnSpc>
              <a:spcBef>
                <a:spcPts val="1000"/>
              </a:spcBef>
              <a:spcAft>
                <a:spcPts val="0"/>
              </a:spcAft>
              <a:buClr>
                <a:schemeClr val="dk1"/>
              </a:buClr>
              <a:buSzPts val="2000"/>
              <a:buChar char="•"/>
            </a:pPr>
            <a:r>
              <a:rPr lang="en-GB" sz="2000"/>
              <a:t>They might think of counter arguments and weigh what you say against opposing points of view. </a:t>
            </a:r>
            <a:endParaRPr/>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76" name="Google Shape;176;p8"/>
          <p:cNvSpPr/>
          <p:nvPr/>
        </p:nvSpPr>
        <p:spPr>
          <a:xfrm flipH="1">
            <a:off x="1" y="0"/>
            <a:ext cx="5511704" cy="6858000"/>
          </a:xfrm>
          <a:custGeom>
            <a:rect b="b" l="l" r="r" t="t"/>
            <a:pathLst>
              <a:path extrusionOk="0" h="6886576" w="5511704">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8"/>
          <p:cNvSpPr txBox="1"/>
          <p:nvPr>
            <p:ph type="title"/>
          </p:nvPr>
        </p:nvSpPr>
        <p:spPr>
          <a:xfrm>
            <a:off x="838200" y="713312"/>
            <a:ext cx="4038600"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The Five Stages of Persuasion</a:t>
            </a:r>
            <a:endParaRPr/>
          </a:p>
        </p:txBody>
      </p:sp>
      <p:sp>
        <p:nvSpPr>
          <p:cNvPr id="178" name="Google Shape;178;p8"/>
          <p:cNvSpPr txBox="1"/>
          <p:nvPr>
            <p:ph idx="1" type="body"/>
          </p:nvPr>
        </p:nvSpPr>
        <p:spPr>
          <a:xfrm>
            <a:off x="6095999" y="713313"/>
            <a:ext cx="5257801"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2000"/>
              <a:buNone/>
            </a:pPr>
            <a:r>
              <a:rPr b="1" lang="en-GB" sz="2000">
                <a:solidFill>
                  <a:srgbClr val="78206E"/>
                </a:solidFill>
              </a:rPr>
              <a:t>Third: Agreement</a:t>
            </a:r>
            <a:endParaRPr/>
          </a:p>
          <a:p>
            <a:pPr indent="-228600" lvl="0" marL="228600" rtl="0" algn="l">
              <a:lnSpc>
                <a:spcPct val="90000"/>
              </a:lnSpc>
              <a:spcBef>
                <a:spcPts val="1000"/>
              </a:spcBef>
              <a:spcAft>
                <a:spcPts val="0"/>
              </a:spcAft>
              <a:buClr>
                <a:schemeClr val="dk1"/>
              </a:buClr>
              <a:buSzPts val="2000"/>
              <a:buChar char="•"/>
            </a:pPr>
            <a:r>
              <a:rPr lang="en-GB" sz="2000"/>
              <a:t>Listeners accept recommendations presented by the speaker. </a:t>
            </a:r>
            <a:endParaRPr/>
          </a:p>
          <a:p>
            <a:pPr indent="-228600" lvl="0" marL="228600" rtl="0" algn="l">
              <a:lnSpc>
                <a:spcPct val="90000"/>
              </a:lnSpc>
              <a:spcBef>
                <a:spcPts val="1000"/>
              </a:spcBef>
              <a:spcAft>
                <a:spcPts val="0"/>
              </a:spcAft>
              <a:buClr>
                <a:schemeClr val="dk1"/>
              </a:buClr>
              <a:buSzPts val="2000"/>
              <a:buChar char="•"/>
            </a:pPr>
            <a:r>
              <a:rPr lang="en-GB" sz="2000"/>
              <a:t>Agreement can range from small concessions to total acceptance. </a:t>
            </a:r>
            <a:endParaRPr/>
          </a:p>
          <a:p>
            <a:pPr indent="-228600" lvl="0" marL="228600" rtl="0" algn="l">
              <a:lnSpc>
                <a:spcPct val="90000"/>
              </a:lnSpc>
              <a:spcBef>
                <a:spcPts val="1000"/>
              </a:spcBef>
              <a:spcAft>
                <a:spcPts val="0"/>
              </a:spcAft>
              <a:buClr>
                <a:schemeClr val="dk1"/>
              </a:buClr>
              <a:buSzPts val="2000"/>
              <a:buChar char="•"/>
            </a:pPr>
            <a:r>
              <a:rPr lang="en-GB" sz="2000"/>
              <a:t>You can use stories, vivid images in addition to reasoning. </a:t>
            </a:r>
            <a:endParaRPr/>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4" name="Google Shape;184;p9"/>
          <p:cNvSpPr/>
          <p:nvPr/>
        </p:nvSpPr>
        <p:spPr>
          <a:xfrm flipH="1">
            <a:off x="1" y="0"/>
            <a:ext cx="5511704" cy="6858000"/>
          </a:xfrm>
          <a:custGeom>
            <a:rect b="b" l="l" r="r" t="t"/>
            <a:pathLst>
              <a:path extrusionOk="0" h="6886576" w="5511704">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9"/>
          <p:cNvSpPr txBox="1"/>
          <p:nvPr>
            <p:ph type="title"/>
          </p:nvPr>
        </p:nvSpPr>
        <p:spPr>
          <a:xfrm>
            <a:off x="838200" y="713312"/>
            <a:ext cx="4038600"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The Five Stages of Persuasion</a:t>
            </a:r>
            <a:endParaRPr/>
          </a:p>
        </p:txBody>
      </p:sp>
      <p:sp>
        <p:nvSpPr>
          <p:cNvPr id="186" name="Google Shape;186;p9"/>
          <p:cNvSpPr txBox="1"/>
          <p:nvPr>
            <p:ph idx="1" type="body"/>
          </p:nvPr>
        </p:nvSpPr>
        <p:spPr>
          <a:xfrm>
            <a:off x="6221428" y="1288667"/>
            <a:ext cx="5257800" cy="543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2000"/>
              <a:buNone/>
            </a:pPr>
            <a:r>
              <a:rPr b="1" lang="en-GB" sz="2000">
                <a:solidFill>
                  <a:srgbClr val="78206E"/>
                </a:solidFill>
              </a:rPr>
              <a:t>Fourth: Enactment</a:t>
            </a:r>
            <a:endParaRPr/>
          </a:p>
          <a:p>
            <a:pPr indent="-228600" lvl="0" marL="228600" rtl="0" algn="l">
              <a:lnSpc>
                <a:spcPct val="90000"/>
              </a:lnSpc>
              <a:spcBef>
                <a:spcPts val="1000"/>
              </a:spcBef>
              <a:spcAft>
                <a:spcPts val="0"/>
              </a:spcAft>
              <a:buClr>
                <a:schemeClr val="dk1"/>
              </a:buClr>
              <a:buSzPts val="2000"/>
              <a:buChar char="•"/>
            </a:pPr>
            <a:r>
              <a:rPr lang="en-GB" sz="2000"/>
              <a:t>You invite your listeners to </a:t>
            </a:r>
            <a:r>
              <a:rPr b="1" lang="en-GB" sz="2000" u="sng">
                <a:solidFill>
                  <a:srgbClr val="BF4F14"/>
                </a:solidFill>
              </a:rPr>
              <a:t>ACT</a:t>
            </a:r>
            <a:r>
              <a:rPr lang="en-GB" sz="2000"/>
              <a:t> and </a:t>
            </a:r>
            <a:r>
              <a:rPr b="1" lang="en-GB" sz="2000" u="sng">
                <a:solidFill>
                  <a:srgbClr val="BF4F14"/>
                </a:solidFill>
              </a:rPr>
              <a:t>COMMIT</a:t>
            </a:r>
            <a:endParaRPr/>
          </a:p>
          <a:p>
            <a:pPr indent="-228600" lvl="0" marL="228600" rtl="0" algn="l">
              <a:lnSpc>
                <a:spcPct val="90000"/>
              </a:lnSpc>
              <a:spcBef>
                <a:spcPts val="1000"/>
              </a:spcBef>
              <a:spcAft>
                <a:spcPts val="0"/>
              </a:spcAft>
              <a:buClr>
                <a:schemeClr val="dk1"/>
              </a:buClr>
              <a:buSzPts val="2000"/>
              <a:buChar char="•"/>
            </a:pPr>
            <a:r>
              <a:rPr lang="en-GB" sz="2000"/>
              <a:t>You channel their agreement into constructive action.</a:t>
            </a:r>
            <a:endParaRPr/>
          </a:p>
          <a:p>
            <a:pPr indent="-228600" lvl="0" marL="228600" rtl="0" algn="l">
              <a:lnSpc>
                <a:spcPct val="90000"/>
              </a:lnSpc>
              <a:spcBef>
                <a:spcPts val="1000"/>
              </a:spcBef>
              <a:spcAft>
                <a:spcPts val="0"/>
              </a:spcAft>
              <a:buClr>
                <a:schemeClr val="dk1"/>
              </a:buClr>
              <a:buSzPts val="2000"/>
              <a:buChar char="•"/>
            </a:pPr>
            <a:r>
              <a:rPr lang="en-GB" sz="2000"/>
              <a:t>Changing agreement into action often requires the use of emotional appeal and colourful language</a:t>
            </a:r>
            <a:endParaRPr/>
          </a:p>
          <a:p>
            <a:pPr indent="-228600" lvl="0" marL="228600" rtl="0" algn="l">
              <a:lnSpc>
                <a:spcPct val="90000"/>
              </a:lnSpc>
              <a:spcBef>
                <a:spcPts val="1000"/>
              </a:spcBef>
              <a:spcAft>
                <a:spcPts val="0"/>
              </a:spcAft>
              <a:buClr>
                <a:schemeClr val="dk1"/>
              </a:buClr>
              <a:buSzPts val="2000"/>
              <a:buChar char="•"/>
            </a:pPr>
            <a:r>
              <a:rPr lang="en-GB" sz="2000"/>
              <a:t>Emotional Language arouses sympathy and help listeners see the human dimension of problems. </a:t>
            </a:r>
            <a:endParaRPr/>
          </a:p>
          <a:p>
            <a:pPr indent="-101600" lvl="0" marL="22860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2" name="Google Shape;192;p10"/>
          <p:cNvSpPr/>
          <p:nvPr/>
        </p:nvSpPr>
        <p:spPr>
          <a:xfrm flipH="1">
            <a:off x="1" y="0"/>
            <a:ext cx="5511704" cy="6858000"/>
          </a:xfrm>
          <a:custGeom>
            <a:rect b="b" l="l" r="r" t="t"/>
            <a:pathLst>
              <a:path extrusionOk="0" h="6886576" w="5511704">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10"/>
          <p:cNvSpPr txBox="1"/>
          <p:nvPr>
            <p:ph type="title"/>
          </p:nvPr>
        </p:nvSpPr>
        <p:spPr>
          <a:xfrm>
            <a:off x="838200" y="713312"/>
            <a:ext cx="4038600"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The Five Stages of Persuasion</a:t>
            </a:r>
            <a:endParaRPr/>
          </a:p>
        </p:txBody>
      </p:sp>
      <p:sp>
        <p:nvSpPr>
          <p:cNvPr id="194" name="Google Shape;194;p10"/>
          <p:cNvSpPr txBox="1"/>
          <p:nvPr>
            <p:ph idx="1" type="body"/>
          </p:nvPr>
        </p:nvSpPr>
        <p:spPr>
          <a:xfrm>
            <a:off x="6221428" y="1249340"/>
            <a:ext cx="5257801" cy="54313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2000"/>
              <a:buNone/>
            </a:pPr>
            <a:r>
              <a:rPr b="1" lang="en-GB" sz="2000">
                <a:solidFill>
                  <a:srgbClr val="78206E"/>
                </a:solidFill>
              </a:rPr>
              <a:t>Fifth: Integration</a:t>
            </a:r>
            <a:endParaRPr/>
          </a:p>
          <a:p>
            <a:pPr indent="-228600" lvl="0" marL="228600" rtl="0" algn="l">
              <a:lnSpc>
                <a:spcPct val="90000"/>
              </a:lnSpc>
              <a:spcBef>
                <a:spcPts val="1000"/>
              </a:spcBef>
              <a:spcAft>
                <a:spcPts val="0"/>
              </a:spcAft>
              <a:buClr>
                <a:schemeClr val="dk1"/>
              </a:buClr>
              <a:buSzPts val="2000"/>
              <a:buChar char="•"/>
            </a:pPr>
            <a:r>
              <a:rPr lang="en-GB" sz="2000"/>
              <a:t>Integration of new attitudes with the listener’s beliefs and values.</a:t>
            </a:r>
            <a:endParaRPr/>
          </a:p>
          <a:p>
            <a:pPr indent="-228600" lvl="0" marL="228600" rtl="0" algn="l">
              <a:lnSpc>
                <a:spcPct val="90000"/>
              </a:lnSpc>
              <a:spcBef>
                <a:spcPts val="1000"/>
              </a:spcBef>
              <a:spcAft>
                <a:spcPts val="0"/>
              </a:spcAft>
              <a:buClr>
                <a:schemeClr val="dk1"/>
              </a:buClr>
              <a:buSzPts val="2000"/>
              <a:buChar char="•"/>
            </a:pPr>
            <a:r>
              <a:rPr lang="en-GB" sz="2000"/>
              <a:t>Listeners adopt your point of view as part of their value system </a:t>
            </a:r>
            <a:endParaRPr/>
          </a:p>
          <a:p>
            <a:pPr indent="-228600" lvl="0" marL="228600" rtl="0" algn="l">
              <a:lnSpc>
                <a:spcPct val="90000"/>
              </a:lnSpc>
              <a:spcBef>
                <a:spcPts val="1000"/>
              </a:spcBef>
              <a:spcAft>
                <a:spcPts val="0"/>
              </a:spcAft>
              <a:buClr>
                <a:schemeClr val="dk1"/>
              </a:buClr>
              <a:buSzPts val="2000"/>
              <a:buChar char="•"/>
            </a:pPr>
            <a:r>
              <a:rPr lang="en-GB" sz="2000"/>
              <a:t>Listeners must make the connection between what you say and what they believe in. </a:t>
            </a:r>
            <a:endParaRPr/>
          </a:p>
          <a:p>
            <a:pPr indent="-228600" lvl="0" marL="228600" rtl="0" algn="l">
              <a:lnSpc>
                <a:spcPct val="90000"/>
              </a:lnSpc>
              <a:spcBef>
                <a:spcPts val="1000"/>
              </a:spcBef>
              <a:spcAft>
                <a:spcPts val="0"/>
              </a:spcAft>
              <a:buClr>
                <a:schemeClr val="dk1"/>
              </a:buClr>
              <a:buSzPts val="2000"/>
              <a:buChar char="•"/>
            </a:pPr>
            <a:r>
              <a:rPr lang="en-GB" sz="2000"/>
              <a:t>You need to show listeners how they, their societies or their loved ones will benefit from what you say, and how what you say goes with their ideological, religious and other beliefs. </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12"/>
          <p:cNvSpPr txBox="1"/>
          <p:nvPr>
            <p:ph type="title"/>
          </p:nvPr>
        </p:nvSpPr>
        <p:spPr>
          <a:xfrm>
            <a:off x="838200" y="365125"/>
            <a:ext cx="6890237" cy="17010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BF4F14"/>
              </a:buClr>
              <a:buSzPts val="2400"/>
              <a:buFont typeface="Play"/>
              <a:buNone/>
            </a:pPr>
            <a:r>
              <a:rPr lang="en-GB" sz="2400">
                <a:solidFill>
                  <a:srgbClr val="BF4F14"/>
                </a:solidFill>
              </a:rPr>
              <a:t>Read the following neutral, fact-based paragraph and its more emotion-appealing version. What differences were made?</a:t>
            </a:r>
            <a:endParaRPr/>
          </a:p>
        </p:txBody>
      </p:sp>
      <p:sp>
        <p:nvSpPr>
          <p:cNvPr id="201" name="Google Shape;201;p12"/>
          <p:cNvSpPr txBox="1"/>
          <p:nvPr>
            <p:ph idx="1" type="body"/>
          </p:nvPr>
        </p:nvSpPr>
        <p:spPr>
          <a:xfrm>
            <a:off x="838200" y="2333297"/>
            <a:ext cx="6666300" cy="4085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i="1" lang="en-GB" sz="2000"/>
              <a:t>Informative Example:</a:t>
            </a:r>
            <a:endParaRPr/>
          </a:p>
          <a:p>
            <a:pPr indent="0" lvl="0" marL="0" rtl="0" algn="l">
              <a:lnSpc>
                <a:spcPct val="90000"/>
              </a:lnSpc>
              <a:spcBef>
                <a:spcPts val="1000"/>
              </a:spcBef>
              <a:spcAft>
                <a:spcPts val="0"/>
              </a:spcAft>
              <a:buClr>
                <a:schemeClr val="dk1"/>
              </a:buClr>
              <a:buSzPts val="2000"/>
              <a:buNone/>
            </a:pPr>
            <a:r>
              <a:rPr lang="en-GB" sz="2000"/>
              <a:t>"Deforestation is the process of clearing forests for agriculture, urban development, or logging. Each year, approximately 10 million hectares of forest are lost worldwide. This contributes to habitat loss, carbon emissions, and changes in local climates.”</a:t>
            </a:r>
            <a:endParaRPr/>
          </a:p>
          <a:p>
            <a:pPr indent="0" lvl="0" marL="0" rtl="0" algn="l">
              <a:lnSpc>
                <a:spcPct val="90000"/>
              </a:lnSpc>
              <a:spcBef>
                <a:spcPts val="1000"/>
              </a:spcBef>
              <a:spcAft>
                <a:spcPts val="0"/>
              </a:spcAft>
              <a:buClr>
                <a:schemeClr val="dk1"/>
              </a:buClr>
              <a:buSzPts val="2000"/>
              <a:buNone/>
            </a:pPr>
            <a:r>
              <a:rPr b="1" i="1" lang="en-GB" sz="2000"/>
              <a:t>Emotional Version (1): </a:t>
            </a:r>
            <a:endParaRPr/>
          </a:p>
          <a:p>
            <a:pPr indent="0" lvl="0" marL="0" rtl="0" algn="l">
              <a:lnSpc>
                <a:spcPct val="90000"/>
              </a:lnSpc>
              <a:spcBef>
                <a:spcPts val="1000"/>
              </a:spcBef>
              <a:spcAft>
                <a:spcPts val="0"/>
              </a:spcAft>
              <a:buClr>
                <a:schemeClr val="dk1"/>
              </a:buClr>
              <a:buSzPts val="2000"/>
              <a:buNone/>
            </a:pPr>
            <a:r>
              <a:rPr lang="en-GB" sz="2000"/>
              <a:t>"Every year, millions of trees vanish—quietly, without protest. Forests that once teemed with life become barren ground. The homes of countless animals are destroyed, and the Earth loses one more piece of itself. The air grows warmer. The world a little quieter.”</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p:txBody>
      </p:sp>
      <p:pic>
        <p:nvPicPr>
          <p:cNvPr descr="Green trees in the forest" id="202" name="Google Shape;202;p12"/>
          <p:cNvPicPr preferRelativeResize="0"/>
          <p:nvPr/>
        </p:nvPicPr>
        <p:blipFill rotWithShape="1">
          <a:blip r:embed="rId3">
            <a:alphaModFix/>
          </a:blip>
          <a:srcRect b="0" l="11204" r="23585" t="0"/>
          <a:stretch/>
        </p:blipFill>
        <p:spPr>
          <a:xfrm>
            <a:off x="7412636" y="10"/>
            <a:ext cx="4785135" cy="6858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11"/>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08" name="Google Shape;208;p11"/>
          <p:cNvSpPr/>
          <p:nvPr/>
        </p:nvSpPr>
        <p:spPr>
          <a:xfrm>
            <a:off x="305" y="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grpSp>
        <p:nvGrpSpPr>
          <p:cNvPr id="209" name="Google Shape;209;p11"/>
          <p:cNvGrpSpPr/>
          <p:nvPr/>
        </p:nvGrpSpPr>
        <p:grpSpPr>
          <a:xfrm>
            <a:off x="-21863" y="508838"/>
            <a:ext cx="5217958" cy="6239661"/>
            <a:chOff x="-19221" y="251144"/>
            <a:chExt cx="5217958" cy="6239661"/>
          </a:xfrm>
        </p:grpSpPr>
        <p:sp>
          <p:nvSpPr>
            <p:cNvPr id="210" name="Google Shape;210;p11"/>
            <p:cNvSpPr/>
            <p:nvPr/>
          </p:nvSpPr>
          <p:spPr>
            <a:xfrm>
              <a:off x="-19221" y="251144"/>
              <a:ext cx="5187198" cy="6239661"/>
            </a:xfrm>
            <a:custGeom>
              <a:rect b="b" l="l" r="r" t="t"/>
              <a:pathLst>
                <a:path extrusionOk="0" h="6239661" w="5187198">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11" name="Google Shape;211;p11"/>
            <p:cNvSpPr/>
            <p:nvPr/>
          </p:nvSpPr>
          <p:spPr>
            <a:xfrm>
              <a:off x="-19220" y="297400"/>
              <a:ext cx="5215811" cy="6107388"/>
            </a:xfrm>
            <a:custGeom>
              <a:rect b="b" l="l" r="r" t="t"/>
              <a:pathLst>
                <a:path extrusionOk="0" h="6107388" w="5215811">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12" name="Google Shape;212;p11"/>
            <p:cNvSpPr/>
            <p:nvPr/>
          </p:nvSpPr>
          <p:spPr>
            <a:xfrm>
              <a:off x="-19221" y="319367"/>
              <a:ext cx="5217956" cy="6100079"/>
            </a:xfrm>
            <a:custGeom>
              <a:rect b="b" l="l" r="r" t="t"/>
              <a:pathLst>
                <a:path extrusionOk="0" h="6100079" w="5217956">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13" name="Google Shape;213;p11"/>
            <p:cNvSpPr/>
            <p:nvPr/>
          </p:nvSpPr>
          <p:spPr>
            <a:xfrm>
              <a:off x="-19220" y="319367"/>
              <a:ext cx="5217957" cy="6100079"/>
            </a:xfrm>
            <a:custGeom>
              <a:rect b="b" l="l" r="r" t="t"/>
              <a:pathLst>
                <a:path extrusionOk="0" h="6100079" w="5217957">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214" name="Google Shape;214;p11"/>
          <p:cNvSpPr txBox="1"/>
          <p:nvPr>
            <p:ph type="title"/>
          </p:nvPr>
        </p:nvSpPr>
        <p:spPr>
          <a:xfrm>
            <a:off x="640080" y="1243013"/>
            <a:ext cx="3855720" cy="43719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Play"/>
              <a:buNone/>
            </a:pPr>
            <a:r>
              <a:rPr lang="en-GB" sz="3600">
                <a:solidFill>
                  <a:schemeClr val="dk2"/>
                </a:solidFill>
              </a:rPr>
              <a:t>The Five Stages of Persuasion</a:t>
            </a:r>
            <a:endParaRPr/>
          </a:p>
        </p:txBody>
      </p:sp>
      <p:sp>
        <p:nvSpPr>
          <p:cNvPr id="215" name="Google Shape;215;p11"/>
          <p:cNvSpPr txBox="1"/>
          <p:nvPr>
            <p:ph idx="1" type="body"/>
          </p:nvPr>
        </p:nvSpPr>
        <p:spPr>
          <a:xfrm>
            <a:off x="6172200" y="804672"/>
            <a:ext cx="5221224" cy="52303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8206E"/>
              </a:buClr>
              <a:buSzPts val="1800"/>
              <a:buNone/>
            </a:pPr>
            <a:r>
              <a:rPr b="1" lang="en-GB" sz="1800">
                <a:solidFill>
                  <a:srgbClr val="78206E"/>
                </a:solidFill>
              </a:rPr>
              <a:t>Which persuasive strategy (Ethos, Pathos, Logos or Mythos) can be more fittingly used in each of the afore-mentioned stages of persuasion? </a:t>
            </a:r>
            <a:endParaRPr/>
          </a:p>
          <a:p>
            <a:pPr indent="0" lvl="0" marL="0" rtl="0" algn="l">
              <a:lnSpc>
                <a:spcPct val="90000"/>
              </a:lnSpc>
              <a:spcBef>
                <a:spcPts val="1000"/>
              </a:spcBef>
              <a:spcAft>
                <a:spcPts val="0"/>
              </a:spcAft>
              <a:buClr>
                <a:schemeClr val="dk1"/>
              </a:buClr>
              <a:buSzPts val="1800"/>
              <a:buNone/>
            </a:pPr>
            <a:r>
              <a:t/>
            </a:r>
            <a:endParaRPr b="1" sz="1800">
              <a:solidFill>
                <a:schemeClr val="dk2"/>
              </a:solidFill>
            </a:endParaRPr>
          </a:p>
          <a:p>
            <a:pPr indent="0" lvl="0" marL="0" rtl="0" algn="l">
              <a:lnSpc>
                <a:spcPct val="90000"/>
              </a:lnSpc>
              <a:spcBef>
                <a:spcPts val="1000"/>
              </a:spcBef>
              <a:spcAft>
                <a:spcPts val="0"/>
              </a:spcAft>
              <a:buClr>
                <a:srgbClr val="BF4F14"/>
              </a:buClr>
              <a:buSzPts val="1800"/>
              <a:buNone/>
            </a:pPr>
            <a:r>
              <a:rPr i="1" lang="en-GB" sz="1800" u="sng">
                <a:solidFill>
                  <a:srgbClr val="BF4F14"/>
                </a:solidFill>
              </a:rPr>
              <a:t>It can be argued that </a:t>
            </a:r>
            <a:endParaRPr/>
          </a:p>
          <a:p>
            <a:pPr indent="0" lvl="0" marL="0" rtl="0" algn="l">
              <a:lnSpc>
                <a:spcPct val="90000"/>
              </a:lnSpc>
              <a:spcBef>
                <a:spcPts val="1000"/>
              </a:spcBef>
              <a:spcAft>
                <a:spcPts val="0"/>
              </a:spcAft>
              <a:buClr>
                <a:schemeClr val="dk2"/>
              </a:buClr>
              <a:buSzPts val="1800"/>
              <a:buNone/>
            </a:pPr>
            <a:r>
              <a:rPr b="1" lang="en-GB" sz="1800" u="sng">
                <a:solidFill>
                  <a:schemeClr val="dk2"/>
                </a:solidFill>
              </a:rPr>
              <a:t>Logos</a:t>
            </a:r>
            <a:r>
              <a:rPr lang="en-GB" sz="1800">
                <a:solidFill>
                  <a:schemeClr val="dk2"/>
                </a:solidFill>
              </a:rPr>
              <a:t> and </a:t>
            </a:r>
            <a:r>
              <a:rPr b="1" lang="en-GB" sz="1800" u="sng">
                <a:solidFill>
                  <a:schemeClr val="dk2"/>
                </a:solidFill>
              </a:rPr>
              <a:t>Ethos</a:t>
            </a:r>
            <a:r>
              <a:rPr lang="en-GB" sz="1800">
                <a:solidFill>
                  <a:schemeClr val="dk2"/>
                </a:solidFill>
              </a:rPr>
              <a:t> can be more suitable in the </a:t>
            </a:r>
            <a:r>
              <a:rPr b="1" lang="en-GB" sz="1800" u="sng">
                <a:solidFill>
                  <a:schemeClr val="dk2"/>
                </a:solidFill>
              </a:rPr>
              <a:t>awareness</a:t>
            </a:r>
            <a:r>
              <a:rPr lang="en-GB" sz="1800">
                <a:solidFill>
                  <a:schemeClr val="dk2"/>
                </a:solidFill>
              </a:rPr>
              <a:t> and </a:t>
            </a:r>
            <a:r>
              <a:rPr b="1" lang="en-GB" sz="1800" u="sng">
                <a:solidFill>
                  <a:schemeClr val="dk2"/>
                </a:solidFill>
              </a:rPr>
              <a:t>understanding</a:t>
            </a:r>
            <a:r>
              <a:rPr lang="en-GB" sz="1800">
                <a:solidFill>
                  <a:schemeClr val="dk2"/>
                </a:solidFill>
              </a:rPr>
              <a:t> stages,</a:t>
            </a:r>
            <a:endParaRPr/>
          </a:p>
          <a:p>
            <a:pPr indent="0" lvl="0" marL="0" rtl="0" algn="l">
              <a:lnSpc>
                <a:spcPct val="90000"/>
              </a:lnSpc>
              <a:spcBef>
                <a:spcPts val="1000"/>
              </a:spcBef>
              <a:spcAft>
                <a:spcPts val="0"/>
              </a:spcAft>
              <a:buClr>
                <a:schemeClr val="dk1"/>
              </a:buClr>
              <a:buSzPts val="1800"/>
              <a:buNone/>
            </a:pPr>
            <a:r>
              <a:t/>
            </a:r>
            <a:endParaRPr sz="1800">
              <a:solidFill>
                <a:schemeClr val="dk2"/>
              </a:solidFill>
            </a:endParaRPr>
          </a:p>
          <a:p>
            <a:pPr indent="0" lvl="0" marL="0" rtl="0" algn="l">
              <a:lnSpc>
                <a:spcPct val="90000"/>
              </a:lnSpc>
              <a:spcBef>
                <a:spcPts val="1000"/>
              </a:spcBef>
              <a:spcAft>
                <a:spcPts val="0"/>
              </a:spcAft>
              <a:buClr>
                <a:schemeClr val="dk2"/>
              </a:buClr>
              <a:buSzPts val="1800"/>
              <a:buNone/>
            </a:pPr>
            <a:r>
              <a:rPr lang="en-GB" sz="1800">
                <a:solidFill>
                  <a:schemeClr val="dk2"/>
                </a:solidFill>
              </a:rPr>
              <a:t>whereas</a:t>
            </a:r>
            <a:r>
              <a:rPr b="1" lang="en-GB" sz="1800">
                <a:solidFill>
                  <a:schemeClr val="dk2"/>
                </a:solidFill>
              </a:rPr>
              <a:t> </a:t>
            </a:r>
            <a:r>
              <a:rPr b="1" lang="en-GB" sz="1800" u="sng">
                <a:solidFill>
                  <a:schemeClr val="dk2"/>
                </a:solidFill>
              </a:rPr>
              <a:t>Pathos</a:t>
            </a:r>
            <a:r>
              <a:rPr b="1" lang="en-GB" sz="1800">
                <a:solidFill>
                  <a:schemeClr val="dk2"/>
                </a:solidFill>
              </a:rPr>
              <a:t> </a:t>
            </a:r>
            <a:r>
              <a:rPr lang="en-GB" sz="1800">
                <a:solidFill>
                  <a:schemeClr val="dk2"/>
                </a:solidFill>
              </a:rPr>
              <a:t>and</a:t>
            </a:r>
            <a:r>
              <a:rPr b="1" lang="en-GB" sz="1800">
                <a:solidFill>
                  <a:schemeClr val="dk2"/>
                </a:solidFill>
              </a:rPr>
              <a:t> </a:t>
            </a:r>
            <a:r>
              <a:rPr b="1" lang="en-GB" sz="1800" u="sng">
                <a:solidFill>
                  <a:schemeClr val="dk2"/>
                </a:solidFill>
              </a:rPr>
              <a:t>Mythos</a:t>
            </a:r>
            <a:r>
              <a:rPr b="1" lang="en-GB" sz="1800">
                <a:solidFill>
                  <a:schemeClr val="dk2"/>
                </a:solidFill>
              </a:rPr>
              <a:t> </a:t>
            </a:r>
            <a:r>
              <a:rPr lang="en-GB" sz="1800">
                <a:solidFill>
                  <a:schemeClr val="dk2"/>
                </a:solidFill>
              </a:rPr>
              <a:t>more so in the </a:t>
            </a:r>
            <a:r>
              <a:rPr b="1" lang="en-GB" sz="1800" u="sng">
                <a:solidFill>
                  <a:schemeClr val="dk2"/>
                </a:solidFill>
              </a:rPr>
              <a:t>agreement</a:t>
            </a:r>
            <a:r>
              <a:rPr lang="en-GB" sz="1800">
                <a:solidFill>
                  <a:schemeClr val="dk2"/>
                </a:solidFill>
              </a:rPr>
              <a:t>, </a:t>
            </a:r>
            <a:r>
              <a:rPr b="1" lang="en-GB" sz="1800" u="sng">
                <a:solidFill>
                  <a:schemeClr val="dk2"/>
                </a:solidFill>
              </a:rPr>
              <a:t>enactment</a:t>
            </a:r>
            <a:r>
              <a:rPr lang="en-GB" sz="1800">
                <a:solidFill>
                  <a:schemeClr val="dk2"/>
                </a:solidFill>
              </a:rPr>
              <a:t> and </a:t>
            </a:r>
            <a:r>
              <a:rPr b="1" lang="en-GB" sz="1800" u="sng">
                <a:solidFill>
                  <a:schemeClr val="dk2"/>
                </a:solidFill>
              </a:rPr>
              <a:t>integration</a:t>
            </a:r>
            <a:r>
              <a:rPr lang="en-GB" sz="1800">
                <a:solidFill>
                  <a:schemeClr val="dk2"/>
                </a:solidFill>
              </a:rPr>
              <a:t> stages.</a:t>
            </a:r>
            <a:endParaRPr/>
          </a:p>
          <a:p>
            <a:pPr indent="0" lvl="0" marL="0" rtl="0" algn="l">
              <a:lnSpc>
                <a:spcPct val="90000"/>
              </a:lnSpc>
              <a:spcBef>
                <a:spcPts val="1000"/>
              </a:spcBef>
              <a:spcAft>
                <a:spcPts val="0"/>
              </a:spcAft>
              <a:buClr>
                <a:schemeClr val="dk1"/>
              </a:buClr>
              <a:buSzPts val="1800"/>
              <a:buNone/>
            </a:pPr>
            <a:r>
              <a:t/>
            </a:r>
            <a:endParaRPr sz="1800">
              <a:solidFill>
                <a:schemeClr val="dk2"/>
              </a:solidFill>
            </a:endParaRPr>
          </a:p>
          <a:p>
            <a:pPr indent="-114300" lvl="0" marL="228600" rtl="0" algn="l">
              <a:lnSpc>
                <a:spcPct val="90000"/>
              </a:lnSpc>
              <a:spcBef>
                <a:spcPts val="1000"/>
              </a:spcBef>
              <a:spcAft>
                <a:spcPts val="0"/>
              </a:spcAft>
              <a:buClr>
                <a:schemeClr val="dk1"/>
              </a:buClr>
              <a:buSzPts val="1800"/>
              <a:buNone/>
            </a:pPr>
            <a:r>
              <a:t/>
            </a:r>
            <a:endParaRPr sz="1800">
              <a:solidFill>
                <a:schemeClr val="dk2"/>
              </a:solidFill>
            </a:endParaRPr>
          </a:p>
          <a:p>
            <a:pPr indent="-114300" lvl="0" marL="228600" rtl="0" algn="l">
              <a:lnSpc>
                <a:spcPct val="90000"/>
              </a:lnSpc>
              <a:spcBef>
                <a:spcPts val="1000"/>
              </a:spcBef>
              <a:spcAft>
                <a:spcPts val="0"/>
              </a:spcAft>
              <a:buClr>
                <a:schemeClr val="dk1"/>
              </a:buClr>
              <a:buSzPts val="1800"/>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2025-10-04T13:50:20Z</dcterms:created>
  <dc:creator>Mahmoud Samy</dc:creator>
</cp:coreProperties>
</file>