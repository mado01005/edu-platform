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wNg1qXbGiNH90ZiRerXsIUTO7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E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Communication and Presentation Skills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736379" y="358486"/>
            <a:ext cx="747417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EG">
                <a:latin typeface="Arial"/>
                <a:ea typeface="Arial"/>
                <a:cs typeface="Arial"/>
                <a:sym typeface="Arial"/>
              </a:rPr>
              <a:t>Course Objectives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527947" y="1304060"/>
            <a:ext cx="8821793" cy="54708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Enhance students’ </a:t>
            </a:r>
            <a:r>
              <a:rPr lang="en-EG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communication skills</a:t>
            </a: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, with a particular focus on </a:t>
            </a:r>
            <a:r>
              <a:rPr lang="en-EG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writing (work-related) and presentation skills</a:t>
            </a: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Provide both </a:t>
            </a:r>
            <a:r>
              <a:rPr lang="en-EG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theoretical and practical foundations </a:t>
            </a: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needed for </a:t>
            </a:r>
            <a:r>
              <a:rPr lang="en-EG" sz="1800"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effective workplace communication.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Enable students to master </a:t>
            </a:r>
            <a:r>
              <a:rPr lang="en-EG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various communication skills </a:t>
            </a: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required in professional and </a:t>
            </a:r>
            <a:r>
              <a:rPr lang="en-EG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contexts.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Help students build on their </a:t>
            </a:r>
            <a:r>
              <a:rPr lang="en-EG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communication strengths.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Support students in </a:t>
            </a:r>
            <a:r>
              <a:rPr lang="en-EG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identifying and remedying communication weaknesses </a:t>
            </a: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through constructive feedback.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Develop students’ </a:t>
            </a:r>
            <a:r>
              <a:rPr lang="en-EG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ability to communicate effectively </a:t>
            </a: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in the workplace.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Train students to </a:t>
            </a:r>
            <a:r>
              <a:rPr lang="en-EG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conduct formal and professional meetings</a:t>
            </a: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Prepare students </a:t>
            </a:r>
            <a:r>
              <a:rPr lang="en-EG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conduct and participate effectively in interviews</a:t>
            </a: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Develop students’ skills </a:t>
            </a:r>
            <a:r>
              <a:rPr lang="en-EG" sz="18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delivering persuasive presentations</a:t>
            </a:r>
            <a:r>
              <a:rPr lang="en-EG" sz="18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8915400" y="2358913"/>
            <a:ext cx="2140172" cy="2140172"/>
          </a:xfrm>
          <a:prstGeom prst="ellipse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ducation" id="93" name="Google Shape;9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3987" y="2857501"/>
            <a:ext cx="1142998" cy="1142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965430" y="629268"/>
            <a:ext cx="6586491" cy="128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b="1" lang="en-EG">
                <a:solidFill>
                  <a:srgbClr val="FF0000"/>
                </a:solidFill>
              </a:rPr>
              <a:t>Course requirements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5126490" y="2298603"/>
            <a:ext cx="6586489" cy="4308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EG" sz="2400">
                <a:latin typeface="Times New Roman"/>
                <a:ea typeface="Times New Roman"/>
                <a:cs typeface="Times New Roman"/>
                <a:sym typeface="Times New Roman"/>
              </a:rPr>
              <a:t>Course Title: Communication and Presentation Skills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EG" sz="2400">
                <a:latin typeface="Times New Roman"/>
                <a:ea typeface="Times New Roman"/>
                <a:cs typeface="Times New Roman"/>
                <a:sym typeface="Times New Roman"/>
              </a:rPr>
              <a:t>Course Code: UNR 2101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EG" sz="2400">
                <a:latin typeface="Times New Roman"/>
                <a:ea typeface="Times New Roman"/>
                <a:cs typeface="Times New Roman"/>
                <a:sym typeface="Times New Roman"/>
              </a:rPr>
              <a:t>Bring the booklet to class every time.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EG" sz="2400">
                <a:latin typeface="Times New Roman"/>
                <a:ea typeface="Times New Roman"/>
                <a:cs typeface="Times New Roman"/>
                <a:sym typeface="Times New Roman"/>
              </a:rPr>
              <a:t>The material includes the </a:t>
            </a:r>
            <a:r>
              <a:rPr lang="en-EG" sz="2400"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PPTs and documents </a:t>
            </a:r>
            <a:r>
              <a:rPr lang="en-EG" sz="2400">
                <a:latin typeface="Times New Roman"/>
                <a:ea typeface="Times New Roman"/>
                <a:cs typeface="Times New Roman"/>
                <a:sym typeface="Times New Roman"/>
              </a:rPr>
              <a:t>that you will be asked to print before the session. The book is just for reference and will not be included in the exams.     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Writing an appointment on a paper agenda" id="100" name="Google Shape;100;p3"/>
          <p:cNvPicPr preferRelativeResize="0"/>
          <p:nvPr/>
        </p:nvPicPr>
        <p:blipFill rotWithShape="1">
          <a:blip r:embed="rId3">
            <a:alphaModFix/>
          </a:blip>
          <a:srcRect b="-1" l="0" r="54881" t="0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1" name="Google Shape;101;p3"/>
          <p:cNvCxnSpPr/>
          <p:nvPr/>
        </p:nvCxnSpPr>
        <p:spPr>
          <a:xfrm>
            <a:off x="5080934" y="2115117"/>
            <a:ext cx="6309360" cy="0"/>
          </a:xfrm>
          <a:prstGeom prst="straightConnector1">
            <a:avLst/>
          </a:prstGeom>
          <a:noFill/>
          <a:ln cap="flat" cmpd="sng" w="19050">
            <a:solidFill>
              <a:srgbClr val="E9B09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4965430" y="629268"/>
            <a:ext cx="6586491" cy="128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11111"/>
              <a:buFont typeface="Calibri"/>
              <a:buNone/>
            </a:pPr>
            <a:r>
              <a:rPr b="1" lang="en-EG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rules and regulations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4965431" y="2438400"/>
            <a:ext cx="6586489" cy="3785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EG" sz="2400">
                <a:latin typeface="Times New Roman"/>
                <a:ea typeface="Times New Roman"/>
                <a:cs typeface="Times New Roman"/>
                <a:sym typeface="Times New Roman"/>
              </a:rPr>
              <a:t>The course has a theoretical and practical part. You are required to study both.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EG" sz="2400">
                <a:latin typeface="Times New Roman"/>
                <a:ea typeface="Times New Roman"/>
                <a:cs typeface="Times New Roman"/>
                <a:sym typeface="Times New Roman"/>
              </a:rPr>
              <a:t>Both parts are included in the documents and the PPts.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EG" sz="2400">
                <a:latin typeface="Times New Roman"/>
                <a:ea typeface="Times New Roman"/>
                <a:cs typeface="Times New Roman"/>
                <a:sym typeface="Times New Roman"/>
              </a:rPr>
              <a:t>Make sure that your </a:t>
            </a:r>
            <a:r>
              <a:rPr b="1" lang="en-EG" sz="2400">
                <a:latin typeface="Times New Roman"/>
                <a:ea typeface="Times New Roman"/>
                <a:cs typeface="Times New Roman"/>
                <a:sym typeface="Times New Roman"/>
              </a:rPr>
              <a:t>Koretext</a:t>
            </a:r>
            <a:r>
              <a:rPr lang="en-EG" sz="2400">
                <a:latin typeface="Times New Roman"/>
                <a:ea typeface="Times New Roman"/>
                <a:cs typeface="Times New Roman"/>
                <a:sym typeface="Times New Roman"/>
              </a:rPr>
              <a:t> account is activated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EG" sz="2400">
                <a:latin typeface="Times New Roman"/>
                <a:ea typeface="Times New Roman"/>
                <a:cs typeface="Times New Roman"/>
                <a:sym typeface="Times New Roman"/>
              </a:rPr>
              <a:t>You will be required to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Perform a persuasive presentation by week 7.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Perform an interview by week 12.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Perform a meeting by week 14.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Writing an appointment on a paper agenda" id="108" name="Google Shape;108;p4"/>
          <p:cNvPicPr preferRelativeResize="0"/>
          <p:nvPr/>
        </p:nvPicPr>
        <p:blipFill rotWithShape="1">
          <a:blip r:embed="rId3">
            <a:alphaModFix/>
          </a:blip>
          <a:srcRect b="-1" l="0" r="54881" t="0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4"/>
          <p:cNvCxnSpPr/>
          <p:nvPr/>
        </p:nvCxnSpPr>
        <p:spPr>
          <a:xfrm>
            <a:off x="5080934" y="2115117"/>
            <a:ext cx="6309360" cy="0"/>
          </a:xfrm>
          <a:prstGeom prst="straightConnector1">
            <a:avLst/>
          </a:prstGeom>
          <a:noFill/>
          <a:ln cap="flat" cmpd="sng" w="19050">
            <a:solidFill>
              <a:srgbClr val="E9B09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" y="0"/>
            <a:ext cx="4167271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5"/>
          <p:cNvSpPr txBox="1"/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EG">
                <a:solidFill>
                  <a:srgbClr val="FFFFFF"/>
                </a:solidFill>
                <a:latin typeface="Aharoni"/>
                <a:ea typeface="Aharoni"/>
                <a:cs typeface="Aharoni"/>
                <a:sym typeface="Aharoni"/>
              </a:rPr>
              <a:t>EXAM ISSUES WE MUST AVOID</a:t>
            </a:r>
            <a:endParaRPr>
              <a:solidFill>
                <a:srgbClr val="FFFFFF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17" name="Google Shape;117;p5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Not attending either </a:t>
            </a:r>
            <a:r>
              <a:rPr lang="en-E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meeting or the interview </a:t>
            </a: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will result </a:t>
            </a:r>
            <a:r>
              <a:rPr lang="en-EG">
                <a:solidFill>
                  <a:srgbClr val="C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 losing the mark</a:t>
            </a: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Making up for these practical projects is very hard since they depend on the group.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Grades will not be the same for all the groups in a joint assignment, but it depends on individual performance.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Persuasive presentations should be done individually or in pairs. Topics are general and not specific.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Details of all assignments will be given later.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You are not allowed to switch classes unless you do so through the Academy’s system.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/>
          <p:nvPr/>
        </p:nvSpPr>
        <p:spPr>
          <a:xfrm>
            <a:off x="0" y="-41563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6"/>
          <p:cNvSpPr txBox="1"/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EG" sz="4000">
                <a:latin typeface="Times New Roman"/>
                <a:ea typeface="Times New Roman"/>
                <a:cs typeface="Times New Roman"/>
                <a:sym typeface="Times New Roman"/>
              </a:rPr>
              <a:t>Grading scheme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6"/>
          <p:cNvSpPr/>
          <p:nvPr/>
        </p:nvSpPr>
        <p:spPr>
          <a:xfrm rot="5400000">
            <a:off x="1627450" y="3462719"/>
            <a:ext cx="5410200" cy="18288"/>
          </a:xfrm>
          <a:custGeom>
            <a:rect b="b" l="l" r="r" t="t"/>
            <a:pathLst>
              <a:path extrusionOk="0" fill="none" h="18288" w="541020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extrusionOk="0" h="18288" w="541020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6" name="Google Shape;126;p6"/>
          <p:cNvGrpSpPr/>
          <p:nvPr/>
        </p:nvGrpSpPr>
        <p:grpSpPr>
          <a:xfrm>
            <a:off x="4648025" y="640825"/>
            <a:ext cx="7827251" cy="8496868"/>
            <a:chOff x="0" y="0"/>
            <a:chExt cx="6900512" cy="5536140"/>
          </a:xfrm>
        </p:grpSpPr>
        <p:cxnSp>
          <p:nvCxnSpPr>
            <p:cNvPr id="127" name="Google Shape;127;p6"/>
            <p:cNvCxnSpPr/>
            <p:nvPr/>
          </p:nvCxnSpPr>
          <p:spPr>
            <a:xfrm>
              <a:off x="0" y="0"/>
              <a:ext cx="6900512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28" name="Google Shape;128;p6"/>
            <p:cNvSpPr/>
            <p:nvPr/>
          </p:nvSpPr>
          <p:spPr>
            <a:xfrm>
              <a:off x="0" y="0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9" name="Google Shape;129;p6"/>
            <p:cNvSpPr txBox="1"/>
            <p:nvPr/>
          </p:nvSpPr>
          <p:spPr>
            <a:xfrm>
              <a:off x="0" y="0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alibri"/>
                <a:buNone/>
              </a:pPr>
              <a:r>
                <a:rPr b="0" i="0" lang="en-EG" sz="4000" u="none" cap="none" strike="noStrike">
                  <a:solidFill>
                    <a:schemeClr val="dk1"/>
                  </a:solidFill>
                  <a:highlight>
                    <a:srgbClr val="FFFF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7th week exam 20</a:t>
              </a:r>
              <a:endParaRPr b="0" i="0" sz="40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0" name="Google Shape;130;p6"/>
            <p:cNvCxnSpPr/>
            <p:nvPr/>
          </p:nvCxnSpPr>
          <p:spPr>
            <a:xfrm>
              <a:off x="0" y="692017"/>
              <a:ext cx="6900512" cy="0"/>
            </a:xfrm>
            <a:prstGeom prst="straightConnector1">
              <a:avLst/>
            </a:prstGeom>
            <a:solidFill>
              <a:schemeClr val="accent3"/>
            </a:solidFill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1" name="Google Shape;131;p6"/>
            <p:cNvSpPr/>
            <p:nvPr/>
          </p:nvSpPr>
          <p:spPr>
            <a:xfrm>
              <a:off x="0" y="692017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6"/>
            <p:cNvSpPr txBox="1"/>
            <p:nvPr/>
          </p:nvSpPr>
          <p:spPr>
            <a:xfrm>
              <a:off x="0" y="692017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alibri"/>
                <a:buNone/>
              </a:pPr>
              <a:r>
                <a:rPr b="0" i="0" lang="en-EG" sz="4000" u="none" cap="none" strike="noStrike">
                  <a:solidFill>
                    <a:schemeClr val="dk1"/>
                  </a:solidFill>
                  <a:highlight>
                    <a:srgbClr val="FFFF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Persuasive presentation 10</a:t>
              </a:r>
              <a:endParaRPr b="0" i="0" sz="40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3" name="Google Shape;133;p6"/>
            <p:cNvCxnSpPr/>
            <p:nvPr/>
          </p:nvCxnSpPr>
          <p:spPr>
            <a:xfrm>
              <a:off x="0" y="1384035"/>
              <a:ext cx="6900512" cy="0"/>
            </a:xfrm>
            <a:prstGeom prst="straightConnector1">
              <a:avLst/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4" name="Google Shape;134;p6"/>
            <p:cNvSpPr/>
            <p:nvPr/>
          </p:nvSpPr>
          <p:spPr>
            <a:xfrm>
              <a:off x="0" y="1384035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6"/>
            <p:cNvSpPr txBox="1"/>
            <p:nvPr/>
          </p:nvSpPr>
          <p:spPr>
            <a:xfrm>
              <a:off x="0" y="1384035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alibri"/>
                <a:buNone/>
              </a:pPr>
              <a:r>
                <a:rPr b="0" i="0" lang="en-EG" sz="4000" u="none" cap="none" strike="noStrike">
                  <a:solidFill>
                    <a:schemeClr val="dk1"/>
                  </a:solidFill>
                  <a:highlight>
                    <a:srgbClr val="00FF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Interview 10</a:t>
              </a:r>
              <a:endParaRPr b="0" i="0" sz="40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6" name="Google Shape;136;p6"/>
            <p:cNvCxnSpPr/>
            <p:nvPr/>
          </p:nvCxnSpPr>
          <p:spPr>
            <a:xfrm>
              <a:off x="0" y="2076052"/>
              <a:ext cx="6900512" cy="0"/>
            </a:xfrm>
            <a:prstGeom prst="straightConnector1">
              <a:avLst/>
            </a:prstGeom>
            <a:solidFill>
              <a:srgbClr val="599BD5"/>
            </a:solidFill>
            <a:ln cap="flat" cmpd="sng" w="12700">
              <a:solidFill>
                <a:srgbClr val="599BD5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37" name="Google Shape;137;p6"/>
            <p:cNvSpPr/>
            <p:nvPr/>
          </p:nvSpPr>
          <p:spPr>
            <a:xfrm>
              <a:off x="0" y="2076052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8" name="Google Shape;138;p6"/>
            <p:cNvSpPr txBox="1"/>
            <p:nvPr/>
          </p:nvSpPr>
          <p:spPr>
            <a:xfrm>
              <a:off x="0" y="2076052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alibri"/>
                <a:buNone/>
              </a:pPr>
              <a:r>
                <a:rPr b="0" i="0" lang="en-EG" sz="4000" u="none" cap="none" strike="noStrike">
                  <a:solidFill>
                    <a:schemeClr val="dk1"/>
                  </a:solidFill>
                  <a:highlight>
                    <a:srgbClr val="00FF0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12th week exam 10</a:t>
              </a:r>
              <a:endParaRPr b="0" i="0" sz="4000" u="none" cap="none" strike="noStrike">
                <a:solidFill>
                  <a:srgbClr val="000000"/>
                </a:solidFill>
                <a:highlight>
                  <a:srgbClr val="00FF00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39" name="Google Shape;139;p6"/>
            <p:cNvCxnSpPr/>
            <p:nvPr/>
          </p:nvCxnSpPr>
          <p:spPr>
            <a:xfrm>
              <a:off x="0" y="2768070"/>
              <a:ext cx="6900512" cy="0"/>
            </a:xfrm>
            <a:prstGeom prst="straightConnector1">
              <a:avLst/>
            </a:prstGeom>
            <a:solidFill>
              <a:schemeClr val="accent6"/>
            </a:solidFill>
            <a:ln cap="flat" cmpd="sng" w="12700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0" name="Google Shape;140;p6"/>
            <p:cNvSpPr/>
            <p:nvPr/>
          </p:nvSpPr>
          <p:spPr>
            <a:xfrm>
              <a:off x="0" y="2768070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6"/>
            <p:cNvSpPr txBox="1"/>
            <p:nvPr/>
          </p:nvSpPr>
          <p:spPr>
            <a:xfrm>
              <a:off x="0" y="2768070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EG" sz="4000" u="none" cap="none" strike="noStrike">
                  <a:solidFill>
                    <a:srgbClr val="000000"/>
                  </a:solidFill>
                  <a:highlight>
                    <a:srgbClr val="C0C0C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Meeting Minutes 5</a:t>
              </a:r>
              <a:endParaRPr b="0" i="0" sz="40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2" name="Google Shape;142;p6"/>
            <p:cNvCxnSpPr/>
            <p:nvPr/>
          </p:nvCxnSpPr>
          <p:spPr>
            <a:xfrm>
              <a:off x="0" y="3460088"/>
              <a:ext cx="6900512" cy="0"/>
            </a:xfrm>
            <a:prstGeom prst="straightConnector1">
              <a:avLst/>
            </a:prstGeom>
            <a:solidFill>
              <a:schemeClr val="accent2"/>
            </a:solidFill>
            <a:ln cap="flat" cmpd="sng" w="127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3" name="Google Shape;143;p6"/>
            <p:cNvSpPr/>
            <p:nvPr/>
          </p:nvSpPr>
          <p:spPr>
            <a:xfrm>
              <a:off x="0" y="3460088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4" name="Google Shape;144;p6"/>
            <p:cNvSpPr txBox="1"/>
            <p:nvPr/>
          </p:nvSpPr>
          <p:spPr>
            <a:xfrm>
              <a:off x="0" y="3460088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alibri"/>
                <a:buNone/>
              </a:pPr>
              <a:r>
                <a:rPr b="0" i="0" lang="en-EG" sz="4000" u="none" cap="none" strike="noStrike">
                  <a:solidFill>
                    <a:schemeClr val="dk1"/>
                  </a:solidFill>
                  <a:highlight>
                    <a:srgbClr val="C0C0C0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Participation and commitiment </a:t>
              </a:r>
              <a:r>
                <a:rPr b="0" i="0" lang="en-EG" sz="4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</a:t>
              </a:r>
              <a:endParaRPr b="0" i="0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5" name="Google Shape;145;p6"/>
            <p:cNvCxnSpPr/>
            <p:nvPr/>
          </p:nvCxnSpPr>
          <p:spPr>
            <a:xfrm>
              <a:off x="0" y="4152105"/>
              <a:ext cx="6900512" cy="0"/>
            </a:xfrm>
            <a:prstGeom prst="straightConnector1">
              <a:avLst/>
            </a:prstGeom>
            <a:solidFill>
              <a:schemeClr val="accent3"/>
            </a:solidFill>
            <a:ln cap="flat" cmpd="sng" w="12700">
              <a:solidFill>
                <a:schemeClr val="accent3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6" name="Google Shape;146;p6"/>
            <p:cNvSpPr/>
            <p:nvPr/>
          </p:nvSpPr>
          <p:spPr>
            <a:xfrm>
              <a:off x="0" y="4152105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6"/>
            <p:cNvSpPr txBox="1"/>
            <p:nvPr/>
          </p:nvSpPr>
          <p:spPr>
            <a:xfrm>
              <a:off x="0" y="4152105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EG" sz="4000" u="none" cap="none" strike="noStrike">
                  <a:solidFill>
                    <a:srgbClr val="000000"/>
                  </a:solidFill>
                  <a:highlight>
                    <a:srgbClr val="FF00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Meeting 10</a:t>
              </a:r>
              <a:endParaRPr b="0" i="0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alibri"/>
                <a:buNone/>
              </a:pPr>
              <a:r>
                <a:t/>
              </a:r>
              <a:endParaRPr b="0" i="0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8" name="Google Shape;148;p6"/>
            <p:cNvCxnSpPr/>
            <p:nvPr/>
          </p:nvCxnSpPr>
          <p:spPr>
            <a:xfrm>
              <a:off x="0" y="4844123"/>
              <a:ext cx="6900512" cy="0"/>
            </a:xfrm>
            <a:prstGeom prst="straightConnector1">
              <a:avLst/>
            </a:prstGeom>
            <a:solidFill>
              <a:schemeClr val="accent4"/>
            </a:solidFill>
            <a:ln cap="flat" cmpd="sng" w="12700">
              <a:solidFill>
                <a:schemeClr val="accent4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9" name="Google Shape;149;p6"/>
            <p:cNvSpPr/>
            <p:nvPr/>
          </p:nvSpPr>
          <p:spPr>
            <a:xfrm>
              <a:off x="0" y="4844123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6"/>
            <p:cNvSpPr txBox="1"/>
            <p:nvPr/>
          </p:nvSpPr>
          <p:spPr>
            <a:xfrm>
              <a:off x="0" y="4844123"/>
              <a:ext cx="6900512" cy="6920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Calibri"/>
                <a:buNone/>
              </a:pPr>
              <a:r>
                <a:rPr b="0" i="0" lang="en-EG" sz="4000" u="none" cap="none" strike="noStrike">
                  <a:solidFill>
                    <a:schemeClr val="dk1"/>
                  </a:solidFill>
                  <a:highlight>
                    <a:srgbClr val="FF00FF"/>
                  </a:highlight>
                  <a:latin typeface="Times New Roman"/>
                  <a:ea typeface="Times New Roman"/>
                  <a:cs typeface="Times New Roman"/>
                  <a:sym typeface="Times New Roman"/>
                </a:rPr>
                <a:t>Final exam 30</a:t>
              </a:r>
              <a:endParaRPr b="0" i="0" sz="4000" u="none" cap="none" strike="noStrike">
                <a:solidFill>
                  <a:srgbClr val="000000"/>
                </a:solidFill>
                <a:highlight>
                  <a:srgbClr val="FF00FF"/>
                </a:highlight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E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ABSENCE AND ATTENDANCE </a:t>
            </a:r>
            <a:endParaRPr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EG" sz="5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EG" sz="5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TIMES FIRST WARNING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EG" sz="5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aseline="30000" lang="en-EG" sz="5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EG" sz="5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TIME SECOND WARNING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EG" sz="5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aseline="30000" lang="en-EG" sz="54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EG" sz="540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WITHDRAWAL </a:t>
            </a:r>
            <a:endParaRPr sz="540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EG"/>
              <a:t>Classroom rules </a:t>
            </a:r>
            <a:endParaRPr b="1"/>
          </a:p>
        </p:txBody>
      </p:sp>
      <p:sp>
        <p:nvSpPr>
          <p:cNvPr id="162" name="Google Shape;162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b="1" lang="en-EG"/>
              <a:t>1. Respect everyone in the classroom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5630"/>
              <a:buChar char="•"/>
            </a:pP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Listen when others are speaking, avoid interruptions, and maintain professional language and behavior at all times.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b="1" lang="en-EG"/>
              <a:t>2.</a:t>
            </a:r>
            <a:r>
              <a:rPr lang="en-EG"/>
              <a:t> </a:t>
            </a:r>
            <a:r>
              <a:rPr b="1" lang="en-EG"/>
              <a:t>Be punctual and prepared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5630"/>
              <a:buChar char="•"/>
            </a:pP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Arrive on time, bring required materials, and complete assigned readings or tasks before class.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b="1" lang="en-EG"/>
              <a:t>3.</a:t>
            </a:r>
            <a:r>
              <a:rPr lang="en-EG"/>
              <a:t> </a:t>
            </a:r>
            <a:r>
              <a:rPr b="1" lang="en-EG"/>
              <a:t>Use technology responsibly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5630"/>
              <a:buChar char="•"/>
            </a:pP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Mobile phones and laptops should be used only for class-related purposes to avoid distractions.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None/>
            </a:pPr>
            <a:r>
              <a:rPr b="1" lang="en-EG"/>
              <a:t>4.  Participate actively 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75630"/>
              <a:buChar char="•"/>
            </a:pPr>
            <a:r>
              <a:rPr lang="en-EG">
                <a:latin typeface="Times New Roman"/>
                <a:ea typeface="Times New Roman"/>
                <a:cs typeface="Times New Roman"/>
                <a:sym typeface="Times New Roman"/>
              </a:rPr>
              <a:t>Engage in discussions, group work, and activities while respecting different opinions and viewpoints.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2023-02-15T19:41:08Z</dcterms:created>
  <dc:creator>Microsoft Office User</dc:creator>
</cp:coreProperties>
</file>