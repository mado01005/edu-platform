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fupkw+A72XGCIpD2tg4tllzng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C6A7B1-E12C-42F2-9301-0AB5F0467181}">
  <a:tblStyle styleId="{25C6A7B1-E12C-42F2-9301-0AB5F0467181}" styleName="Table_0">
    <a:wholeTbl>
      <a:tcTxStyle b="off" i="off">
        <a:font>
          <a:latin typeface="Bierstadt"/>
          <a:ea typeface="Bierstadt"/>
          <a:cs typeface="Bierstad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BF0E6"/>
          </a:solidFill>
        </a:fill>
      </a:tcStyle>
    </a:wholeTbl>
    <a:band1H>
      <a:tcTxStyle/>
      <a:tcStyle>
        <a:fill>
          <a:solidFill>
            <a:srgbClr val="F7DFCA"/>
          </a:solidFill>
        </a:fill>
      </a:tcStyle>
    </a:band1H>
    <a:band2H>
      <a:tcTxStyle/>
    </a:band2H>
    <a:band1V>
      <a:tcTxStyle/>
      <a:tcStyle>
        <a:fill>
          <a:solidFill>
            <a:srgbClr val="F7DFCA"/>
          </a:solidFill>
        </a:fill>
      </a:tcStyle>
    </a:band1V>
    <a:band2V>
      <a:tcTxStyle/>
    </a:band2V>
    <a:lastCol>
      <a:tcTxStyle b="on" i="off">
        <a:font>
          <a:latin typeface="Bierstadt"/>
          <a:ea typeface="Bierstadt"/>
          <a:cs typeface="Bierstad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Bierstadt"/>
          <a:ea typeface="Bierstadt"/>
          <a:cs typeface="Bierstad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Bierstadt"/>
          <a:ea typeface="Bierstadt"/>
          <a:cs typeface="Bierstad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Bierstadt"/>
          <a:ea typeface="Bierstadt"/>
          <a:cs typeface="Bierstad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/>
          <p:nvPr/>
        </p:nvSpPr>
        <p:spPr>
          <a:xfrm>
            <a:off x="517870" y="6209925"/>
            <a:ext cx="11155680" cy="45719"/>
          </a:xfrm>
          <a:custGeom>
            <a:rect b="b" l="l" r="r" t="t"/>
            <a:pathLst>
              <a:path extrusionOk="0" h="45719" w="8715708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 txBox="1"/>
          <p:nvPr>
            <p:ph type="ctrTitle"/>
          </p:nvPr>
        </p:nvSpPr>
        <p:spPr>
          <a:xfrm>
            <a:off x="521208" y="978408"/>
            <a:ext cx="1115568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subTitle"/>
          </p:nvPr>
        </p:nvSpPr>
        <p:spPr>
          <a:xfrm>
            <a:off x="521208" y="4480560"/>
            <a:ext cx="7104888" cy="13990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i="1" sz="22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2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521208" y="978408"/>
            <a:ext cx="5020056" cy="42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521208" y="5266944"/>
            <a:ext cx="502005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200"/>
              <a:buNone/>
              <a:defRPr i="1" sz="22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5"/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521208" y="2578608"/>
            <a:ext cx="516636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6519672" y="2578608"/>
            <a:ext cx="516636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title"/>
          </p:nvPr>
        </p:nvSpPr>
        <p:spPr>
          <a:xfrm>
            <a:off x="521208" y="978408"/>
            <a:ext cx="11164824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521208" y="2340864"/>
            <a:ext cx="5166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0" i="1" sz="2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7"/>
          <p:cNvSpPr txBox="1"/>
          <p:nvPr>
            <p:ph idx="2" type="body"/>
          </p:nvPr>
        </p:nvSpPr>
        <p:spPr>
          <a:xfrm>
            <a:off x="521208" y="3035808"/>
            <a:ext cx="5166360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3" type="body"/>
          </p:nvPr>
        </p:nvSpPr>
        <p:spPr>
          <a:xfrm>
            <a:off x="6519672" y="2340864"/>
            <a:ext cx="5166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0" i="1" sz="2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7"/>
          <p:cNvSpPr txBox="1"/>
          <p:nvPr>
            <p:ph idx="4" type="body"/>
          </p:nvPr>
        </p:nvSpPr>
        <p:spPr>
          <a:xfrm>
            <a:off x="6519672" y="3035808"/>
            <a:ext cx="5166360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/>
          <p:nvPr>
            <p:ph type="title"/>
          </p:nvPr>
        </p:nvSpPr>
        <p:spPr>
          <a:xfrm>
            <a:off x="521208" y="978408"/>
            <a:ext cx="5020056" cy="2459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" type="body"/>
          </p:nvPr>
        </p:nvSpPr>
        <p:spPr>
          <a:xfrm>
            <a:off x="6519672" y="987424"/>
            <a:ext cx="5166360" cy="5358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19"/>
          <p:cNvSpPr txBox="1"/>
          <p:nvPr>
            <p:ph idx="2" type="body"/>
          </p:nvPr>
        </p:nvSpPr>
        <p:spPr>
          <a:xfrm>
            <a:off x="521208" y="3575304"/>
            <a:ext cx="50200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i="1" sz="2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9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type="title"/>
          </p:nvPr>
        </p:nvSpPr>
        <p:spPr>
          <a:xfrm>
            <a:off x="521208" y="978408"/>
            <a:ext cx="5020056" cy="2459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/>
          <p:nvPr>
            <p:ph idx="2" type="pic"/>
          </p:nvPr>
        </p:nvSpPr>
        <p:spPr>
          <a:xfrm>
            <a:off x="6519672" y="987424"/>
            <a:ext cx="5166360" cy="5358384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0"/>
          <p:cNvSpPr txBox="1"/>
          <p:nvPr>
            <p:ph idx="1" type="body"/>
          </p:nvPr>
        </p:nvSpPr>
        <p:spPr>
          <a:xfrm>
            <a:off x="521208" y="3575304"/>
            <a:ext cx="50200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i="1" sz="2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20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" type="body"/>
          </p:nvPr>
        </p:nvSpPr>
        <p:spPr>
          <a:xfrm rot="5400000">
            <a:off x="4215384" y="-1115568"/>
            <a:ext cx="3767328" cy="11155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/>
          <p:nvPr>
            <p:ph type="title"/>
          </p:nvPr>
        </p:nvSpPr>
        <p:spPr>
          <a:xfrm rot="5400000">
            <a:off x="7251192" y="2386584"/>
            <a:ext cx="5367528" cy="255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" type="body"/>
          </p:nvPr>
        </p:nvSpPr>
        <p:spPr>
          <a:xfrm rot="5400000">
            <a:off x="1842516" y="-342900"/>
            <a:ext cx="5367528" cy="8010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22"/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1"/>
          <p:cNvSpPr/>
          <p:nvPr/>
        </p:nvSpPr>
        <p:spPr>
          <a:xfrm>
            <a:off x="517869" y="508090"/>
            <a:ext cx="11153214" cy="149279"/>
          </a:xfrm>
          <a:custGeom>
            <a:rect b="b" l="l" r="r" t="t"/>
            <a:pathLst>
              <a:path extrusionOk="0" h="149279" w="8085002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TxeojFxhV60" TargetMode="External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/>
          <p:nvPr/>
        </p:nvSpPr>
        <p:spPr>
          <a:xfrm>
            <a:off x="1981199" y="1403440"/>
            <a:ext cx="8897815" cy="2499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Task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title is 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“How to Hook an Audience.”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down 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ways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you think a speaker can “hook” an audience.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 with a partner.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vy 3D art"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2741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lt1">
              <a:alpha val="8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>
            <p:ph type="ctrTitle"/>
          </p:nvPr>
        </p:nvSpPr>
        <p:spPr>
          <a:xfrm>
            <a:off x="320039" y="5739969"/>
            <a:ext cx="8178501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How to a hook an audience</a:t>
            </a:r>
            <a:endParaRPr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8641975" y="5739969"/>
            <a:ext cx="3355309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1348153" y="1053660"/>
            <a:ext cx="10199078" cy="5783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Pre-viewing 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Warm-Up Discussion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about a presentation you enjoyed. How did the speaker start?</a:t>
            </a:r>
            <a:endParaRPr/>
          </a:p>
          <a:p>
            <a:pPr indent="-2222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do you think openings are important in speeches?</a:t>
            </a:r>
            <a:endParaRPr/>
          </a:p>
          <a:p>
            <a:pPr indent="0" lvl="1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Openings are important because they set the tone for the entire speech. A strong opening captures the audience’s attention, builds curiosity, and motivates listeners to stay engaged. It also gives the audience a clear idea of the topic and purpose of the presentation. Without a good opening, the audience may lose interest quickly and miss the main message.</a:t>
            </a:r>
            <a:endParaRPr/>
          </a:p>
          <a:p>
            <a:pPr indent="-2222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834788" y="295304"/>
            <a:ext cx="10105292" cy="1445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Watch the following video </a:t>
            </a:r>
            <a:r>
              <a:rPr b="0" i="0" lang="en-US" sz="2400" u="sng" cap="none" strike="noStrike">
                <a:solidFill>
                  <a:srgbClr val="46788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https://www.youtube.com/watch?v=TxeojFxhV60</a:t>
            </a:r>
            <a:r>
              <a:rPr b="0" i="0" lang="en-US" sz="2400" u="sng" cap="none" strike="noStrike">
                <a:solidFill>
                  <a:srgbClr val="4678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Then answer the questions below.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4" title="How to hook an audience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1582883"/>
            <a:ext cx="9336469" cy="5275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1242646" y="678116"/>
            <a:ext cx="10468708" cy="3144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you watch the video, pay attention to the different hook techniques the speaker introduces. For each technique: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down the 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name/description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of the hook.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 its 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in your own words (Why would a speaker use this technique?).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a 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real-life situation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(academic, professional, or social) where you could use this hook.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6"/>
          <p:cNvGraphicFramePr/>
          <p:nvPr/>
        </p:nvGraphicFramePr>
        <p:xfrm>
          <a:off x="1453662" y="112541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{25C6A7B1-E12C-42F2-9301-0AB5F0467181}</a:tableStyleId>
              </a:tblPr>
              <a:tblGrid>
                <a:gridCol w="2906675"/>
                <a:gridCol w="2977975"/>
                <a:gridCol w="2977975"/>
              </a:tblGrid>
              <a:tr h="130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Hook Technique 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Purpose (Why use it?)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Real-life situation to apply it 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  <a:tr h="63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  <a:tr h="63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  <a:tr h="63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  <a:tr h="63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  <a:tr h="63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/>
        </p:nvSpPr>
        <p:spPr>
          <a:xfrm>
            <a:off x="860474" y="334232"/>
            <a:ext cx="18912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Answer Key </a:t>
            </a:r>
            <a:endParaRPr/>
          </a:p>
        </p:txBody>
      </p:sp>
      <p:graphicFrame>
        <p:nvGraphicFramePr>
          <p:cNvPr id="124" name="Google Shape;124;p7"/>
          <p:cNvGraphicFramePr/>
          <p:nvPr/>
        </p:nvGraphicFramePr>
        <p:xfrm>
          <a:off x="108912" y="8604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{25C6A7B1-E12C-42F2-9301-0AB5F0467181}</a:tableStyleId>
              </a:tblPr>
              <a:tblGrid>
                <a:gridCol w="3430725"/>
                <a:gridCol w="4401225"/>
                <a:gridCol w="3306100"/>
              </a:tblGrid>
              <a:tr h="59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Hook Technique x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Purpose (Why use it?)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Real-life situation to apply it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  <a:tr h="90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Rhetorical Question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Ask a thought-provoking question to grab attention.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“Have you ever wondered why some speeches stay with you forever?”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  <a:tr h="90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Statistic/ Fact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Use an unexpected fact or number to shock or interest the audience.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Business pitch: “95% of startups fail within 5 years—ours won’t be one of them.”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  <a:tr h="90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Anecdote/ Story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Tell a short story or ask the audience to imagine a scenario.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“Imagine walking into a room where everyone is waiting for your words…”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  <a:tr h="90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Quote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Begin with a powerful or relevant quotation.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“As Nelson Mandela once said, ‘Education is the most powerful weapon…’”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  <a:tr h="90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Bold /provocative statement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Make a strong, even controversial, claim to spark curiosity.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“Artificial Intelligence will replace half of today’s jobs.”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/>
        </p:nvSpPr>
        <p:spPr>
          <a:xfrm>
            <a:off x="1430214" y="1041589"/>
            <a:ext cx="10105293" cy="3979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Post-viewing </a:t>
            </a:r>
            <a:endParaRPr sz="2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 Work: Compare Notes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 your answers with your partner. Did you write down the same hooks?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___________________________________________________________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Discuss: 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one would you personally use in your next presentation? Why?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___________________________________________________________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/>
        </p:nvSpPr>
        <p:spPr>
          <a:xfrm>
            <a:off x="1641230" y="1183831"/>
            <a:ext cx="9507416" cy="4609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Practice Activity: Create Your Own Hook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one of these topics (or your own):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Climate change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 and students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Healthy lifestyle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personal passion/hobby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 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short hook (2–3 sentences)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using a technique from the video.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/>
        </p:nvSpPr>
        <p:spPr>
          <a:xfrm>
            <a:off x="1629507" y="1338181"/>
            <a:ext cx="9331570" cy="1972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Role-Play / Mini Presentation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 your hook to your partner (or small group).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partner gives feedback: Was it clear? Attention-grabbing? Relevant?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staltVTI">
  <a:themeElements>
    <a:clrScheme name="Gestalt">
      <a:dk1>
        <a:srgbClr val="000000"/>
      </a:dk1>
      <a:lt1>
        <a:srgbClr val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2025-09-22T10:31:14Z</dcterms:created>
  <dc:creator>May Ghoneim</dc:creator>
</cp:coreProperties>
</file>