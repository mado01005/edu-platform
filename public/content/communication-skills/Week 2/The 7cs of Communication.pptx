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</p:sldIdLst>
  <p:sldSz cy="6858000" cx="12192000"/>
  <p:notesSz cx="6858000" cy="9144000"/>
  <p:embeddedFontLst>
    <p:embeddedFont>
      <p:font typeface="Lustria"/>
      <p:regular r:id="rId25"/>
    </p:embeddedFont>
    <p:embeddedFont>
      <p:font typeface="Open Sans"/>
      <p:regular r:id="rId26"/>
      <p:bold r:id="rId27"/>
      <p:italic r:id="rId28"/>
      <p:boldItalic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30" roundtripDataSignature="AMtx7mg2btt6QA5SRYe6b+OEXYobwnP9i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BE9158C-8706-45F5-93A0-C027D8B7900F}">
  <a:tblStyle styleId="{FBE9158C-8706-45F5-93A0-C027D8B7900F}" styleName="Table_0">
    <a:wholeTbl>
      <a:tcTxStyle b="off" i="off">
        <a:font>
          <a:latin typeface="Calisto MT"/>
          <a:ea typeface="Calisto MT"/>
          <a:cs typeface="Calisto MT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4EFF2"/>
          </a:solidFill>
        </a:fill>
      </a:tcStyle>
    </a:wholeTbl>
    <a:band1H>
      <a:tcTxStyle b="off" i="off"/>
      <a:tcStyle>
        <a:fill>
          <a:solidFill>
            <a:srgbClr val="E9DDE4"/>
          </a:solidFill>
        </a:fill>
      </a:tcStyle>
    </a:band1H>
    <a:band2H>
      <a:tcTxStyle b="off" i="off"/>
    </a:band2H>
    <a:band1V>
      <a:tcTxStyle b="off" i="off"/>
      <a:tcStyle>
        <a:fill>
          <a:solidFill>
            <a:srgbClr val="E9DDE4"/>
          </a:solidFill>
        </a:fill>
      </a:tcStyle>
    </a:band1V>
    <a:band2V>
      <a:tcTxStyle b="off" i="off"/>
    </a:band2V>
    <a:lastCol>
      <a:tcTxStyle b="on" i="off">
        <a:font>
          <a:latin typeface="Calisto MT"/>
          <a:ea typeface="Calisto MT"/>
          <a:cs typeface="Calisto MT"/>
        </a:font>
        <a:schemeClr val="lt1"/>
      </a:tcTxStyle>
      <a:tcStyle>
        <a:fill>
          <a:solidFill>
            <a:schemeClr val="accent6"/>
          </a:solidFill>
        </a:fill>
      </a:tcStyle>
    </a:lastCol>
    <a:firstCol>
      <a:tcTxStyle b="on" i="off">
        <a:font>
          <a:latin typeface="Calisto MT"/>
          <a:ea typeface="Calisto MT"/>
          <a:cs typeface="Calisto MT"/>
        </a:font>
        <a:schemeClr val="lt1"/>
      </a:tcTxStyle>
      <a:tcStyle>
        <a:fill>
          <a:solidFill>
            <a:schemeClr val="accent6"/>
          </a:solidFill>
        </a:fill>
      </a:tcStyle>
    </a:firstCol>
    <a:lastRow>
      <a:tcTxStyle b="on" i="off">
        <a:font>
          <a:latin typeface="Calisto MT"/>
          <a:ea typeface="Calisto MT"/>
          <a:cs typeface="Calisto MT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6"/>
          </a:solidFill>
        </a:fill>
      </a:tcStyle>
    </a:lastRow>
    <a:seCell>
      <a:tcTxStyle b="off" i="off"/>
    </a:seCell>
    <a:swCell>
      <a:tcTxStyle b="off" i="off"/>
    </a:swCell>
    <a:firstRow>
      <a:tcTxStyle b="on" i="off">
        <a:font>
          <a:latin typeface="Calisto MT"/>
          <a:ea typeface="Calisto MT"/>
          <a:cs typeface="Calisto MT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6"/>
          </a:solidFill>
        </a:fill>
      </a:tcStyle>
    </a:firstRow>
    <a:neCell>
      <a:tcTxStyle b="off" i="off"/>
    </a:neCell>
    <a:nwCell>
      <a:tcTxStyle b="off" i="off"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OpenSans-regular.fntdata"/><Relationship Id="rId25" Type="http://schemas.openxmlformats.org/officeDocument/2006/relationships/font" Target="fonts/Lustria-regular.fntdata"/><Relationship Id="rId28" Type="http://schemas.openxmlformats.org/officeDocument/2006/relationships/font" Target="fonts/OpenSans-italic.fntdata"/><Relationship Id="rId27" Type="http://schemas.openxmlformats.org/officeDocument/2006/relationships/font" Target="fonts/OpenSans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OpenSans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0" Type="http://customschemas.google.com/relationships/presentationmetadata" Target="meta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4" name="Google Shape;84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4" name="Google Shape;94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9" name="Google Shape;99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2" name="Google Shape;112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7" name="Google Shape;117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2" name="Google Shape;122;p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8" name="Google Shape;128;p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4" name="Google Shape;134;p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0" name="Google Shape;140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6" name="Google Shape;146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2" name="Google Shape;152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8" name="Google Shape;158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4" name="Google Shape;164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9" name="Google Shape;169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4" name="Google Shape;174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9" name="Google Shape;179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4" name="Google Shape;184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9" name="Google Shape;189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4" name="Google Shape;194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1"/>
          <p:cNvSpPr txBox="1"/>
          <p:nvPr>
            <p:ph type="ctrTitle"/>
          </p:nvPr>
        </p:nvSpPr>
        <p:spPr>
          <a:xfrm>
            <a:off x="704088" y="889820"/>
            <a:ext cx="9989574" cy="359860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Open Sans"/>
              <a:buNone/>
              <a:defRPr sz="5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1"/>
          <p:cNvSpPr txBox="1"/>
          <p:nvPr>
            <p:ph idx="1" type="subTitle"/>
          </p:nvPr>
        </p:nvSpPr>
        <p:spPr>
          <a:xfrm>
            <a:off x="704088" y="4488426"/>
            <a:ext cx="6991776" cy="130277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1pPr>
            <a:lvl2pPr lvl="1" algn="ctr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6" name="Google Shape;16;p21"/>
          <p:cNvSpPr txBox="1"/>
          <p:nvPr>
            <p:ph idx="10" type="dt"/>
          </p:nvPr>
        </p:nvSpPr>
        <p:spPr>
          <a:xfrm>
            <a:off x="8369448" y="6356350"/>
            <a:ext cx="254956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1"/>
          <p:cNvSpPr txBox="1"/>
          <p:nvPr>
            <p:ph idx="11" type="ftr"/>
          </p:nvPr>
        </p:nvSpPr>
        <p:spPr>
          <a:xfrm>
            <a:off x="704088" y="6356350"/>
            <a:ext cx="453972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21"/>
          <p:cNvSpPr txBox="1"/>
          <p:nvPr>
            <p:ph idx="12" type="sldNum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EG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22"/>
          <p:cNvSpPr txBox="1"/>
          <p:nvPr>
            <p:ph idx="10" type="dt"/>
          </p:nvPr>
        </p:nvSpPr>
        <p:spPr>
          <a:xfrm>
            <a:off x="8369448" y="6356350"/>
            <a:ext cx="254956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22"/>
          <p:cNvSpPr txBox="1"/>
          <p:nvPr>
            <p:ph idx="11" type="ftr"/>
          </p:nvPr>
        </p:nvSpPr>
        <p:spPr>
          <a:xfrm>
            <a:off x="704088" y="6356350"/>
            <a:ext cx="453972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22"/>
          <p:cNvSpPr txBox="1"/>
          <p:nvPr>
            <p:ph idx="12" type="sldNum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EG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3"/>
          <p:cNvSpPr txBox="1"/>
          <p:nvPr>
            <p:ph type="title"/>
          </p:nvPr>
        </p:nvSpPr>
        <p:spPr>
          <a:xfrm>
            <a:off x="700635" y="914400"/>
            <a:ext cx="10691265" cy="1307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3"/>
          <p:cNvSpPr txBox="1"/>
          <p:nvPr>
            <p:ph idx="1" type="body"/>
          </p:nvPr>
        </p:nvSpPr>
        <p:spPr>
          <a:xfrm>
            <a:off x="700635" y="2221992"/>
            <a:ext cx="10691265" cy="37398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6" name="Google Shape;26;p23"/>
          <p:cNvSpPr txBox="1"/>
          <p:nvPr>
            <p:ph idx="10" type="dt"/>
          </p:nvPr>
        </p:nvSpPr>
        <p:spPr>
          <a:xfrm>
            <a:off x="8369448" y="6356350"/>
            <a:ext cx="254956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23"/>
          <p:cNvSpPr txBox="1"/>
          <p:nvPr>
            <p:ph idx="11" type="ftr"/>
          </p:nvPr>
        </p:nvSpPr>
        <p:spPr>
          <a:xfrm>
            <a:off x="704088" y="6356350"/>
            <a:ext cx="453972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23"/>
          <p:cNvSpPr txBox="1"/>
          <p:nvPr>
            <p:ph idx="12" type="sldNum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EG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4"/>
          <p:cNvSpPr txBox="1"/>
          <p:nvPr>
            <p:ph type="title"/>
          </p:nvPr>
        </p:nvSpPr>
        <p:spPr>
          <a:xfrm>
            <a:off x="715383" y="1709738"/>
            <a:ext cx="10632067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Open Sans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4"/>
          <p:cNvSpPr txBox="1"/>
          <p:nvPr>
            <p:ph idx="1" type="body"/>
          </p:nvPr>
        </p:nvSpPr>
        <p:spPr>
          <a:xfrm>
            <a:off x="715383" y="4589463"/>
            <a:ext cx="10632067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2" name="Google Shape;32;p24"/>
          <p:cNvSpPr txBox="1"/>
          <p:nvPr>
            <p:ph idx="10" type="dt"/>
          </p:nvPr>
        </p:nvSpPr>
        <p:spPr>
          <a:xfrm>
            <a:off x="8369448" y="6356350"/>
            <a:ext cx="254956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24"/>
          <p:cNvSpPr txBox="1"/>
          <p:nvPr>
            <p:ph idx="11" type="ftr"/>
          </p:nvPr>
        </p:nvSpPr>
        <p:spPr>
          <a:xfrm>
            <a:off x="704088" y="6356350"/>
            <a:ext cx="453972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24"/>
          <p:cNvSpPr txBox="1"/>
          <p:nvPr>
            <p:ph idx="12" type="sldNum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EG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25"/>
          <p:cNvSpPr txBox="1"/>
          <p:nvPr>
            <p:ph type="title"/>
          </p:nvPr>
        </p:nvSpPr>
        <p:spPr>
          <a:xfrm>
            <a:off x="700635" y="914400"/>
            <a:ext cx="10691265" cy="1307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25"/>
          <p:cNvSpPr txBox="1"/>
          <p:nvPr>
            <p:ph idx="1" type="body"/>
          </p:nvPr>
        </p:nvSpPr>
        <p:spPr>
          <a:xfrm>
            <a:off x="704088" y="2221992"/>
            <a:ext cx="5212080" cy="37398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8" name="Google Shape;38;p25"/>
          <p:cNvSpPr txBox="1"/>
          <p:nvPr>
            <p:ph idx="2" type="body"/>
          </p:nvPr>
        </p:nvSpPr>
        <p:spPr>
          <a:xfrm>
            <a:off x="6181344" y="2221992"/>
            <a:ext cx="5212080" cy="37398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9" name="Google Shape;39;p25"/>
          <p:cNvSpPr txBox="1"/>
          <p:nvPr>
            <p:ph idx="10" type="dt"/>
          </p:nvPr>
        </p:nvSpPr>
        <p:spPr>
          <a:xfrm>
            <a:off x="8369448" y="6356350"/>
            <a:ext cx="254956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25"/>
          <p:cNvSpPr txBox="1"/>
          <p:nvPr>
            <p:ph idx="11" type="ftr"/>
          </p:nvPr>
        </p:nvSpPr>
        <p:spPr>
          <a:xfrm>
            <a:off x="704088" y="6356350"/>
            <a:ext cx="453972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25"/>
          <p:cNvSpPr txBox="1"/>
          <p:nvPr>
            <p:ph idx="12" type="sldNum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EG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26"/>
          <p:cNvSpPr txBox="1"/>
          <p:nvPr>
            <p:ph type="title"/>
          </p:nvPr>
        </p:nvSpPr>
        <p:spPr>
          <a:xfrm>
            <a:off x="704087" y="929147"/>
            <a:ext cx="10689336" cy="7984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26"/>
          <p:cNvSpPr txBox="1"/>
          <p:nvPr>
            <p:ph idx="1" type="body"/>
          </p:nvPr>
        </p:nvSpPr>
        <p:spPr>
          <a:xfrm>
            <a:off x="704088" y="1756538"/>
            <a:ext cx="5212080" cy="6572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>
                <a:latin typeface="Open Sans"/>
                <a:ea typeface="Open Sans"/>
                <a:cs typeface="Open Sans"/>
                <a:sym typeface="Open Sans"/>
              </a:defRPr>
            </a:lvl1pPr>
            <a:lvl2pPr indent="-2286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26"/>
          <p:cNvSpPr txBox="1"/>
          <p:nvPr>
            <p:ph idx="2" type="body"/>
          </p:nvPr>
        </p:nvSpPr>
        <p:spPr>
          <a:xfrm>
            <a:off x="704088" y="2442702"/>
            <a:ext cx="5212080" cy="35191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26"/>
          <p:cNvSpPr txBox="1"/>
          <p:nvPr>
            <p:ph idx="3" type="body"/>
          </p:nvPr>
        </p:nvSpPr>
        <p:spPr>
          <a:xfrm>
            <a:off x="6181344" y="1756538"/>
            <a:ext cx="5212080" cy="6572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>
                <a:latin typeface="Open Sans"/>
                <a:ea typeface="Open Sans"/>
                <a:cs typeface="Open Sans"/>
                <a:sym typeface="Open Sans"/>
              </a:defRPr>
            </a:lvl1pPr>
            <a:lvl2pPr indent="-2286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7" name="Google Shape;47;p26"/>
          <p:cNvSpPr txBox="1"/>
          <p:nvPr>
            <p:ph idx="4" type="body"/>
          </p:nvPr>
        </p:nvSpPr>
        <p:spPr>
          <a:xfrm>
            <a:off x="6181344" y="2442702"/>
            <a:ext cx="5212080" cy="35191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8" name="Google Shape;48;p26"/>
          <p:cNvSpPr txBox="1"/>
          <p:nvPr>
            <p:ph idx="10" type="dt"/>
          </p:nvPr>
        </p:nvSpPr>
        <p:spPr>
          <a:xfrm>
            <a:off x="8369448" y="6356350"/>
            <a:ext cx="254956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26"/>
          <p:cNvSpPr txBox="1"/>
          <p:nvPr>
            <p:ph idx="11" type="ftr"/>
          </p:nvPr>
        </p:nvSpPr>
        <p:spPr>
          <a:xfrm>
            <a:off x="704088" y="6356350"/>
            <a:ext cx="453972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26"/>
          <p:cNvSpPr txBox="1"/>
          <p:nvPr>
            <p:ph idx="12" type="sldNum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EG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27"/>
          <p:cNvSpPr txBox="1"/>
          <p:nvPr>
            <p:ph type="title"/>
          </p:nvPr>
        </p:nvSpPr>
        <p:spPr>
          <a:xfrm>
            <a:off x="700635" y="914400"/>
            <a:ext cx="10691265" cy="1307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7"/>
          <p:cNvSpPr txBox="1"/>
          <p:nvPr>
            <p:ph idx="10" type="dt"/>
          </p:nvPr>
        </p:nvSpPr>
        <p:spPr>
          <a:xfrm>
            <a:off x="8369448" y="6356350"/>
            <a:ext cx="254956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27"/>
          <p:cNvSpPr txBox="1"/>
          <p:nvPr>
            <p:ph idx="11" type="ftr"/>
          </p:nvPr>
        </p:nvSpPr>
        <p:spPr>
          <a:xfrm>
            <a:off x="704088" y="6356350"/>
            <a:ext cx="453972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27"/>
          <p:cNvSpPr txBox="1"/>
          <p:nvPr>
            <p:ph idx="12" type="sldNum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EG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8"/>
          <p:cNvSpPr txBox="1"/>
          <p:nvPr>
            <p:ph type="title"/>
          </p:nvPr>
        </p:nvSpPr>
        <p:spPr>
          <a:xfrm>
            <a:off x="704088" y="1069848"/>
            <a:ext cx="4093599" cy="131673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Open Sans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28"/>
          <p:cNvSpPr txBox="1"/>
          <p:nvPr>
            <p:ph idx="1" type="body"/>
          </p:nvPr>
        </p:nvSpPr>
        <p:spPr>
          <a:xfrm>
            <a:off x="5183188" y="1069848"/>
            <a:ext cx="6172200" cy="479120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9" name="Google Shape;59;p28"/>
          <p:cNvSpPr txBox="1"/>
          <p:nvPr>
            <p:ph idx="2" type="body"/>
          </p:nvPr>
        </p:nvSpPr>
        <p:spPr>
          <a:xfrm>
            <a:off x="704088" y="2551176"/>
            <a:ext cx="4093599" cy="33192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0" name="Google Shape;60;p28"/>
          <p:cNvSpPr txBox="1"/>
          <p:nvPr>
            <p:ph idx="10" type="dt"/>
          </p:nvPr>
        </p:nvSpPr>
        <p:spPr>
          <a:xfrm>
            <a:off x="8369448" y="6356350"/>
            <a:ext cx="254956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28"/>
          <p:cNvSpPr txBox="1"/>
          <p:nvPr>
            <p:ph idx="11" type="ftr"/>
          </p:nvPr>
        </p:nvSpPr>
        <p:spPr>
          <a:xfrm>
            <a:off x="704088" y="6356350"/>
            <a:ext cx="453972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28"/>
          <p:cNvSpPr txBox="1"/>
          <p:nvPr>
            <p:ph idx="12" type="sldNum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EG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29"/>
          <p:cNvSpPr txBox="1"/>
          <p:nvPr>
            <p:ph type="title"/>
          </p:nvPr>
        </p:nvSpPr>
        <p:spPr>
          <a:xfrm>
            <a:off x="704088" y="1066800"/>
            <a:ext cx="4103431" cy="131752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Open Sans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29"/>
          <p:cNvSpPr/>
          <p:nvPr>
            <p:ph idx="2" type="pic"/>
          </p:nvPr>
        </p:nvSpPr>
        <p:spPr>
          <a:xfrm>
            <a:off x="5183188" y="1066800"/>
            <a:ext cx="6172200" cy="4794250"/>
          </a:xfrm>
          <a:prstGeom prst="rect">
            <a:avLst/>
          </a:prstGeom>
          <a:noFill/>
          <a:ln>
            <a:noFill/>
          </a:ln>
        </p:spPr>
      </p:sp>
      <p:sp>
        <p:nvSpPr>
          <p:cNvPr id="66" name="Google Shape;66;p29"/>
          <p:cNvSpPr txBox="1"/>
          <p:nvPr>
            <p:ph idx="1" type="body"/>
          </p:nvPr>
        </p:nvSpPr>
        <p:spPr>
          <a:xfrm>
            <a:off x="704088" y="2552700"/>
            <a:ext cx="4103431" cy="3316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7" name="Google Shape;67;p29"/>
          <p:cNvSpPr txBox="1"/>
          <p:nvPr>
            <p:ph idx="10" type="dt"/>
          </p:nvPr>
        </p:nvSpPr>
        <p:spPr>
          <a:xfrm>
            <a:off x="8369448" y="6356350"/>
            <a:ext cx="254956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29"/>
          <p:cNvSpPr txBox="1"/>
          <p:nvPr>
            <p:ph idx="11" type="ftr"/>
          </p:nvPr>
        </p:nvSpPr>
        <p:spPr>
          <a:xfrm>
            <a:off x="704088" y="6356350"/>
            <a:ext cx="453972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29"/>
          <p:cNvSpPr txBox="1"/>
          <p:nvPr>
            <p:ph idx="12" type="sldNum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EG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30"/>
          <p:cNvSpPr txBox="1"/>
          <p:nvPr>
            <p:ph type="title"/>
          </p:nvPr>
        </p:nvSpPr>
        <p:spPr>
          <a:xfrm>
            <a:off x="700635" y="914400"/>
            <a:ext cx="10691265" cy="1307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30"/>
          <p:cNvSpPr txBox="1"/>
          <p:nvPr>
            <p:ph idx="1" type="body"/>
          </p:nvPr>
        </p:nvSpPr>
        <p:spPr>
          <a:xfrm rot="5400000">
            <a:off x="4176320" y="-1253693"/>
            <a:ext cx="3739896" cy="106912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3" name="Google Shape;73;p30"/>
          <p:cNvSpPr txBox="1"/>
          <p:nvPr>
            <p:ph idx="10" type="dt"/>
          </p:nvPr>
        </p:nvSpPr>
        <p:spPr>
          <a:xfrm>
            <a:off x="8369448" y="6356350"/>
            <a:ext cx="254956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30"/>
          <p:cNvSpPr txBox="1"/>
          <p:nvPr>
            <p:ph idx="11" type="ftr"/>
          </p:nvPr>
        </p:nvSpPr>
        <p:spPr>
          <a:xfrm>
            <a:off x="704088" y="6356350"/>
            <a:ext cx="453972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30"/>
          <p:cNvSpPr txBox="1"/>
          <p:nvPr>
            <p:ph idx="12" type="sldNum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EG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31"/>
          <p:cNvSpPr txBox="1"/>
          <p:nvPr>
            <p:ph type="title"/>
          </p:nvPr>
        </p:nvSpPr>
        <p:spPr>
          <a:xfrm rot="5400000">
            <a:off x="7924366" y="2315931"/>
            <a:ext cx="4984956" cy="23490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31"/>
          <p:cNvSpPr txBox="1"/>
          <p:nvPr>
            <p:ph idx="1" type="body"/>
          </p:nvPr>
        </p:nvSpPr>
        <p:spPr>
          <a:xfrm rot="5400000">
            <a:off x="2513147" y="-746247"/>
            <a:ext cx="4984956" cy="84733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9" name="Google Shape;79;p31"/>
          <p:cNvSpPr txBox="1"/>
          <p:nvPr>
            <p:ph idx="10" type="dt"/>
          </p:nvPr>
        </p:nvSpPr>
        <p:spPr>
          <a:xfrm>
            <a:off x="8369448" y="6356350"/>
            <a:ext cx="254956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31"/>
          <p:cNvSpPr txBox="1"/>
          <p:nvPr>
            <p:ph idx="11" type="ftr"/>
          </p:nvPr>
        </p:nvSpPr>
        <p:spPr>
          <a:xfrm>
            <a:off x="704088" y="6356350"/>
            <a:ext cx="453972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31"/>
          <p:cNvSpPr txBox="1"/>
          <p:nvPr>
            <p:ph idx="12" type="sldNum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EG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0"/>
          <p:cNvSpPr txBox="1"/>
          <p:nvPr>
            <p:ph type="title"/>
          </p:nvPr>
        </p:nvSpPr>
        <p:spPr>
          <a:xfrm>
            <a:off x="700635" y="914400"/>
            <a:ext cx="10691265" cy="1307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Open Sans"/>
              <a:buNone/>
              <a:defRPr b="0" i="0" sz="40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20"/>
          <p:cNvSpPr txBox="1"/>
          <p:nvPr>
            <p:ph idx="1" type="body"/>
          </p:nvPr>
        </p:nvSpPr>
        <p:spPr>
          <a:xfrm>
            <a:off x="700635" y="2221992"/>
            <a:ext cx="10691265" cy="37398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5600" lvl="0" marL="457200" marR="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defRPr>
            </a:lvl1pPr>
            <a:lvl2pPr indent="-342900" lvl="1" marL="91440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defRPr>
            </a:lvl2pPr>
            <a:lvl3pPr indent="-330200" lvl="2" marL="137160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defRPr>
            </a:lvl3pPr>
            <a:lvl4pPr indent="-317500" lvl="3" marL="182880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defRPr>
            </a:lvl4pPr>
            <a:lvl5pPr indent="-317500" lvl="4" marL="228600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defRPr>
            </a:lvl9pPr>
          </a:lstStyle>
          <a:p/>
        </p:txBody>
      </p:sp>
      <p:sp>
        <p:nvSpPr>
          <p:cNvPr id="8" name="Google Shape;8;p20"/>
          <p:cNvSpPr txBox="1"/>
          <p:nvPr>
            <p:ph idx="10" type="dt"/>
          </p:nvPr>
        </p:nvSpPr>
        <p:spPr>
          <a:xfrm>
            <a:off x="8369448" y="6356350"/>
            <a:ext cx="254956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05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defRPr>
            </a:lvl9pPr>
          </a:lstStyle>
          <a:p/>
        </p:txBody>
      </p:sp>
      <p:sp>
        <p:nvSpPr>
          <p:cNvPr id="9" name="Google Shape;9;p20"/>
          <p:cNvSpPr txBox="1"/>
          <p:nvPr>
            <p:ph idx="11" type="ftr"/>
          </p:nvPr>
        </p:nvSpPr>
        <p:spPr>
          <a:xfrm>
            <a:off x="704088" y="6356350"/>
            <a:ext cx="453972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05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defRPr>
            </a:lvl9pPr>
          </a:lstStyle>
          <a:p/>
        </p:txBody>
      </p:sp>
      <p:sp>
        <p:nvSpPr>
          <p:cNvPr id="10" name="Google Shape;10;p20"/>
          <p:cNvSpPr txBox="1"/>
          <p:nvPr>
            <p:ph idx="12" type="sldNum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EG"/>
              <a:t>‹#›</a:t>
            </a:fld>
            <a:endParaRPr/>
          </a:p>
        </p:txBody>
      </p:sp>
      <p:cxnSp>
        <p:nvCxnSpPr>
          <p:cNvPr id="11" name="Google Shape;11;p20"/>
          <p:cNvCxnSpPr/>
          <p:nvPr/>
        </p:nvCxnSpPr>
        <p:spPr>
          <a:xfrm>
            <a:off x="800100" y="723900"/>
            <a:ext cx="10591800" cy="0"/>
          </a:xfrm>
          <a:prstGeom prst="straightConnector1">
            <a:avLst/>
          </a:prstGeom>
          <a:noFill/>
          <a:ln cap="flat" cmpd="sng" w="444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2" name="Google Shape;12;p20"/>
          <p:cNvCxnSpPr/>
          <p:nvPr/>
        </p:nvCxnSpPr>
        <p:spPr>
          <a:xfrm>
            <a:off x="800100" y="6142781"/>
            <a:ext cx="10591800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www.youtube.com/watch?v=BkGJ8B85SKE" TargetMode="Externa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  <p:sp>
        <p:nvSpPr>
          <p:cNvPr id="87" name="Google Shape;87;p1"/>
          <p:cNvSpPr txBox="1"/>
          <p:nvPr>
            <p:ph type="ctrTitle"/>
          </p:nvPr>
        </p:nvSpPr>
        <p:spPr>
          <a:xfrm>
            <a:off x="703400" y="871758"/>
            <a:ext cx="5676900" cy="38711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Open Sans"/>
              <a:buNone/>
            </a:pPr>
            <a:r>
              <a:rPr lang="en-EG"/>
              <a:t>THE 7CS OF </a:t>
            </a:r>
            <a:r>
              <a:rPr lang="en-EG" sz="4800"/>
              <a:t>COMMUNICATION</a:t>
            </a:r>
            <a:r>
              <a:rPr lang="en-EG"/>
              <a:t> </a:t>
            </a:r>
            <a:endParaRPr sz="4900"/>
          </a:p>
        </p:txBody>
      </p:sp>
      <p:sp>
        <p:nvSpPr>
          <p:cNvPr id="88" name="Google Shape;88;p1"/>
          <p:cNvSpPr txBox="1"/>
          <p:nvPr>
            <p:ph idx="1" type="subTitle"/>
          </p:nvPr>
        </p:nvSpPr>
        <p:spPr>
          <a:xfrm>
            <a:off x="721688" y="4785543"/>
            <a:ext cx="4857857" cy="10056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/>
          </a:p>
        </p:txBody>
      </p:sp>
      <p:cxnSp>
        <p:nvCxnSpPr>
          <p:cNvPr id="89" name="Google Shape;89;p1"/>
          <p:cNvCxnSpPr/>
          <p:nvPr/>
        </p:nvCxnSpPr>
        <p:spPr>
          <a:xfrm>
            <a:off x="800100" y="723900"/>
            <a:ext cx="4914900" cy="0"/>
          </a:xfrm>
          <a:prstGeom prst="straightConnector1">
            <a:avLst/>
          </a:prstGeom>
          <a:noFill/>
          <a:ln cap="flat" cmpd="sng" w="444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90" name="Google Shape;90;p1"/>
          <p:cNvCxnSpPr/>
          <p:nvPr/>
        </p:nvCxnSpPr>
        <p:spPr>
          <a:xfrm>
            <a:off x="800100" y="6134100"/>
            <a:ext cx="4914900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descr="A splash of colors on a white surface" id="91" name="Google Shape;91;p1"/>
          <p:cNvPicPr preferRelativeResize="0"/>
          <p:nvPr/>
        </p:nvPicPr>
        <p:blipFill rotWithShape="1">
          <a:blip r:embed="rId3">
            <a:alphaModFix/>
          </a:blip>
          <a:srcRect b="0" l="0" r="37916" t="0"/>
          <a:stretch/>
        </p:blipFill>
        <p:spPr>
          <a:xfrm>
            <a:off x="6515100" y="10"/>
            <a:ext cx="5676900" cy="68579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"/>
          <p:cNvSpPr txBox="1"/>
          <p:nvPr/>
        </p:nvSpPr>
        <p:spPr>
          <a:xfrm>
            <a:off x="882162" y="748147"/>
            <a:ext cx="10425600" cy="587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800"/>
              <a:buFont typeface="Times New Roman"/>
              <a:buNone/>
            </a:pPr>
            <a:r>
              <a:rPr b="1" i="0" lang="en-EG" sz="2800" u="none" cap="none" strike="noStrik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Pre-viewing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ustria"/>
              <a:buNone/>
            </a:pPr>
            <a:r>
              <a:t/>
            </a:r>
            <a:endParaRPr b="0" i="0" sz="2800" u="none" cap="none" strike="noStrike">
              <a:solidFill>
                <a:srgbClr val="C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❖"/>
            </a:pPr>
            <a:r>
              <a:rPr b="0" i="1" lang="en-EG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What do you think are the key principles of effective communication?</a:t>
            </a:r>
            <a:endParaRPr b="0" i="0" sz="2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ustria"/>
              <a:buNone/>
            </a:pPr>
            <a:r>
              <a:t/>
            </a:r>
            <a:endParaRPr b="0" i="1" sz="2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ustria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❖"/>
            </a:pPr>
            <a:r>
              <a:rPr b="0" i="0" lang="en-EG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</a:t>
            </a:r>
            <a:r>
              <a:rPr b="0" i="1" lang="en-EG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What do you think are the “7 Cs of communication”?</a:t>
            </a:r>
            <a:endParaRPr b="0" i="0" sz="2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1" sz="2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1" sz="2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1" sz="2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1" sz="2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1" sz="2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"/>
          <p:cNvSpPr txBox="1"/>
          <p:nvPr/>
        </p:nvSpPr>
        <p:spPr>
          <a:xfrm>
            <a:off x="961901" y="855023"/>
            <a:ext cx="6589496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EG" sz="2400" u="none" cap="none" strike="noStrike">
                <a:solidFill>
                  <a:srgbClr val="C00000"/>
                </a:solidFill>
                <a:latin typeface="Lustria"/>
                <a:ea typeface="Lustria"/>
                <a:cs typeface="Lustria"/>
                <a:sym typeface="Lustria"/>
              </a:rPr>
              <a:t>Match the following terms with their definitions: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02" name="Google Shape;102;p3"/>
          <p:cNvGraphicFramePr/>
          <p:nvPr/>
        </p:nvGraphicFramePr>
        <p:xfrm>
          <a:off x="758924" y="172178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{FBE9158C-8706-45F5-93A0-C027D8B7900F}</a:tableStyleId>
              </a:tblPr>
              <a:tblGrid>
                <a:gridCol w="4555975"/>
                <a:gridCol w="5961425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EG" sz="2400" u="none" cap="none" strike="noStrike">
                          <a:solidFill>
                            <a:schemeClr val="dk1"/>
                          </a:solidFill>
                        </a:rPr>
                        <a:t>Term 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EG" sz="2400" u="none" cap="none" strike="noStrike">
                          <a:solidFill>
                            <a:schemeClr val="dk1"/>
                          </a:solidFill>
                        </a:rPr>
                        <a:t>Defintion 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EG" sz="2400" u="none" cap="none" strike="noStrike"/>
                        <a:t>1. Clear </a:t>
                      </a:r>
                      <a:endParaRPr sz="2400" u="none" cap="none" strike="noStrike">
                        <a:solidFill>
                          <a:srgbClr val="C00000"/>
                        </a:solidFill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EG" sz="2400" u="none" cap="none" strike="noStrike"/>
                        <a:t>a. </a:t>
                      </a:r>
                      <a:r>
                        <a:rPr lang="en-EG" sz="2400" u="none" cap="none" strike="noStrike">
                          <a:solidFill>
                            <a:schemeClr val="dk1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containing all necessary information</a:t>
                      </a:r>
                      <a:r>
                        <a:rPr lang="en-EG" sz="2400" u="none" cap="none" strike="noStrike"/>
                        <a:t> </a:t>
                      </a:r>
                      <a:endParaRPr sz="24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EG" sz="2400" u="none" cap="none" strike="noStrike"/>
                        <a:t>2. Concise </a:t>
                      </a:r>
                      <a:endParaRPr sz="2400" u="none" cap="none" strike="noStrike">
                        <a:solidFill>
                          <a:srgbClr val="C00000"/>
                        </a:solidFill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Lustria"/>
                        <a:buNone/>
                      </a:pPr>
                      <a:r>
                        <a:rPr lang="en-EG" sz="2400" u="none" cap="none" strike="noStrike"/>
                        <a:t>b. </a:t>
                      </a:r>
                      <a:r>
                        <a:rPr lang="en-EG" sz="2400" u="none" cap="none" strike="noStrike">
                          <a:solidFill>
                            <a:schemeClr val="dk1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specific and supported by facts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EG" sz="2400" u="none" cap="none" strike="noStrike"/>
                        <a:t>3. Concrete </a:t>
                      </a:r>
                      <a:endParaRPr sz="2400" u="none" cap="none" strike="noStrike">
                        <a:solidFill>
                          <a:srgbClr val="C00000"/>
                        </a:solidFill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EG" sz="2400" u="none" cap="none" strike="noStrike"/>
                        <a:t>c. </a:t>
                      </a:r>
                      <a:r>
                        <a:rPr lang="en-EG" sz="2400" u="none" cap="none" strike="noStrike">
                          <a:solidFill>
                            <a:schemeClr val="dk1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message purpose is understandable</a:t>
                      </a:r>
                      <a:r>
                        <a:rPr lang="en-EG" sz="2400" u="none" cap="none" strike="noStrike"/>
                        <a:t> </a:t>
                      </a:r>
                      <a:endParaRPr sz="24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EG" sz="2400" u="none" cap="none" strike="noStrike"/>
                        <a:t>4. Correct </a:t>
                      </a:r>
                      <a:r>
                        <a:rPr lang="en-EG" sz="2400" u="none" cap="none" strike="noStrike">
                          <a:solidFill>
                            <a:srgbClr val="C00000"/>
                          </a:solidFill>
                        </a:rPr>
                        <a:t> 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Lustria"/>
                        <a:buNone/>
                      </a:pPr>
                      <a:r>
                        <a:rPr lang="en-EG" sz="2400" u="none" cap="none" strike="noStrike"/>
                        <a:t>d. </a:t>
                      </a:r>
                      <a:r>
                        <a:rPr lang="en-EG" sz="2400" u="none" cap="none" strike="noStrike">
                          <a:solidFill>
                            <a:schemeClr val="dk1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respectful and audience-aware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EG" sz="2400" u="none" cap="none" strike="noStrike"/>
                        <a:t>5. Coherent   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EG" sz="2400" u="none" cap="none" strike="noStrike"/>
                        <a:t>e. </a:t>
                      </a:r>
                      <a:r>
                        <a:rPr lang="en-EG" sz="2400" u="none" cap="none" strike="noStrike">
                          <a:solidFill>
                            <a:schemeClr val="dk1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accurate and error-free</a:t>
                      </a:r>
                      <a:r>
                        <a:rPr lang="en-EG" sz="2400" u="none" cap="none" strike="noStrike"/>
                        <a:t> </a:t>
                      </a:r>
                      <a:endParaRPr sz="24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EG" sz="2400" u="none" cap="none" strike="noStrike"/>
                        <a:t>6. Complete </a:t>
                      </a:r>
                      <a:r>
                        <a:rPr lang="en-EG" sz="2400" u="none" cap="none" strike="noStrike">
                          <a:solidFill>
                            <a:srgbClr val="C00000"/>
                          </a:solidFill>
                        </a:rPr>
                        <a:t>  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Lustria"/>
                        <a:buNone/>
                      </a:pPr>
                      <a:r>
                        <a:rPr lang="en-EG" sz="2400" u="none" cap="none" strike="noStrike"/>
                        <a:t>f. </a:t>
                      </a:r>
                      <a:r>
                        <a:rPr lang="en-EG" sz="2400" u="none" cap="none" strike="noStrike">
                          <a:solidFill>
                            <a:schemeClr val="dk1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brief and direct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6456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EG" sz="2400" u="none" cap="none" strike="noStrike"/>
                        <a:t>7. Courteous </a:t>
                      </a:r>
                      <a:r>
                        <a:rPr lang="en-EG" sz="2400" u="none" cap="none" strike="noStrike">
                          <a:solidFill>
                            <a:srgbClr val="C00000"/>
                          </a:solidFill>
                        </a:rPr>
                        <a:t>  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EG" sz="2400" u="none" cap="none" strike="noStrike"/>
                        <a:t>g. </a:t>
                      </a:r>
                      <a:r>
                        <a:rPr lang="en-EG" sz="2400" u="none" cap="none" strike="noStrike">
                          <a:solidFill>
                            <a:schemeClr val="dk1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logically organized</a:t>
                      </a:r>
                      <a:r>
                        <a:rPr lang="en-EG" sz="2400" u="none" cap="none" strike="noStrike"/>
                        <a:t> </a:t>
                      </a:r>
                      <a:endParaRPr sz="24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103" name="Google Shape;103;p3"/>
          <p:cNvSpPr txBox="1"/>
          <p:nvPr/>
        </p:nvSpPr>
        <p:spPr>
          <a:xfrm>
            <a:off x="3182038" y="2104489"/>
            <a:ext cx="697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EG" sz="2400" u="none" cap="none" strike="noStrike">
                <a:solidFill>
                  <a:srgbClr val="C00000"/>
                </a:solidFill>
                <a:latin typeface="Lustria"/>
                <a:ea typeface="Lustria"/>
                <a:cs typeface="Lustria"/>
                <a:sym typeface="Lustria"/>
              </a:rPr>
              <a:t>c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3"/>
          <p:cNvSpPr txBox="1"/>
          <p:nvPr/>
        </p:nvSpPr>
        <p:spPr>
          <a:xfrm>
            <a:off x="3149562" y="2599397"/>
            <a:ext cx="637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EG" sz="2400" u="none" cap="none" strike="noStrike">
                <a:solidFill>
                  <a:srgbClr val="C00000"/>
                </a:solidFill>
                <a:latin typeface="Lustria"/>
                <a:ea typeface="Lustria"/>
                <a:cs typeface="Lustria"/>
                <a:sym typeface="Lustria"/>
              </a:rPr>
              <a:t>f</a:t>
            </a:r>
            <a:r>
              <a:rPr b="0" i="0" lang="en-EG" sz="18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3"/>
          <p:cNvSpPr txBox="1"/>
          <p:nvPr/>
        </p:nvSpPr>
        <p:spPr>
          <a:xfrm>
            <a:off x="3164862" y="3014775"/>
            <a:ext cx="607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EG" sz="2400" u="none" cap="none" strike="noStrike">
                <a:solidFill>
                  <a:srgbClr val="C00000"/>
                </a:solidFill>
                <a:latin typeface="Lustria"/>
                <a:ea typeface="Lustria"/>
                <a:cs typeface="Lustria"/>
                <a:sym typeface="Lustria"/>
              </a:rPr>
              <a:t>b</a:t>
            </a:r>
            <a:endParaRPr b="0" i="0" sz="2400" u="none" cap="none" strike="noStrike">
              <a:solidFill>
                <a:srgbClr val="C00000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  <p:sp>
        <p:nvSpPr>
          <p:cNvPr id="106" name="Google Shape;106;p3"/>
          <p:cNvSpPr txBox="1"/>
          <p:nvPr/>
        </p:nvSpPr>
        <p:spPr>
          <a:xfrm>
            <a:off x="3166951" y="3471599"/>
            <a:ext cx="384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EG" sz="2400" u="none" cap="none" strike="noStrike">
                <a:solidFill>
                  <a:srgbClr val="C00000"/>
                </a:solidFill>
                <a:latin typeface="Lustria"/>
                <a:ea typeface="Lustria"/>
                <a:cs typeface="Lustria"/>
                <a:sym typeface="Lustria"/>
              </a:rPr>
              <a:t>e</a:t>
            </a:r>
            <a:r>
              <a:rPr b="0" i="0" lang="en-EG" sz="18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3"/>
          <p:cNvSpPr txBox="1"/>
          <p:nvPr/>
        </p:nvSpPr>
        <p:spPr>
          <a:xfrm>
            <a:off x="3181987" y="3925110"/>
            <a:ext cx="697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EG" sz="2400" u="none" cap="none" strike="noStrike">
                <a:solidFill>
                  <a:srgbClr val="C00000"/>
                </a:solidFill>
                <a:latin typeface="Lustria"/>
                <a:ea typeface="Lustria"/>
                <a:cs typeface="Lustria"/>
                <a:sym typeface="Lustria"/>
              </a:rPr>
              <a:t>g</a:t>
            </a:r>
            <a:r>
              <a:rPr b="0" i="0" lang="en-EG" sz="18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3"/>
          <p:cNvSpPr txBox="1"/>
          <p:nvPr/>
        </p:nvSpPr>
        <p:spPr>
          <a:xfrm>
            <a:off x="3191732" y="4423666"/>
            <a:ext cx="335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EG" sz="2400" u="none" cap="none" strike="noStrike">
                <a:solidFill>
                  <a:srgbClr val="C00000"/>
                </a:solidFill>
                <a:latin typeface="Lustria"/>
                <a:ea typeface="Lustria"/>
                <a:cs typeface="Lustria"/>
                <a:sym typeface="Lustria"/>
              </a:rPr>
              <a:t>a</a:t>
            </a:r>
            <a:endParaRPr b="0" i="0" sz="2400" u="none" cap="none" strike="noStrike">
              <a:solidFill>
                <a:srgbClr val="C00000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  <p:sp>
        <p:nvSpPr>
          <p:cNvPr id="109" name="Google Shape;109;p3"/>
          <p:cNvSpPr txBox="1"/>
          <p:nvPr/>
        </p:nvSpPr>
        <p:spPr>
          <a:xfrm>
            <a:off x="3119545" y="5024387"/>
            <a:ext cx="697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EG" sz="2400" u="none" cap="none" strike="noStrike">
                <a:solidFill>
                  <a:srgbClr val="C00000"/>
                </a:solidFill>
                <a:latin typeface="Lustria"/>
                <a:ea typeface="Lustria"/>
                <a:cs typeface="Lustria"/>
                <a:sym typeface="Lustria"/>
              </a:rPr>
              <a:t>d</a:t>
            </a:r>
            <a:r>
              <a:rPr b="0" i="0" lang="en-EG" sz="24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4"/>
          <p:cNvSpPr txBox="1"/>
          <p:nvPr/>
        </p:nvSpPr>
        <p:spPr>
          <a:xfrm>
            <a:off x="2157046" y="1673779"/>
            <a:ext cx="8253046" cy="16536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b="0" i="0" lang="en-EG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Watch the following video, then answer the questions below: 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rgbClr val="467886"/>
              </a:buClr>
              <a:buSzPts val="2800"/>
              <a:buFont typeface="Times New Roman"/>
              <a:buNone/>
            </a:pPr>
            <a:r>
              <a:rPr b="0" i="0" lang="en-EG" sz="2800" u="sng" cap="none" strike="noStrike">
                <a:solidFill>
                  <a:srgbClr val="467886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https://www.youtube.com/watch?v=BkGJ8B85SKE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Google Shape;119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3100" y="440184"/>
            <a:ext cx="10845800" cy="609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4" name="Google Shape;124;p6"/>
          <p:cNvGraphicFramePr/>
          <p:nvPr/>
        </p:nvGraphicFramePr>
        <p:xfrm>
          <a:off x="436098" y="1997613"/>
          <a:ext cx="3000000" cy="3000000"/>
        </p:xfrm>
        <a:graphic>
          <a:graphicData uri="http://schemas.openxmlformats.org/drawingml/2006/table">
            <a:tbl>
              <a:tblPr bandRow="1" firstCol="1" firstRow="1">
                <a:noFill/>
                <a:tableStyleId>{FBE9158C-8706-45F5-93A0-C027D8B7900F}</a:tableStyleId>
              </a:tblPr>
              <a:tblGrid>
                <a:gridCol w="3966900"/>
                <a:gridCol w="4005250"/>
                <a:gridCol w="3310125"/>
              </a:tblGrid>
              <a:tr h="10327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Lustria"/>
                        <a:buNone/>
                      </a:pPr>
                      <a:r>
                        <a:rPr lang="en-EG" sz="2400" u="none" cap="none" strike="noStrike">
                          <a:solidFill>
                            <a:schemeClr val="dk1"/>
                          </a:solidFill>
                        </a:rPr>
                        <a:t>C-term</a:t>
                      </a:r>
                      <a:endParaRPr sz="24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Lustria"/>
                        <a:buNone/>
                      </a:pPr>
                      <a:r>
                        <a:rPr lang="en-EG" sz="2400" u="none" cap="none" strike="noStrike">
                          <a:solidFill>
                            <a:schemeClr val="dk1"/>
                          </a:solidFill>
                        </a:rPr>
                        <a:t>Definition in your own words </a:t>
                      </a:r>
                      <a:endParaRPr sz="24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Lustria"/>
                        <a:buNone/>
                      </a:pPr>
                      <a:r>
                        <a:rPr lang="en-EG" sz="2400" u="none" cap="none" strike="noStrike">
                          <a:solidFill>
                            <a:schemeClr val="dk1"/>
                          </a:solidFill>
                        </a:rPr>
                        <a:t>Example from video/ your own example </a:t>
                      </a:r>
                      <a:endParaRPr sz="24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/>
                </a:tc>
              </a:tr>
              <a:tr h="501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Lustria"/>
                        <a:buNone/>
                      </a:pPr>
                      <a:r>
                        <a:rPr lang="en-EG" sz="2000" u="none" cap="none" strike="noStrike"/>
                        <a:t> </a:t>
                      </a:r>
                      <a:endParaRPr sz="2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Lustria"/>
                        <a:buNone/>
                      </a:pPr>
                      <a:r>
                        <a:rPr lang="en-EG" sz="2000" u="none" cap="none" strike="noStrike"/>
                        <a:t> </a:t>
                      </a:r>
                      <a:endParaRPr sz="2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Lustria"/>
                        <a:buNone/>
                      </a:pPr>
                      <a:r>
                        <a:rPr lang="en-EG" sz="2000" u="none" cap="none" strike="noStrike"/>
                        <a:t> </a:t>
                      </a:r>
                      <a:endParaRPr sz="2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/>
                </a:tc>
              </a:tr>
              <a:tr h="501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Lustria"/>
                        <a:buNone/>
                      </a:pPr>
                      <a:r>
                        <a:rPr lang="en-EG" sz="2000" u="none" cap="none" strike="noStrike"/>
                        <a:t> </a:t>
                      </a:r>
                      <a:endParaRPr sz="2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Lustria"/>
                        <a:buNone/>
                      </a:pPr>
                      <a:r>
                        <a:rPr lang="en-EG" sz="2000" u="none" cap="none" strike="noStrike"/>
                        <a:t> </a:t>
                      </a:r>
                      <a:endParaRPr sz="2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Lustria"/>
                        <a:buNone/>
                      </a:pPr>
                      <a:r>
                        <a:rPr lang="en-EG" sz="2000" u="none" cap="none" strike="noStrike"/>
                        <a:t> </a:t>
                      </a:r>
                      <a:endParaRPr sz="2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/>
                </a:tc>
              </a:tr>
              <a:tr h="501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Lustria"/>
                        <a:buNone/>
                      </a:pPr>
                      <a:r>
                        <a:rPr lang="en-EG" sz="2000" u="none" cap="none" strike="noStrike"/>
                        <a:t> </a:t>
                      </a:r>
                      <a:endParaRPr sz="2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Lustria"/>
                        <a:buNone/>
                      </a:pPr>
                      <a:r>
                        <a:rPr lang="en-EG" sz="2000" u="none" cap="none" strike="noStrike"/>
                        <a:t> </a:t>
                      </a:r>
                      <a:endParaRPr sz="2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Lustria"/>
                        <a:buNone/>
                      </a:pPr>
                      <a:r>
                        <a:rPr lang="en-EG" sz="2000" u="none" cap="none" strike="noStrike"/>
                        <a:t> </a:t>
                      </a:r>
                      <a:endParaRPr sz="2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/>
                </a:tc>
              </a:tr>
              <a:tr h="501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Lustria"/>
                        <a:buNone/>
                      </a:pPr>
                      <a:r>
                        <a:rPr lang="en-EG" sz="2000" u="none" cap="none" strike="noStrike"/>
                        <a:t> </a:t>
                      </a:r>
                      <a:endParaRPr sz="2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Lustria"/>
                        <a:buNone/>
                      </a:pPr>
                      <a:r>
                        <a:rPr lang="en-EG" sz="2000" u="none" cap="none" strike="noStrike"/>
                        <a:t> </a:t>
                      </a:r>
                      <a:endParaRPr sz="2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Lustria"/>
                        <a:buNone/>
                      </a:pPr>
                      <a:r>
                        <a:rPr lang="en-EG" sz="2000" u="none" cap="none" strike="noStrike"/>
                        <a:t> </a:t>
                      </a:r>
                      <a:endParaRPr sz="2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/>
                </a:tc>
              </a:tr>
              <a:tr h="501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Lustria"/>
                        <a:buNone/>
                      </a:pPr>
                      <a:r>
                        <a:rPr lang="en-EG" sz="2000" u="none" cap="none" strike="noStrike"/>
                        <a:t> </a:t>
                      </a:r>
                      <a:endParaRPr sz="2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Lustria"/>
                        <a:buNone/>
                      </a:pPr>
                      <a:r>
                        <a:rPr lang="en-EG" sz="2000" u="none" cap="none" strike="noStrike"/>
                        <a:t> </a:t>
                      </a:r>
                      <a:endParaRPr sz="2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Lustria"/>
                        <a:buNone/>
                      </a:pPr>
                      <a:r>
                        <a:rPr lang="en-EG" sz="2000" u="none" cap="none" strike="noStrike"/>
                        <a:t> </a:t>
                      </a:r>
                      <a:endParaRPr sz="2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/>
                </a:tc>
              </a:tr>
              <a:tr h="501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Lustria"/>
                        <a:buNone/>
                      </a:pPr>
                      <a:r>
                        <a:rPr lang="en-EG" sz="2000" u="none" cap="none" strike="noStrike"/>
                        <a:t> </a:t>
                      </a:r>
                      <a:endParaRPr sz="2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Lustria"/>
                        <a:buNone/>
                      </a:pPr>
                      <a:r>
                        <a:rPr lang="en-EG" sz="2000" u="none" cap="none" strike="noStrike"/>
                        <a:t> </a:t>
                      </a:r>
                      <a:endParaRPr sz="2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Lustria"/>
                        <a:buNone/>
                      </a:pPr>
                      <a:r>
                        <a:rPr lang="en-EG" sz="2000" u="none" cap="none" strike="noStrike"/>
                        <a:t> </a:t>
                      </a:r>
                      <a:endParaRPr sz="2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/>
                </a:tc>
              </a:tr>
              <a:tr h="501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Lustria"/>
                        <a:buNone/>
                      </a:pPr>
                      <a:r>
                        <a:rPr lang="en-EG" sz="2000" u="none" cap="none" strike="noStrike"/>
                        <a:t> </a:t>
                      </a:r>
                      <a:endParaRPr sz="2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Lustria"/>
                        <a:buNone/>
                      </a:pPr>
                      <a:r>
                        <a:rPr lang="en-EG" sz="2000" u="none" cap="none" strike="noStrike"/>
                        <a:t> </a:t>
                      </a:r>
                      <a:endParaRPr sz="2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Lustria"/>
                        <a:buNone/>
                      </a:pPr>
                      <a:r>
                        <a:rPr lang="en-EG" sz="2000" u="none" cap="none" strike="noStrike"/>
                        <a:t> </a:t>
                      </a:r>
                      <a:endParaRPr sz="2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/>
                </a:tc>
              </a:tr>
            </a:tbl>
          </a:graphicData>
        </a:graphic>
      </p:graphicFrame>
      <p:sp>
        <p:nvSpPr>
          <p:cNvPr id="125" name="Google Shape;125;p6"/>
          <p:cNvSpPr/>
          <p:nvPr/>
        </p:nvSpPr>
        <p:spPr>
          <a:xfrm>
            <a:off x="876656" y="882930"/>
            <a:ext cx="10194618" cy="83099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400"/>
              <a:buFont typeface="Times New Roman"/>
              <a:buNone/>
            </a:pPr>
            <a:r>
              <a:rPr b="1" i="0" lang="en-EG" sz="2400" u="none" cap="none" strike="noStrik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While-viewing </a:t>
            </a:r>
            <a:endParaRPr b="0" i="0" sz="2400" u="none" cap="none" strike="noStrike">
              <a:solidFill>
                <a:srgbClr val="C00000"/>
              </a:solidFill>
              <a:latin typeface="Lustria"/>
              <a:ea typeface="Lustria"/>
              <a:cs typeface="Lustria"/>
              <a:sym typeface="Lustri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1" i="0" lang="en-EG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Watch the video, and fill in the gaps in the following table: 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0" name="Google Shape;130;p7"/>
          <p:cNvGraphicFramePr/>
          <p:nvPr/>
        </p:nvGraphicFramePr>
        <p:xfrm>
          <a:off x="-3" y="1370781"/>
          <a:ext cx="3000000" cy="3000000"/>
        </p:xfrm>
        <a:graphic>
          <a:graphicData uri="http://schemas.openxmlformats.org/drawingml/2006/table">
            <a:tbl>
              <a:tblPr bandRow="1" firstCol="1" firstRow="1">
                <a:noFill/>
                <a:tableStyleId>{FBE9158C-8706-45F5-93A0-C027D8B7900F}</a:tableStyleId>
              </a:tblPr>
              <a:tblGrid>
                <a:gridCol w="4373000"/>
                <a:gridCol w="3444925"/>
                <a:gridCol w="3444925"/>
              </a:tblGrid>
              <a:tr h="383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Lustria"/>
                        <a:buNone/>
                      </a:pPr>
                      <a:r>
                        <a:rPr lang="en-EG" sz="2000" u="none" cap="none" strike="noStrike">
                          <a:solidFill>
                            <a:schemeClr val="dk1"/>
                          </a:solidFill>
                        </a:rPr>
                        <a:t>C-term</a:t>
                      </a:r>
                      <a:endParaRPr sz="20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45925" marL="459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Lustria"/>
                        <a:buNone/>
                      </a:pPr>
                      <a:r>
                        <a:rPr lang="en-EG" sz="2000" u="none" cap="none" strike="noStrike">
                          <a:solidFill>
                            <a:schemeClr val="dk1"/>
                          </a:solidFill>
                        </a:rPr>
                        <a:t>Definition in your own words </a:t>
                      </a:r>
                      <a:endParaRPr sz="20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45925" marL="459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Lustria"/>
                        <a:buNone/>
                      </a:pPr>
                      <a:r>
                        <a:rPr lang="en-EG" sz="2000" u="none" cap="none" strike="noStrike">
                          <a:solidFill>
                            <a:schemeClr val="dk1"/>
                          </a:solidFill>
                        </a:rPr>
                        <a:t>Example from video/ your own example </a:t>
                      </a:r>
                      <a:endParaRPr sz="20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45925" marL="45925"/>
                </a:tc>
              </a:tr>
              <a:tr h="5814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Lustria"/>
                        <a:buNone/>
                      </a:pPr>
                      <a:r>
                        <a:rPr lang="en-EG" sz="2000" u="none" cap="none" strike="noStrike">
                          <a:solidFill>
                            <a:schemeClr val="dk1"/>
                          </a:solidFill>
                        </a:rPr>
                        <a:t>Clarity</a:t>
                      </a:r>
                      <a:endParaRPr sz="20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45925" marL="459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Lustria"/>
                        <a:buNone/>
                      </a:pPr>
                      <a:r>
                        <a:rPr lang="en-EG" sz="2000" u="none" cap="none" strike="noStrike"/>
                        <a:t> Make your message easy to understand; avoid vague or confusing words.     </a:t>
                      </a:r>
                      <a:endParaRPr sz="2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45925" marL="459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Lustria"/>
                        <a:buNone/>
                      </a:pPr>
                      <a:r>
                        <a:rPr lang="en-EG" sz="2000" u="none" cap="none" strike="noStrike"/>
                        <a:t>“Submit the report by Friday at 3 PM.” (clear)</a:t>
                      </a:r>
                      <a:endParaRPr sz="2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45925" marL="45925"/>
                </a:tc>
              </a:tr>
              <a:tr h="778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Lustria"/>
                        <a:buNone/>
                      </a:pPr>
                      <a:r>
                        <a:rPr lang="en-EG" sz="2000" u="none" cap="none" strike="noStrike">
                          <a:solidFill>
                            <a:schemeClr val="dk1"/>
                          </a:solidFill>
                        </a:rPr>
                        <a:t>Conciseness</a:t>
                      </a:r>
                      <a:endParaRPr sz="20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45925" marL="459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Lustria"/>
                        <a:buNone/>
                      </a:pPr>
                      <a:r>
                        <a:rPr lang="en-EG" sz="2000" u="none" cap="none" strike="noStrike"/>
                        <a:t>Keep it short and to the point; avoid unnecessary words.</a:t>
                      </a:r>
                      <a:endParaRPr sz="2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45925" marL="459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Lustria"/>
                        <a:buNone/>
                      </a:pPr>
                      <a:r>
                        <a:rPr lang="en-EG" sz="2000" u="none" cap="none" strike="noStrike"/>
                        <a:t>Instead of: “I was wondering if maybe you could possibly send me the file?” → “Please send me the file.”</a:t>
                      </a:r>
                      <a:endParaRPr sz="2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45925" marL="45925"/>
                </a:tc>
              </a:tr>
              <a:tr h="5814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Lustria"/>
                        <a:buNone/>
                      </a:pPr>
                      <a:r>
                        <a:rPr lang="en-EG" sz="2000" u="none" cap="none" strike="noStrike">
                          <a:solidFill>
                            <a:schemeClr val="dk1"/>
                          </a:solidFill>
                        </a:rPr>
                        <a:t>Concreteness</a:t>
                      </a:r>
                      <a:endParaRPr sz="20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45925" marL="459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Lustria"/>
                        <a:buNone/>
                      </a:pPr>
                      <a:r>
                        <a:rPr lang="en-EG" sz="2000" u="none" cap="none" strike="noStrike"/>
                        <a:t>Use specific facts, figures, or examples; avoid being too general.        </a:t>
                      </a:r>
                      <a:endParaRPr sz="2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45925" marL="459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Lustria"/>
                        <a:buNone/>
                      </a:pPr>
                      <a:r>
                        <a:rPr lang="en-EG" sz="2000" u="none" cap="none" strike="noStrike"/>
                        <a:t>“Our sales increased by 20% last quarter” (concrete) instead of “We did well.”                           </a:t>
                      </a:r>
                      <a:endParaRPr sz="2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45925" marL="45925"/>
                </a:tc>
              </a:tr>
              <a:tr h="5814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Lustria"/>
                        <a:buNone/>
                      </a:pPr>
                      <a:r>
                        <a:rPr lang="en-EG" sz="2000" u="none" cap="none" strike="noStrike">
                          <a:solidFill>
                            <a:schemeClr val="dk1"/>
                          </a:solidFill>
                        </a:rPr>
                        <a:t>Correctness</a:t>
                      </a:r>
                      <a:endParaRPr sz="20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45925" marL="459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Lustria"/>
                        <a:buNone/>
                      </a:pPr>
                      <a:r>
                        <a:rPr lang="en-EG" sz="2000" u="none" cap="none" strike="noStrike"/>
                        <a:t>Use correct grammar, spelling, and facts; be accurate.                    </a:t>
                      </a:r>
                      <a:endParaRPr sz="2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45925" marL="459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Lustria"/>
                        <a:buNone/>
                      </a:pPr>
                      <a:r>
                        <a:rPr lang="en-EG" sz="2000" u="none" cap="none" strike="noStrike"/>
                        <a:t>Wrong: “The meeting is on Thusday.” Correct: “The meeting is on Thursday.”                               </a:t>
                      </a:r>
                      <a:endParaRPr sz="2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45925" marL="45925"/>
                </a:tc>
              </a:tr>
            </a:tbl>
          </a:graphicData>
        </a:graphic>
      </p:graphicFrame>
      <p:sp>
        <p:nvSpPr>
          <p:cNvPr id="131" name="Google Shape;131;p7"/>
          <p:cNvSpPr txBox="1"/>
          <p:nvPr/>
        </p:nvSpPr>
        <p:spPr>
          <a:xfrm>
            <a:off x="929172" y="787791"/>
            <a:ext cx="3976801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EG" sz="2400" u="none" cap="none" strike="noStrike">
                <a:solidFill>
                  <a:srgbClr val="C00000"/>
                </a:solidFill>
                <a:latin typeface="Lustria"/>
                <a:ea typeface="Lustria"/>
                <a:cs typeface="Lustria"/>
                <a:sym typeface="Lustria"/>
              </a:rPr>
              <a:t>Answer Key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6" name="Google Shape;136;p8"/>
          <p:cNvGraphicFramePr/>
          <p:nvPr/>
        </p:nvGraphicFramePr>
        <p:xfrm>
          <a:off x="686020" y="1631852"/>
          <a:ext cx="3000000" cy="3000000"/>
        </p:xfrm>
        <a:graphic>
          <a:graphicData uri="http://schemas.openxmlformats.org/drawingml/2006/table">
            <a:tbl>
              <a:tblPr bandRow="1" firstCol="1" firstRow="1">
                <a:noFill/>
                <a:tableStyleId>{FBE9158C-8706-45F5-93A0-C027D8B7900F}</a:tableStyleId>
              </a:tblPr>
              <a:tblGrid>
                <a:gridCol w="3443825"/>
                <a:gridCol w="3444925"/>
                <a:gridCol w="3444925"/>
              </a:tblGrid>
              <a:tr h="1556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Lustria"/>
                        <a:buNone/>
                      </a:pPr>
                      <a:r>
                        <a:rPr lang="en-EG" sz="2000" u="none" cap="none" strike="noStrike">
                          <a:solidFill>
                            <a:schemeClr val="dk1"/>
                          </a:solidFill>
                        </a:rPr>
                        <a:t>Coherence</a:t>
                      </a:r>
                      <a:endParaRPr sz="20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45925" marL="459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Lustria"/>
                        <a:buNone/>
                      </a:pPr>
                      <a:r>
                        <a:rPr lang="en-EG" sz="2000" u="none" cap="none" strike="noStrike">
                          <a:solidFill>
                            <a:schemeClr val="dk1"/>
                          </a:solidFill>
                        </a:rPr>
                        <a:t>Keep ideas well-organized and logical; ensure the message flows smoothly.</a:t>
                      </a:r>
                      <a:endParaRPr sz="20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45925" marL="459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Lustria"/>
                        <a:buNone/>
                      </a:pPr>
                      <a:r>
                        <a:rPr lang="en-EG" sz="2000" u="none" cap="none" strike="noStrike">
                          <a:solidFill>
                            <a:schemeClr val="dk1"/>
                          </a:solidFill>
                        </a:rPr>
                        <a:t>“First, let’s discuss the budget. Then we’ll talk about marketing. Finally, we’ll plan the launch.”      </a:t>
                      </a:r>
                      <a:endParaRPr sz="20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45925" marL="45925"/>
                </a:tc>
              </a:tr>
              <a:tr h="1556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Lustria"/>
                        <a:buNone/>
                      </a:pPr>
                      <a:r>
                        <a:rPr lang="en-EG" sz="2000" u="none" cap="none" strike="noStrike">
                          <a:solidFill>
                            <a:schemeClr val="dk1"/>
                          </a:solidFill>
                        </a:rPr>
                        <a:t>Completeness</a:t>
                      </a:r>
                      <a:endParaRPr sz="20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45925" marL="459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Lustria"/>
                        <a:buNone/>
                      </a:pPr>
                      <a:r>
                        <a:rPr lang="en-EG" sz="2000" u="none" cap="none" strike="noStrike">
                          <a:solidFill>
                            <a:schemeClr val="dk1"/>
                          </a:solidFill>
                        </a:rPr>
                        <a:t>Give all necessary details so the receiver can act on the message.        </a:t>
                      </a:r>
                      <a:endParaRPr sz="20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45925" marL="459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Lustria"/>
                        <a:buNone/>
                      </a:pPr>
                      <a:r>
                        <a:rPr lang="en-EG" sz="2000" u="none" cap="none" strike="noStrike">
                          <a:solidFill>
                            <a:schemeClr val="dk1"/>
                          </a:solidFill>
                        </a:rPr>
                        <a:t>Incomplete: “Meet me at 7.” Complete: “Meet me at Starbucks downtown at 7 PM.”                           </a:t>
                      </a:r>
                      <a:endParaRPr sz="20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45925" marL="45925"/>
                </a:tc>
              </a:tr>
              <a:tr h="1556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Lustria"/>
                        <a:buNone/>
                      </a:pPr>
                      <a:r>
                        <a:rPr lang="en-EG" sz="2000" u="none" cap="none" strike="noStrike">
                          <a:solidFill>
                            <a:schemeClr val="dk1"/>
                          </a:solidFill>
                        </a:rPr>
                        <a:t>Courtesy</a:t>
                      </a:r>
                      <a:endParaRPr sz="20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45925" marL="459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Lustria"/>
                        <a:buNone/>
                      </a:pPr>
                      <a:r>
                        <a:rPr lang="en-EG" sz="2000" u="none" cap="none" strike="noStrike">
                          <a:solidFill>
                            <a:schemeClr val="dk1"/>
                          </a:solidFill>
                        </a:rPr>
                        <a:t>Be respectful and polite; consider the receiver’s feelings.               </a:t>
                      </a:r>
                      <a:endParaRPr sz="20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45925" marL="459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Lustria"/>
                        <a:buNone/>
                      </a:pPr>
                      <a:r>
                        <a:rPr lang="en-EG" sz="2000" u="none" cap="none" strike="noStrike">
                          <a:solidFill>
                            <a:schemeClr val="dk1"/>
                          </a:solidFill>
                        </a:rPr>
                        <a:t>Instead of: “Send me the report now!” → “Could you please send me the report by this afternoon?”         </a:t>
                      </a:r>
                      <a:endParaRPr sz="20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45925" marL="45925"/>
                </a:tc>
              </a:tr>
            </a:tbl>
          </a:graphicData>
        </a:graphic>
      </p:graphicFrame>
      <p:sp>
        <p:nvSpPr>
          <p:cNvPr id="137" name="Google Shape;137;p8"/>
          <p:cNvSpPr txBox="1"/>
          <p:nvPr/>
        </p:nvSpPr>
        <p:spPr>
          <a:xfrm>
            <a:off x="829994" y="844062"/>
            <a:ext cx="5444197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EG" sz="2400" u="none" cap="none" strike="noStrike">
                <a:solidFill>
                  <a:srgbClr val="C00000"/>
                </a:solidFill>
                <a:latin typeface="Lustria"/>
                <a:ea typeface="Lustria"/>
                <a:cs typeface="Lustria"/>
                <a:sym typeface="Lustria"/>
              </a:rPr>
              <a:t>Answer Key Cont’d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9"/>
          <p:cNvSpPr txBox="1"/>
          <p:nvPr/>
        </p:nvSpPr>
        <p:spPr>
          <a:xfrm>
            <a:off x="1121898" y="1095381"/>
            <a:ext cx="10315136" cy="18856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400"/>
              <a:buFont typeface="Times New Roman"/>
              <a:buNone/>
            </a:pPr>
            <a:r>
              <a:rPr b="1" i="0" lang="en-EG" sz="2400" u="none" cap="none" strike="noStrik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Post-viewing </a:t>
            </a:r>
            <a:endParaRPr b="0" i="0" sz="2400" u="none" cap="none" strike="noStrike">
              <a:solidFill>
                <a:srgbClr val="C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AutoNum type="alphaUcPeriod"/>
            </a:pPr>
            <a:r>
              <a:rPr b="0" i="0" lang="en-EG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 groups of 3, discuss the following: 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C00000"/>
              </a:buClr>
              <a:buSzPts val="1000"/>
              <a:buFont typeface="Noto Sans Symbols"/>
              <a:buChar char="∙"/>
            </a:pPr>
            <a:r>
              <a:rPr b="1" i="1" lang="en-EG" sz="2400" u="none" cap="none" strike="noStrik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Which “C” do you see most frequently used well in presentations?</a:t>
            </a:r>
            <a:endParaRPr b="1" i="0" sz="2400" u="none" cap="none" strike="noStrike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ustria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3" name="Google Shape;143;p9"/>
          <p:cNvSpPr txBox="1"/>
          <p:nvPr/>
        </p:nvSpPr>
        <p:spPr>
          <a:xfrm>
            <a:off x="1515794" y="2953646"/>
            <a:ext cx="8795824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1" lang="en-EG" sz="2400" u="none" cap="none" strike="noStrik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Clarity</a:t>
            </a:r>
            <a:r>
              <a:rPr b="0" i="1" lang="en-EG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r>
              <a:rPr b="0" i="0" lang="en-EG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Most presenters try to make their main idea clear to the audience. They usually explain their topic in simple language so everyone can follow</a:t>
            </a:r>
            <a:r>
              <a:rPr b="0" i="0" lang="en-EG" sz="24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rPr>
              <a:t> </a:t>
            </a:r>
            <a:endParaRPr b="0" i="0" sz="2400" u="none" cap="none" strike="noStrike">
              <a:solidFill>
                <a:schemeClr val="dk1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0"/>
          <p:cNvSpPr txBox="1"/>
          <p:nvPr/>
        </p:nvSpPr>
        <p:spPr>
          <a:xfrm>
            <a:off x="1009356" y="1081426"/>
            <a:ext cx="6098344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000"/>
              <a:buFont typeface="Noto Sans Symbols"/>
              <a:buChar char="∙"/>
            </a:pPr>
            <a:r>
              <a:rPr b="1" i="0" lang="en-EG" sz="2400" u="none" cap="none" strike="noStrik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Which is most often neglected?</a:t>
            </a:r>
            <a:endParaRPr b="1" i="0" sz="2400" u="none" cap="none" strike="noStrike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9" name="Google Shape;149;p10"/>
          <p:cNvSpPr txBox="1"/>
          <p:nvPr/>
        </p:nvSpPr>
        <p:spPr>
          <a:xfrm>
            <a:off x="1009355" y="1952255"/>
            <a:ext cx="10090053" cy="1869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000"/>
              <a:buFont typeface="Noto Sans Symbols"/>
              <a:buChar char="∙"/>
            </a:pPr>
            <a:r>
              <a:rPr b="0" i="1" lang="en-EG" sz="2400" u="none" cap="none" strike="noStrik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Conciseness</a:t>
            </a:r>
            <a:r>
              <a:rPr b="0" i="1" lang="en-EG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r>
              <a:rPr b="0" i="0" lang="en-EG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Many presenters include too many details or repeat the same points, which makes the presentation long and less engaging.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Symbols"/>
              <a:buChar char="∙"/>
            </a:pPr>
            <a:r>
              <a:rPr b="0" i="0" lang="en-EG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Another common one: </a:t>
            </a:r>
            <a:r>
              <a:rPr b="0" i="1" lang="en-EG" sz="2400" u="none" cap="none" strike="noStrik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Courtesy</a:t>
            </a:r>
            <a:r>
              <a:rPr b="0" i="1" lang="en-EG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r>
              <a:rPr b="0" i="0" lang="en-EG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Sometimes presenters don’t pay attention to tone or body language, which can feel rude or unprofessional.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1"/>
          <p:cNvSpPr txBox="1"/>
          <p:nvPr/>
        </p:nvSpPr>
        <p:spPr>
          <a:xfrm>
            <a:off x="854611" y="1250239"/>
            <a:ext cx="996344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000"/>
              <a:buFont typeface="Noto Sans Symbols"/>
              <a:buChar char="∙"/>
            </a:pPr>
            <a:r>
              <a:rPr b="1" i="0" lang="en-EG" sz="2400" u="none" cap="none" strike="noStrik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Why might some be harder for speakers to follow?</a:t>
            </a:r>
            <a:endParaRPr b="1" i="0" sz="2400" u="none" cap="none" strike="noStrike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5" name="Google Shape;155;p11"/>
          <p:cNvSpPr txBox="1"/>
          <p:nvPr/>
        </p:nvSpPr>
        <p:spPr>
          <a:xfrm>
            <a:off x="253375" y="1711900"/>
            <a:ext cx="10564800" cy="3068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ustria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Lustria"/>
              <a:ea typeface="Lustria"/>
              <a:cs typeface="Lustria"/>
              <a:sym typeface="Lustria"/>
            </a:endParaRPr>
          </a:p>
          <a:p>
            <a:pPr indent="-285750" lvl="1" marL="74295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000"/>
              <a:buFont typeface="Courier New"/>
              <a:buChar char="o"/>
            </a:pPr>
            <a:r>
              <a:rPr b="1" i="1" lang="en-EG" sz="2400" u="none" cap="none" strike="noStrik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Completeness</a:t>
            </a:r>
            <a:r>
              <a:rPr b="0" i="0" lang="en-EG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can be hard because presenters may forget to include background information or assume the audience already knows certain details.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rgbClr val="C00000"/>
              </a:buClr>
              <a:buSzPts val="1000"/>
              <a:buFont typeface="Courier New"/>
              <a:buChar char="o"/>
            </a:pPr>
            <a:r>
              <a:rPr b="1" i="1" lang="en-EG" sz="2400" u="none" cap="none" strike="noStrik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Coherence</a:t>
            </a:r>
            <a:r>
              <a:rPr b="0" i="0" lang="en-EG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is challenging if the presenter hasn’t planned or structured the talk well.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rgbClr val="C00000"/>
              </a:buClr>
              <a:buSzPts val="1000"/>
              <a:buFont typeface="Courier New"/>
              <a:buChar char="o"/>
            </a:pPr>
            <a:r>
              <a:rPr b="1" i="1" lang="en-EG" sz="2400" u="none" cap="none" strike="noStrik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Conciseness</a:t>
            </a:r>
            <a:r>
              <a:rPr b="0" i="0" lang="en-EG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is difficult because speakers may feel nervous and start talking too much or going off-topic.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2"/>
          <p:cNvSpPr txBox="1"/>
          <p:nvPr/>
        </p:nvSpPr>
        <p:spPr>
          <a:xfrm>
            <a:off x="882746" y="1535161"/>
            <a:ext cx="10709031" cy="399365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AutoNum type="alphaUcPeriod"/>
            </a:pPr>
            <a:r>
              <a:rPr b="0" i="0" lang="en-EG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following situations break one of the 7Cs of communication. In pairs: 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AutoNum type="alphaLcPeriod"/>
            </a:pPr>
            <a:r>
              <a:rPr b="0" i="0" lang="en-EG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Identify the problem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AutoNum type="alphaLcPeriod"/>
            </a:pPr>
            <a:r>
              <a:rPr b="0" i="0" lang="en-EG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Suggest a solution to resolve it </a:t>
            </a:r>
            <a:endParaRPr b="1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AutoNum type="arabicPeriod"/>
            </a:pPr>
            <a:r>
              <a:rPr b="1" i="0" lang="en-EG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Scenario:</a:t>
            </a:r>
            <a:r>
              <a:rPr b="0" i="0" lang="en-EG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A manager tells the team:</a:t>
            </a:r>
            <a:br>
              <a:rPr b="0" i="0" lang="en-EG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1" lang="en-EG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“We need to handle that thing soon because it’s really important for the project.”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Symbols"/>
              <a:buChar char="∙"/>
            </a:pPr>
            <a:r>
              <a:rPr b="1" i="0" lang="en-EG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Problem:</a:t>
            </a:r>
            <a:r>
              <a:rPr b="0" i="0" lang="en-EG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</a:t>
            </a:r>
            <a:r>
              <a:rPr b="1" i="0" lang="en-EG" sz="2400" u="none" cap="none" strike="noStrik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Clarity</a:t>
            </a:r>
            <a:r>
              <a:rPr b="1" i="0" lang="en-EG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EG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message is vague. What is “that thing”?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Symbols"/>
              <a:buChar char="∙"/>
            </a:pPr>
            <a:r>
              <a:rPr b="1" i="0" lang="en-EG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Suggested solution :</a:t>
            </a:r>
            <a:r>
              <a:rPr b="0" i="0" lang="en-EG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Clearly state what “that thing is”, a problem, for example. 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12"/>
          <p:cNvSpPr txBox="1"/>
          <p:nvPr/>
        </p:nvSpPr>
        <p:spPr>
          <a:xfrm>
            <a:off x="1364566" y="844062"/>
            <a:ext cx="3587262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EG" sz="2400" u="none" cap="none" strike="noStrike">
                <a:solidFill>
                  <a:srgbClr val="C00000"/>
                </a:solidFill>
                <a:latin typeface="Lustria"/>
                <a:ea typeface="Lustria"/>
                <a:cs typeface="Lustria"/>
                <a:sym typeface="Lustria"/>
              </a:rPr>
              <a:t>Scenarios</a:t>
            </a:r>
            <a:r>
              <a:rPr b="1" i="0" lang="en-EG" sz="18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3"/>
          <p:cNvSpPr txBox="1"/>
          <p:nvPr/>
        </p:nvSpPr>
        <p:spPr>
          <a:xfrm>
            <a:off x="1107830" y="958902"/>
            <a:ext cx="10399541" cy="3774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70510" lvl="0" marL="27051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r>
              <a:rPr b="1" i="0" lang="en-EG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2.  Scenario:</a:t>
            </a:r>
            <a:r>
              <a:rPr b="0" i="0" lang="en-EG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A student giving a presentation says:</a:t>
            </a:r>
            <a:br>
              <a:rPr b="0" i="0" lang="en-EG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1" lang="en-EG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“Basically, what I want to say, in other words, is that the point I am trying to make is that  studying is important because if you study, you will learn more, and learning more is important.”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r>
              <a:rPr b="1" i="0" lang="en-EG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Problem:</a:t>
            </a:r>
            <a:r>
              <a:rPr b="0" i="0" lang="en-EG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</a:t>
            </a:r>
            <a:r>
              <a:rPr b="1" i="0" lang="en-EG" sz="2400" u="none" cap="none" strike="noStrik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Conciseness</a:t>
            </a:r>
            <a:r>
              <a:rPr b="0" i="0" lang="en-EG" sz="2400" u="none" cap="none" strike="noStrik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</a:t>
            </a:r>
            <a:r>
              <a:rPr b="0" i="0" lang="en-EG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(Too wordy / repetitive)</a:t>
            </a:r>
            <a:r>
              <a:rPr b="0" i="0" lang="en-EG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EG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Suggested solution :</a:t>
            </a:r>
            <a:r>
              <a:rPr b="0" i="0" lang="en-EG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Be conscice and to the point. Don’t use unnecessary repetition 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4"/>
          <p:cNvSpPr txBox="1"/>
          <p:nvPr/>
        </p:nvSpPr>
        <p:spPr>
          <a:xfrm>
            <a:off x="868680" y="1016811"/>
            <a:ext cx="10582422" cy="34204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r>
              <a:rPr b="1" i="0" lang="en-EG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3.  Scenario:</a:t>
            </a:r>
            <a:r>
              <a:rPr b="0" i="0" lang="en-EG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A company brochure states:</a:t>
            </a:r>
            <a:br>
              <a:rPr b="0" i="0" lang="en-EG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1" lang="en-EG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“Our product is amazing, the best, and will definitely improve your life in many ways.”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ustria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EG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Problem:</a:t>
            </a:r>
            <a:r>
              <a:rPr b="0" i="0" lang="en-EG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</a:t>
            </a:r>
            <a:r>
              <a:rPr b="1" i="0" lang="en-EG" sz="2400" u="none" cap="none" strike="noStrik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Concreteness</a:t>
            </a:r>
            <a:r>
              <a:rPr b="0" i="0" lang="en-EG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(Too abstract / lacks evidence)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r>
              <a:rPr b="1" i="0" lang="en-EG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Suggested solution:</a:t>
            </a:r>
            <a:r>
              <a:rPr b="0" i="0" lang="en-EG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Use concrete facts and examples to make it more convincing </a:t>
            </a:r>
            <a:r>
              <a:rPr b="0" i="0" lang="en-EG" sz="24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rPr>
              <a:t> </a:t>
            </a:r>
            <a:endParaRPr b="0" i="0" sz="2400" u="none" cap="none" strike="noStrike">
              <a:solidFill>
                <a:schemeClr val="dk1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5"/>
          <p:cNvSpPr txBox="1"/>
          <p:nvPr/>
        </p:nvSpPr>
        <p:spPr>
          <a:xfrm>
            <a:off x="840543" y="1041429"/>
            <a:ext cx="10652761" cy="34204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r>
              <a:rPr b="1" i="0" lang="en-EG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4. Scenario:</a:t>
            </a:r>
            <a:r>
              <a:rPr b="0" i="0" lang="en-EG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A student emails their professor:</a:t>
            </a:r>
            <a:br>
              <a:rPr b="0" i="0" lang="en-EG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1" lang="en-EG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 “Dear Dr. John, I will meat you on Thusday for the exam review.”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ustria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r>
              <a:rPr b="1" i="0" lang="en-EG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Problem:</a:t>
            </a:r>
            <a:r>
              <a:rPr b="0" i="0" lang="en-EG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</a:t>
            </a:r>
            <a:r>
              <a:rPr b="1" i="0" lang="en-EG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Correctness</a:t>
            </a:r>
            <a:r>
              <a:rPr b="0" i="0" lang="en-EG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(Inaccurate or wrong)</a:t>
            </a:r>
            <a:r>
              <a:rPr b="0" i="0" lang="en-EG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 </a:t>
            </a:r>
            <a:r>
              <a:rPr b="0" i="0" lang="en-EG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Spelling and grammar errors → “meet,” “Thursday.”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r>
              <a:rPr b="1" i="0" lang="en-EG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Suggested solution:</a:t>
            </a:r>
            <a:r>
              <a:rPr b="0" i="0" lang="en-EG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Check your message for any typos, or grammatical mistakes.</a:t>
            </a:r>
            <a:endParaRPr b="0" i="0" sz="2400" u="none" cap="none" strike="noStrike">
              <a:solidFill>
                <a:schemeClr val="dk1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6"/>
          <p:cNvSpPr txBox="1"/>
          <p:nvPr/>
        </p:nvSpPr>
        <p:spPr>
          <a:xfrm>
            <a:off x="826475" y="1054485"/>
            <a:ext cx="10540219" cy="36871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r>
              <a:rPr b="1" i="0" lang="en-EG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5. Scenario:</a:t>
            </a:r>
            <a:r>
              <a:rPr b="0" i="0" lang="en-EG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A speaker says in a presentation:</a:t>
            </a:r>
            <a:br>
              <a:rPr b="0" i="0" lang="en-EG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1" lang="en-EG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“Today I will talk about exercise. Exercise is important for health. By the way, I also like pizza. Running helps burn calories. People should sleep enough hours too.”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r>
              <a:rPr b="1" i="0" lang="en-EG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Problem:</a:t>
            </a:r>
            <a:r>
              <a:rPr b="0" i="0" lang="en-EG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</a:t>
            </a:r>
            <a:r>
              <a:rPr b="1" i="0" lang="en-EG" sz="2400" u="none" cap="none" strike="noStrik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Coherence</a:t>
            </a:r>
            <a:r>
              <a:rPr b="0" i="0" lang="en-EG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(Poor organization)</a:t>
            </a:r>
            <a:r>
              <a:rPr b="0" i="0" lang="en-EG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 </a:t>
            </a:r>
            <a:r>
              <a:rPr b="0" i="0" lang="en-EG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Random ideas, no logical flow.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r>
              <a:rPr b="1" i="0" lang="en-EG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Suggested solution:</a:t>
            </a:r>
            <a:r>
              <a:rPr b="0" i="0" lang="en-EG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Organize your ideas. Rehearse a lot before giving a presentation. </a:t>
            </a:r>
            <a:endParaRPr b="0" i="0" sz="2400" u="none" cap="none" strike="noStrike">
              <a:solidFill>
                <a:schemeClr val="dk1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7"/>
          <p:cNvSpPr txBox="1"/>
          <p:nvPr/>
        </p:nvSpPr>
        <p:spPr>
          <a:xfrm>
            <a:off x="1050175" y="998250"/>
            <a:ext cx="10413600" cy="28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r>
              <a:rPr b="1" i="0" lang="en-EG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6. </a:t>
            </a:r>
            <a:r>
              <a:rPr b="1" i="0" lang="en-EG" sz="2400" u="none" cap="none" strike="noStrike">
                <a:solidFill>
                  <a:srgbClr val="00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Scenario</a:t>
            </a:r>
            <a:r>
              <a:rPr b="1" i="0" lang="en-EG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  <a:r>
              <a:rPr b="0" i="0" lang="en-EG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A text message to a friend:</a:t>
            </a:r>
            <a:br>
              <a:rPr b="0" i="0" lang="en-EG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1" lang="en-EG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             “Meet me at the place at 7.”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r>
              <a:rPr b="1" i="0" lang="en-EG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Problem:</a:t>
            </a:r>
            <a:r>
              <a:rPr b="0" i="0" lang="en-EG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</a:t>
            </a:r>
            <a:r>
              <a:rPr b="1" i="0" lang="en-EG" sz="2400" u="none" cap="none" strike="noStrik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Completeness</a:t>
            </a:r>
            <a:r>
              <a:rPr b="0" i="0" lang="en-EG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(Missing important details)</a:t>
            </a:r>
            <a:r>
              <a:rPr b="0" i="0" lang="en-EG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 </a:t>
            </a:r>
            <a:r>
              <a:rPr b="0" i="0" lang="en-EG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Which place? Missing location details.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r>
              <a:rPr b="1" i="0" lang="en-EG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Suggested solution:</a:t>
            </a:r>
            <a:r>
              <a:rPr b="0" i="0" lang="en-EG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Provide all necessary details </a:t>
            </a:r>
            <a:r>
              <a:rPr b="0" i="0" lang="en-EG" sz="24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rPr>
              <a:t> </a:t>
            </a:r>
            <a:endParaRPr b="0" i="0" sz="2400" u="none" cap="none" strike="noStrike">
              <a:solidFill>
                <a:schemeClr val="dk1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8"/>
          <p:cNvSpPr txBox="1"/>
          <p:nvPr/>
        </p:nvSpPr>
        <p:spPr>
          <a:xfrm>
            <a:off x="924949" y="1090040"/>
            <a:ext cx="10455813" cy="30272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r>
              <a:rPr b="1" i="0" lang="en-EG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7. Scenario:</a:t>
            </a:r>
            <a:r>
              <a:rPr b="0" i="0" lang="en-EG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An employee writes to a colleague:</a:t>
            </a:r>
            <a:br>
              <a:rPr b="0" i="0" lang="en-EG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1" lang="en-EG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        “Send me the report now. You’re always late and it’s annoying.”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ustria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r>
              <a:rPr b="1" i="0" lang="en-EG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Problem:</a:t>
            </a:r>
            <a:r>
              <a:rPr b="0" i="0" lang="en-EG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</a:t>
            </a:r>
            <a:r>
              <a:rPr b="1" i="0" lang="en-EG" sz="2400" u="none" cap="none" strike="noStrik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Courtesy</a:t>
            </a:r>
            <a:r>
              <a:rPr b="0" i="0" lang="en-EG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(Rude or insensitive)</a:t>
            </a:r>
            <a:r>
              <a:rPr b="0" i="0" lang="en-EG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 </a:t>
            </a:r>
            <a:r>
              <a:rPr b="0" i="0" lang="en-EG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Tone is disrespectful, lacks courtesy.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ustria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EG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Suggested solution:</a:t>
            </a:r>
            <a:r>
              <a:rPr b="0" i="0" lang="en-EG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Be courteous and address other people politely.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9"/>
          <p:cNvSpPr txBox="1"/>
          <p:nvPr/>
        </p:nvSpPr>
        <p:spPr>
          <a:xfrm>
            <a:off x="1656469" y="1761812"/>
            <a:ext cx="9105315" cy="17674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EG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C. In small groups, students create a short 1-minute presentation on a topic of their choice, intentionally incorporating at least </a:t>
            </a:r>
            <a:r>
              <a:rPr b="1" i="0" lang="en-EG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three</a:t>
            </a:r>
            <a:r>
              <a:rPr b="0" i="0" lang="en-EG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of the 7 Cs. The audience listens and identifies which “Cs” are effectively demonstrated, with constructive feedback.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ChronicleVTI">
  <a:themeElements>
    <a:clrScheme name="Chronicle">
      <a:dk1>
        <a:srgbClr val="000000"/>
      </a:dk1>
      <a:lt1>
        <a:srgbClr val="FFFFFF"/>
      </a:lt1>
      <a:dk2>
        <a:srgbClr val="1C1C32"/>
      </a:dk2>
      <a:lt2>
        <a:srgbClr val="F8F4F1"/>
      </a:lt2>
      <a:accent1>
        <a:srgbClr val="734B67"/>
      </a:accent1>
      <a:accent2>
        <a:srgbClr val="959EBB"/>
      </a:accent2>
      <a:accent3>
        <a:srgbClr val="596781"/>
      </a:accent3>
      <a:accent4>
        <a:srgbClr val="7F6E8C"/>
      </a:accent4>
      <a:accent5>
        <a:srgbClr val="DB9A8F"/>
      </a:accent5>
      <a:accent6>
        <a:srgbClr val="C29AB1"/>
      </a:accent6>
      <a:hlink>
        <a:srgbClr val="778BA2"/>
      </a:hlink>
      <a:folHlink>
        <a:srgbClr val="A27C99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2025-09-18T09:42:14Z</dcterms:created>
  <dc:creator>May Ghoneim</dc:creator>
</cp:coreProperties>
</file>